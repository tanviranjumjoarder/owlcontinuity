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95" r:id="rId3"/>
    <p:sldId id="257" r:id="rId4"/>
    <p:sldId id="258" r:id="rId5"/>
    <p:sldId id="301" r:id="rId6"/>
    <p:sldId id="259" r:id="rId7"/>
    <p:sldId id="292" r:id="rId8"/>
    <p:sldId id="293" r:id="rId9"/>
    <p:sldId id="260" r:id="rId10"/>
    <p:sldId id="302" r:id="rId11"/>
    <p:sldId id="298" r:id="rId12"/>
    <p:sldId id="261" r:id="rId13"/>
    <p:sldId id="294" r:id="rId14"/>
    <p:sldId id="262" r:id="rId15"/>
    <p:sldId id="263" r:id="rId16"/>
    <p:sldId id="299" r:id="rId17"/>
    <p:sldId id="303" r:id="rId18"/>
    <p:sldId id="296" r:id="rId19"/>
    <p:sldId id="297" r:id="rId20"/>
    <p:sldId id="264" r:id="rId21"/>
    <p:sldId id="265" r:id="rId22"/>
    <p:sldId id="300"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2"/>
    <p:restoredTop sz="94693"/>
  </p:normalViewPr>
  <p:slideViewPr>
    <p:cSldViewPr snapToGrid="0" snapToObjects="1">
      <p:cViewPr varScale="1">
        <p:scale>
          <a:sx n="98" d="100"/>
          <a:sy n="98" d="100"/>
        </p:scale>
        <p:origin x="1016"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04210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Opening, about 25 seconds: “A cancelled class looks like one change on a calendar. But the lab, quiz and assignment may all depend on it. </a:t>
            </a:r>
            <a:r>
              <a:rPr dirty="0" err="1"/>
              <a:t>OwlContinuity</a:t>
            </a:r>
            <a:r>
              <a:rPr dirty="0"/>
              <a:t> checks those consequences and drafts a schedule the professor can review. Our main feature is the Domino Effect Agent. A supporting assignment helper explains the professor’s approved instructions to students.”</a:t>
            </a:r>
          </a:p>
          <a:p>
            <a:r>
              <a:rPr dirty="0"/>
              <a:t>Transition: “Here is the deadline problem we solve.”</a:t>
            </a:r>
          </a:p>
          <a:p>
            <a:endParaRPr dirty="0"/>
          </a:p>
          <a:p>
            <a:r>
              <a:rPr dirty="0"/>
              <a:t>Sources: supplied </a:t>
            </a:r>
            <a:r>
              <a:rPr dirty="0" err="1"/>
              <a:t>OwlContinuity_Pitch_Book</a:t>
            </a:r>
            <a:r>
              <a:rPr dirty="0"/>
              <a:t>(3).html and </a:t>
            </a:r>
            <a:r>
              <a:rPr dirty="0" err="1"/>
              <a:t>OwlContinuity_Promptathon_Championship_Pitch</a:t>
            </a:r>
            <a:r>
              <a:rPr dirty="0"/>
              <a:t>(1).pptx. All course dates, rules, messages and notices are fictional DEMO-101 examples.</a:t>
            </a:r>
          </a:p>
          <a:p>
            <a:r>
              <a:rPr dirty="0"/>
              <a:t>Source detail: Sections 6 and 8. Domino Effect Agent is the presentation name for the RECOVER workflow in the existing Instructor Desk. The prototype still has two personal </a:t>
            </a:r>
            <a:r>
              <a:rPr dirty="0" err="1"/>
              <a:t>owlONE</a:t>
            </a:r>
            <a:r>
              <a:rPr dirty="0"/>
              <a:t> agents.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25 seconds: “Both agents are personal agents inside </a:t>
            </a:r>
            <a:r>
              <a:rPr dirty="0" err="1"/>
              <a:t>owlONE</a:t>
            </a:r>
            <a:r>
              <a:rPr dirty="0"/>
              <a:t>. Instructor Desk is the professor’s side: it rebuilds schedules with code-checked time gaps and keeps the approved answers. Student Helper is the student’s side: it explains assignments from the course pack and answer bank. Internet search is off in both. Today the only link between them is a bank file the professor replaces by hand.”</a:t>
            </a:r>
          </a:p>
          <a:p>
            <a:r>
              <a:rPr dirty="0"/>
              <a:t>Do not describe the Domino Effect Agent as a separate third deployed agent. The model name records the prototype setup on the test date, not a claim about current model choices.</a:t>
            </a:r>
          </a:p>
          <a:p>
            <a:endParaRPr dirty="0"/>
          </a:p>
          <a:p>
            <a:r>
              <a:rPr dirty="0"/>
              <a:t>Optional if time is short: this slide adds detail behind the main story. With the 10-minute limit, skip it and keep the appendix version for questions.</a:t>
            </a:r>
          </a:p>
          <a:p>
            <a:endParaRPr dirty="0"/>
          </a:p>
          <a:p>
            <a:r>
              <a:rPr dirty="0"/>
              <a:t>Sources: supplied </a:t>
            </a:r>
            <a:r>
              <a:rPr dirty="0" err="1"/>
              <a:t>OwlContinuity_Pitch_Book</a:t>
            </a:r>
            <a:r>
              <a:rPr dirty="0"/>
              <a:t>(3).html and </a:t>
            </a:r>
            <a:r>
              <a:rPr dirty="0" err="1"/>
              <a:t>OwlContinuity_Promptathon_Championship_Pitch</a:t>
            </a:r>
            <a:r>
              <a:rPr dirty="0"/>
              <a:t>(1).pptx. All course dates, rules, messages and notices are fictional DEMO-101 examples.</a:t>
            </a:r>
          </a:p>
          <a:p>
            <a:r>
              <a:rPr dirty="0"/>
              <a:t>Source detail: Sections 6.2 and 10; the full deck's appendix.</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30 seconds: “The difficult part is not choosing a new date. It is checking what depends on that date. A lesson prepares students for the lab and quiz. The lab supplies the work needed for the memo. The final remains fixed. A rushed update can leave students too little time to finish. We support the professor who has to check this whole sequence.”</a:t>
            </a:r>
          </a:p>
          <a:p>
            <a:r>
              <a:rPr dirty="0"/>
              <a:t>The same workflow can apply to weather disruption, instructor absence or an unusable room. The specific example here is fictional.</a:t>
            </a:r>
          </a:p>
          <a:p>
            <a:endParaRPr dirty="0"/>
          </a:p>
          <a:p>
            <a:r>
              <a:rPr dirty="0"/>
              <a:t>Sources: supplied </a:t>
            </a:r>
            <a:r>
              <a:rPr dirty="0" err="1"/>
              <a:t>OwlContinuity_Pitch_Book</a:t>
            </a:r>
            <a:r>
              <a:rPr dirty="0"/>
              <a:t>(3).html and </a:t>
            </a:r>
            <a:r>
              <a:rPr dirty="0" err="1"/>
              <a:t>OwlContinuity_Promptathon_Championship_Pitch</a:t>
            </a:r>
            <a:r>
              <a:rPr dirty="0"/>
              <a:t>(1).pptx. All course dates, rules, messages and notices are fictional DEMO-101 examples.</a:t>
            </a:r>
          </a:p>
          <a:p>
            <a:r>
              <a:rPr dirty="0"/>
              <a:t>Source detail: Sections 6.1 and 8.</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35 seconds: “The professor supplies the schedule and rules. The agent finds the directly affected activities, tries the allowed replacement times, then checks every related deadline again. It repeats the check because a repair can create another conflict. If the rules cannot all fit, it names the decision the professor needs to make. Its output remains a draft.”</a:t>
            </a:r>
          </a:p>
          <a:p>
            <a:r>
              <a:rPr dirty="0"/>
              <a:t>Operator option: start the extended-closure prompt in the prepared Instructor Desk chat now, so it can finish while the next slides explain the example.</a:t>
            </a:r>
          </a:p>
          <a:p>
            <a:r>
              <a:rPr dirty="0"/>
              <a:t>The agent runs this workflow inside Instructor Desk with Data &amp; File Tools enabled. Do not describe it as a separate third deployed agent or as a formally verified scheduling solver.</a:t>
            </a:r>
          </a:p>
          <a:p>
            <a:endParaRPr dirty="0"/>
          </a:p>
          <a:p>
            <a:r>
              <a:rPr dirty="0"/>
              <a:t>Sources: supplied </a:t>
            </a:r>
            <a:r>
              <a:rPr dirty="0" err="1"/>
              <a:t>OwlContinuity_Pitch_Book</a:t>
            </a:r>
            <a:r>
              <a:rPr dirty="0"/>
              <a:t>(3).html and </a:t>
            </a:r>
            <a:r>
              <a:rPr dirty="0" err="1"/>
              <a:t>OwlContinuity_Promptathon_Championship_Pitch</a:t>
            </a:r>
            <a:r>
              <a:rPr dirty="0"/>
              <a:t>(1).pptx. All course dates, rules, messages and notices are fictional DEMO-101 examples.</a:t>
            </a:r>
          </a:p>
          <a:p>
            <a:r>
              <a:rPr dirty="0"/>
              <a:t>Source detail: Sections 8.1, 9 and 10.</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30 seconds: “Before the demo, here are the professor’s rules, in the professor’s own words. Most are time gaps, always measured from when the earlier class ends. The one to remember is the red one: the memo is due at least 48 hours after the lab. Some things can’t move, like the final exam and the in-person lab. The agent may only use the options the professor gave, it never drops a class, and everything it makes is a draft the professor approves.”</a:t>
            </a:r>
          </a:p>
          <a:p>
            <a:r>
              <a:rPr dirty="0"/>
              <a:t>Source: file 02 (professor’s rules, fictional DEMO-101).</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35 seconds: “This is the domino. The lab has to move to Thursday. If the memo stays on Friday, students have only 26 hours and 10 minutes, below the professor’s 48-hour rule. Tuesday, November 3 is the other allowed memo date. It gives 123 hours and 10 minutes, so the memo moves. The final stays fixed.”</a:t>
            </a:r>
          </a:p>
          <a:p>
            <a:r>
              <a:rPr dirty="0"/>
              <a:t>The new gap includes the extra hour when clocks fall back on November 1. All times are America/</a:t>
            </a:r>
            <a:r>
              <a:rPr dirty="0" err="1"/>
              <a:t>New_York</a:t>
            </a:r>
            <a:r>
              <a:rPr dirty="0"/>
              <a:t>. Both elapsed-time calculations use the fictional timestamps and </a:t>
            </a:r>
            <a:r>
              <a:rPr dirty="0" err="1"/>
              <a:t>timezone</a:t>
            </a:r>
            <a:r>
              <a:rPr dirty="0"/>
              <a:t>-aware UTC subtraction. The prototype’s complete output also moves the quiz and checks the other rules.</a:t>
            </a:r>
          </a:p>
          <a:p>
            <a:endParaRPr dirty="0"/>
          </a:p>
          <a:p>
            <a:r>
              <a:rPr dirty="0"/>
              <a:t>Sources: supplied </a:t>
            </a:r>
            <a:r>
              <a:rPr dirty="0" err="1"/>
              <a:t>OwlContinuity_Pitch_Book</a:t>
            </a:r>
            <a:r>
              <a:rPr dirty="0"/>
              <a:t>(3).html and </a:t>
            </a:r>
            <a:r>
              <a:rPr dirty="0" err="1"/>
              <a:t>OwlContinuity_Promptathon_Championship_Pitch</a:t>
            </a:r>
            <a:r>
              <a:rPr dirty="0"/>
              <a:t>(1).pptx. All course dates, rules, messages and notices are fictional DEMO-101 examples.</a:t>
            </a:r>
          </a:p>
          <a:p>
            <a:r>
              <a:rPr dirty="0"/>
              <a:t>Source detail: Sections 8.4–8.5. The example is a draft recovery plan, not a real course change.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25 seconds: “Here is the whole revised plan on one calendar. The closure week is empty. The two lessons move to Monday and Tuesday, the lab moves to its only alternate time on Thursday, and the quiz follows it. The memo moves from Friday to Tuesday. The final stays fixed.”</a:t>
            </a:r>
          </a:p>
          <a:p>
            <a:endParaRPr dirty="0"/>
          </a:p>
          <a:p>
            <a:r>
              <a:rPr dirty="0"/>
              <a:t>Optional if time is short: this slide adds detail behind the main story. With the 10-minute limit, skip it and keep the appendix version for questions.</a:t>
            </a:r>
          </a:p>
          <a:p>
            <a:endParaRPr dirty="0"/>
          </a:p>
          <a:p>
            <a:r>
              <a:rPr dirty="0"/>
              <a:t>Sources: supplied </a:t>
            </a:r>
            <a:r>
              <a:rPr dirty="0" err="1"/>
              <a:t>OwlContinuity_Pitch_Book</a:t>
            </a:r>
            <a:r>
              <a:rPr dirty="0"/>
              <a:t>(3).html and </a:t>
            </a:r>
            <a:r>
              <a:rPr dirty="0" err="1"/>
              <a:t>OwlContinuity_Promptathon_Championship_Pitch</a:t>
            </a:r>
            <a:r>
              <a:rPr dirty="0"/>
              <a:t>(1).pptx. All course dates, rules, messages and notices are fictional DEMO-101 examples.</a:t>
            </a:r>
          </a:p>
          <a:p>
            <a:r>
              <a:rPr dirty="0"/>
              <a:t>Source detail: Sections 8.4–8.5; same plan as the full deck's appendix.</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25 seconds: “Each green bar is a real elapsed time, and the dashed line is the professor’s minimum. Only the original memo deadline fails: 26 hours and 10 minutes against 48. Every gap in the proposed plan passes. The agent measures these with code in the local time zone, so the November 1 clock change adds the extra hour.”</a:t>
            </a:r>
          </a:p>
          <a:p>
            <a:r>
              <a:rPr dirty="0"/>
              <a:t>This uses quiz END to memo deadline (122 h 30 m), the stricter reading; the recorded output used quiz start (123 h). Both pass. Bars are drawn to scale (0–155 h).</a:t>
            </a:r>
          </a:p>
          <a:p>
            <a:endParaRPr dirty="0"/>
          </a:p>
          <a:p>
            <a:r>
              <a:rPr dirty="0"/>
              <a:t>Optional if time is short: this slide adds detail behind the main story. With the 10-minute limit, skip it and keep the appendix version for questions.</a:t>
            </a:r>
          </a:p>
          <a:p>
            <a:endParaRPr dirty="0"/>
          </a:p>
          <a:p>
            <a:r>
              <a:rPr dirty="0"/>
              <a:t>Sources: supplied </a:t>
            </a:r>
            <a:r>
              <a:rPr dirty="0" err="1"/>
              <a:t>OwlContinuity_Pitch_Book</a:t>
            </a:r>
            <a:r>
              <a:rPr dirty="0"/>
              <a:t>(3).html and </a:t>
            </a:r>
            <a:r>
              <a:rPr dirty="0" err="1"/>
              <a:t>OwlContinuity_Promptathon_Championship_Pitch</a:t>
            </a:r>
            <a:r>
              <a:rPr dirty="0"/>
              <a:t>(1).pptx. All course dates, rules, messages and notices are fictional DEMO-101 examples.</a:t>
            </a:r>
          </a:p>
          <a:p>
            <a:r>
              <a:rPr dirty="0"/>
              <a:t>Source detail: Section 8.5; same values as the full deck's appendix.</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35 seconds: “The professor side checks whether the assignment instructions are clear. The student side explains the instructions as a checklist and answers practical questions from approved sources. For example, our memo prompt mentions pages and the rubric mentions a word limit. The helper shows both and asks for clarification instead of inventing which one wins. It helps students understand the task while leaving the graded work to them.”</a:t>
            </a:r>
          </a:p>
          <a:p>
            <a:r>
              <a:rPr dirty="0"/>
              <a:t>These functions sit in Instructor Desk and Student Helper. Two length limits may be compatible under a specified format, so call this an ambiguity to clarify rather than proof of an impossible assignment.</a:t>
            </a:r>
          </a:p>
          <a:p>
            <a:endParaRPr dirty="0"/>
          </a:p>
          <a:p>
            <a:r>
              <a:rPr dirty="0"/>
              <a:t>Sources: supplied </a:t>
            </a:r>
            <a:r>
              <a:rPr dirty="0" err="1"/>
              <a:t>OwlContinuity_Pitch_Book</a:t>
            </a:r>
            <a:r>
              <a:rPr dirty="0"/>
              <a:t>(3).html and </a:t>
            </a:r>
            <a:r>
              <a:rPr dirty="0" err="1"/>
              <a:t>OwlContinuity_Promptathon_Championship_Pitch</a:t>
            </a:r>
            <a:r>
              <a:rPr dirty="0"/>
              <a:t>(1).pptx. All course dates, rules, messages and notices are fictional DEMO-101 examples.</a:t>
            </a:r>
          </a:p>
          <a:p>
            <a:r>
              <a:rPr dirty="0"/>
              <a:t>Source detail: Sections 6.2, 7.2–7.3 and 9, plus the general-rule tests in section 12.</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25 seconds: “The student side follows six rules. It answers from the professor’s approved answers and shows the source. If there’s no answer yet, it doesn’t guess: it helps the student ask. The newest official update wins. It follows the course AI policy, so the writing stays the student’s. It only gives the professor’s own links, and it never asks for private information.”</a:t>
            </a:r>
          </a:p>
          <a:p>
            <a:r>
              <a:rPr dirty="0"/>
              <a:t>Source: Student Helper instructions (12a).</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25 seconds: “A common problem: the assignment says read an article, but students can’t find it. Student Helper looks in the course pack. If the instructor posted the reading, it gives the exact title, the Canvas location and the instructor’s own link. If no source was given, it says so, points to FAU Libraries, and drafts a question so the instructor can post the location for everyone. On the professor’s side, the readings check flags missing links before students see the assignment.”</a:t>
            </a:r>
          </a:p>
          <a:p>
            <a:r>
              <a:rPr dirty="0"/>
              <a:t>The agent cannot open links (internet search is off), so it never claims a link works; the instructor confirms each link once. Reading 1 is a real open textbook section (OpenStax Principles of Management 2.1, CC BY-NC-SA 4.0), placed in the fictional DEMO-101 course pack. FAU Libraries: </a:t>
            </a:r>
            <a:r>
              <a:rPr dirty="0" err="1"/>
              <a:t>library.fau.edu</a:t>
            </a:r>
            <a:r>
              <a:rPr dirty="0"/>
              <a:t> (checked Oct 17, 2026).</a:t>
            </a:r>
          </a:p>
          <a:p>
            <a:endParaRPr dirty="0"/>
          </a:p>
          <a:p>
            <a:r>
              <a:rPr dirty="0"/>
              <a:t>Optional if time is short: this slide adds detail behind the main story. With the 10-minute limit, skip it and keep the appendix version for questions.</a:t>
            </a:r>
          </a:p>
          <a:p>
            <a:endParaRPr dirty="0"/>
          </a:p>
          <a:p>
            <a:r>
              <a:rPr dirty="0"/>
              <a:t>Sources: supplied </a:t>
            </a:r>
            <a:r>
              <a:rPr dirty="0" err="1"/>
              <a:t>OwlContinuity_Pitch_Book</a:t>
            </a:r>
            <a:r>
              <a:rPr dirty="0"/>
              <a:t>(3).html and </a:t>
            </a:r>
            <a:r>
              <a:rPr dirty="0" err="1"/>
              <a:t>OwlContinuity_Promptathon_Championship_Pitch</a:t>
            </a:r>
            <a:r>
              <a:rPr dirty="0"/>
              <a:t>(1).pptx. All course dates, rules, messages and notices are fictional DEMO-101 examples.</a:t>
            </a:r>
          </a:p>
          <a:p>
            <a:r>
              <a:rPr dirty="0"/>
              <a:t>Source detail: course pack section 7, answer bank G22, Student Helper workflow 5, Instructor Desk PROMPT CHECK readings check.</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30 seconds: “If an answer is missing, the helper drafts a question for the professor. The student sends it. The professor answers once in Instructor Desk, which produces an updated answer bank. The professor replaces the file in Student Helper. After that, another student can receive the same approved answer with its source ID. The file replacement is manual today.”</a:t>
            </a:r>
          </a:p>
          <a:p>
            <a:r>
              <a:rPr dirty="0"/>
              <a:t>After a recovery plan, the professor must also publish the approved announcement and refresh any relevant course files and dated answer-bank entries. The two agents do not synchronize automatically and the prototype has no live Canvas connection.</a:t>
            </a:r>
          </a:p>
          <a:p>
            <a:r>
              <a:rPr dirty="0"/>
              <a:t>Personal cases such as grades, illness or extensions stay out of the reusable bank.</a:t>
            </a:r>
          </a:p>
          <a:p>
            <a:endParaRPr dirty="0"/>
          </a:p>
          <a:p>
            <a:r>
              <a:rPr dirty="0"/>
              <a:t>Sources: supplied </a:t>
            </a:r>
            <a:r>
              <a:rPr dirty="0" err="1"/>
              <a:t>OwlContinuity_Pitch_Book</a:t>
            </a:r>
            <a:r>
              <a:rPr dirty="0"/>
              <a:t>(3).html and </a:t>
            </a:r>
            <a:r>
              <a:rPr dirty="0" err="1"/>
              <a:t>OwlContinuity_Promptathon_Championship_Pitch</a:t>
            </a:r>
            <a:r>
              <a:rPr dirty="0"/>
              <a:t>(1).pptx. All course dates, rules, messages and notices are fictional DEMO-101 examples.</a:t>
            </a:r>
          </a:p>
          <a:p>
            <a:r>
              <a:rPr dirty="0"/>
              <a:t>Source detail: Sections 7.3–7.5 and 14.</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30 seconds: “The helper only answers from approved sources, and it names the source. A4 is a current course answer. A8 was reviewed and kept from last semester. G5 is one of the professor’s general assignment rules. Before an old answer is reused, the semester review keeps, updates, retires or flags it, and personal cases never enter the bank. If instructions conflict, it shows both and asks.”</a:t>
            </a:r>
          </a:p>
          <a:p>
            <a:r>
              <a:t>The demo bank holds A1–A10 and G1–G21; A11 is added in the new-question demonstration. Entries are professor-controlled and course-specific; a general rule does not apply to every course.</a:t>
            </a:r>
          </a:p>
          <a:p>
            <a:endParaRPr/>
          </a:p>
          <a:p>
            <a:r>
              <a:t>Optional if time is short: this slide adds detail behind the main story. With the 10-minute limit, skip it and keep the appendix version for questions.</a:t>
            </a:r>
          </a:p>
          <a:p>
            <a:endParaRPr/>
          </a:p>
          <a:p>
            <a:r>
              <a:t>Sources: supplied OwlContinuity_Pitch_Book(3).html and OwlContinuity_Promptathon_Championship_Pitch(1).pptx. All course dates, rules, messages and notices are fictional DEMO-101 examples.</a:t>
            </a:r>
          </a:p>
          <a:p>
            <a:r>
              <a:t>Source detail: Sections 7.2–7.5; the full deck's appendix.</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Live demonstration, about 2 minutes.</a:t>
            </a:r>
          </a:p>
          <a:p>
            <a:r>
              <a:t>Preparation: open Instructor Desk in the existing demo chat where the initial schedule and first closure have already been supplied. Paste the original extended-closure prompt (file 03 in the team’s kit). Do not reconstruct the full input from this slide. Start the request before this slide if needed.</a:t>
            </a:r>
          </a:p>
          <a:p>
            <a:r>
              <a:t>1. Show the revised recovery table. Point to the lab on Thu Oct 29, memo on Tue Nov 3, and final on Fri Nov 6 unchanged.</a:t>
            </a:r>
          </a:p>
          <a:p>
            <a:r>
              <a:t>2. Show the calculation table. Say: “The old memo deadline gives 26 hours and 10 minutes. The proposed deadline gives 123 hours and 10 minutes, including the clock change.”</a:t>
            </a:r>
          </a:p>
          <a:p>
            <a:r>
              <a:t>3. In Student Helper, ask: “I wrote my analysis in Python. Do I paste the code into the memo?” Expect the approved G5 rule about a short excerpt or key output in the appendix. The helper should not write code or assignment content.</a:t>
            </a:r>
          </a:p>
          <a:p>
            <a:r>
              <a:t>If time allows, show the new-question loop: ask whether an early memo draft can receive feedback, show the professor’s approval, replace the bank file, and repeat the question to show A11. A prepared replacement bank is a demo convenience and must match the approved content.</a:t>
            </a:r>
          </a:p>
          <a:p>
            <a:r>
              <a:t>If the live run fails, show the recorded-run slides (full deck OwlContinuity_Final_Pitch_Designed_v6.pptx, slides 38–44) and state clearly: “This is a recorded run from our testing.” The screenshots are actual assets from the supplied deck.</a:t>
            </a:r>
          </a:p>
          <a:p>
            <a:endParaRPr/>
          </a:p>
          <a:p>
            <a:r>
              <a:t>Sources: supplied OwlContinuity_Pitch_Book(3).html and OwlContinuity_Promptathon_Championship_Pitch(1).pptx. All course dates, rules, messages and notices are fictional DEMO-101 examples.</a:t>
            </a:r>
          </a:p>
          <a:p>
            <a:r>
              <a:t>Source detail: Sections 2 and 4. </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35 seconds: “Our reported main check has 31 passes, two partial results and no failures, plus seven successful assignment-rule questions. The two partials matter. The carry-over review was overcautious, and an invalid date still led to a conditional plan. Testing also prompted the timezone calculation rule and a fix for the new-question message tag.”</a:t>
            </a:r>
          </a:p>
          <a:p>
            <a:r>
              <a:t>These are team-reported prototype results from the October 16 test summary. The test set is small and team-written, and the six held-back cases are not an independent evaluation. Do not treat a zero failure count in this report as proof of reliability.</a:t>
            </a:r>
          </a:p>
          <a:p>
            <a:r>
              <a:t>In the detailed final tally, the invalid-date case H03 remains PARTIAL.</a:t>
            </a:r>
          </a:p>
          <a:p>
            <a:endParaRPr/>
          </a:p>
          <a:p>
            <a:r>
              <a:t>Sources: supplied OwlContinuity_Pitch_Book(3).html and OwlContinuity_Promptathon_Championship_Pitch(1).pptx. All course dates, rules, messages and notices are fictional DEMO-101 examples.</a:t>
            </a:r>
          </a:p>
          <a:p>
            <a:r>
              <a:t>Source detail: Sections 12–14.</a:t>
            </a:r>
          </a:p>
          <a:p>
            <a:r>
              <a:t>On October 17 we re-ran the domino twice: both runs had the right plan, and in one run the agent also moved the review when it didn't need to, which is why every plan stays a draft.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25 seconds: “We didn’t want to test only on our made-up course, so we gave the agents a real FAU syllabus, DEMO-202. All 17 live tests passed. Here is the domino on the real course: a closure cancels the class where Project Part 3 is announced. The make-up is Monday, November 9. The old due date, November 19, would give only 250 hours when the rule needs 336, so the agent moves it to November 23 and shows the math. The student side followed this course’s stricter AI ban and gave the textbook link exactly as posted.”</a:t>
            </a:r>
          </a:p>
          <a:p>
            <a:r>
              <a:t>Honest limits: the closure, exact class days and approved answers are team test values set by Tanvir, not the instructor’s decisions. One run per test; team-written tests.</a:t>
            </a:r>
          </a:p>
          <a:p>
            <a:r>
              <a:t>Sources: real_syllabus_tests/results (word-for-word owlONE outputs, Oct 17, 2026).</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25 seconds: “On the left are the real rules from the DEMO-202 syllabus: no final exam, quizzes in person, a late penalty of 10 and 20 percent, and a full AI ban. The syllabus only lists weeks, so to test the domino we set exact days and two simple rules, shown on the right: Quiz 3 needs 48 hours after the prep lecture, and Project Part 3 needs 14 days after it is announced. These are our test values, not the instructor’s decisions.”</a:t>
            </a:r>
          </a:p>
          <a:p>
            <a:r>
              <a:t>Sources: DEMO-202 public syllabus (Fall 2026); real_syllabus_tests files 30–37 and results.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30 seconds: “Good behaviour often means stopping. When the reopening date was missing, or two notices disagreed, the agent asked instead of guessing. It ignored a hidden instruction in a file and changed nothing for another campus. When no plan fit the rules, it named the blocking rule. One case is still partial: with an impossible date it flagged the error but still proposed a plan. Against a plain owlONE chat, both found the plan; ours was faster in one run, which is not a general claim.”</a:t>
            </a:r>
          </a:p>
          <a:p>
            <a:r>
              <a:t>These are team-written cases, not an independent evaluation. H03 remains PARTIAL in the final tally.</a:t>
            </a:r>
          </a:p>
          <a:p>
            <a:endParaRPr/>
          </a:p>
          <a:p>
            <a:r>
              <a:t>Optional if time is short: this slide adds detail behind the main story. With the 10-minute limit, skip it and keep the appendix version for questions.</a:t>
            </a:r>
          </a:p>
          <a:p>
            <a:endParaRPr/>
          </a:p>
          <a:p>
            <a:r>
              <a:t>Sources: supplied OwlContinuity_Pitch_Book(3).html and OwlContinuity_Promptathon_Championship_Pitch(1).pptx. All course dates, rules, messages and notices are fictional DEMO-101 examples.</a:t>
            </a:r>
          </a:p>
          <a:p>
            <a:r>
              <a:t>Source detail: Sections 11–12; the full deck's appendix.</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25 seconds: “We are clear about the limits. Dates and calculations still need human checking, invalid dates need a better response, and dated answers must be refreshed after each change. The prototype needs no grades or student records, applies the course AI policy, keeps personal cases private and leaves every published change to the professor. It does not book rooms or know other courses.”</a:t>
            </a:r>
          </a:p>
          <a:p>
            <a:r>
              <a:t>A correct subtraction does not verify that the model selected the right source date. Human review must include inputs, sources and the schedule.</a:t>
            </a:r>
          </a:p>
          <a:p>
            <a:endParaRPr/>
          </a:p>
          <a:p>
            <a:r>
              <a:t>Optional if time is short: this slide adds detail behind the main story. With the 10-minute limit, skip it and keep the appendix version for questions.</a:t>
            </a:r>
          </a:p>
          <a:p>
            <a:endParaRPr/>
          </a:p>
          <a:p>
            <a:r>
              <a:t>Sources: supplied OwlContinuity_Pitch_Book(3).html and OwlContinuity_Promptathon_Championship_Pitch(1).pptx. All course dates, rules, messages and notices are fictional DEMO-101 examples.</a:t>
            </a:r>
          </a:p>
          <a:p>
            <a:r>
              <a:t>Source detail: Sections 11 and 14; the full deck's appendix.</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30 seconds: “The prototype uses owlONE and two personal agents. A realistic next step is one semester with a few volunteer professors. We should measure how long it takes to produce a plan that passes review, whether conflicts remain, and how quickly students get accurate answers. We must confirm the sharing and approval process before classroom use. Canvas routing and automatic bank updates are future work.”</a:t>
            </a:r>
          </a:p>
          <a:p>
            <a:r>
              <a:t>The materials do not establish FAU approval, a committed pilot, current institutional cost terms, or class-wide access. Do not imply any of those are already in place. The current design does not need student grade records.</a:t>
            </a:r>
          </a:p>
          <a:p>
            <a:endParaRPr/>
          </a:p>
          <a:p>
            <a:r>
              <a:t>Sources: supplied OwlContinuity_Pitch_Book(3).html and OwlContinuity_Promptathon_Championship_Pitch(1).pptx. All course dates, rules, messages and notices are fictional DEMO-101 examples.</a:t>
            </a:r>
          </a:p>
          <a:p>
            <a:r>
              <a:t>Source detail: Sections 14–15. Primary pilot metrics for scheduling are proposed additions to match the revised focus.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Closing, about 15 seconds: “OwlContinuity gives the professor a revised schedule with the consequences made visible. The assignment helper then explains approved requirements to students. We propose a supervised pilot with two or three volunteer professors to measure whether it reduces rescheduling work and student confusion.”</a:t>
            </a:r>
          </a:p>
          <a:p>
            <a:r>
              <a:t>Stay on this slide for questions. The text link opens the hidden appendix. Supporting screenshots are in the full deck's appendix.</a:t>
            </a:r>
          </a:p>
          <a:p>
            <a:endParaRPr/>
          </a:p>
          <a:p>
            <a:r>
              <a:t>Sources: supplied OwlContinuity_Pitch_Book(3).html and OwlContinuity_Promptathon_Championship_Pitch(1).pptx. All course dates, rules, messages and notices are fictional DEMO-101 examples.</a:t>
            </a:r>
          </a:p>
          <a:p>
            <a:r>
              <a:t>Source detail: Sections 8 and 15.</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hyperlink" Target="https://github.com/tanviranjumjoarder/OwlContinuity/blob/main/deck/OwlContinuity_Detailed_Deck.pdf"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TextBox 1"/>
          <p:cNvSpPr txBox="1"/>
          <p:nvPr/>
        </p:nvSpPr>
        <p:spPr>
          <a:xfrm>
            <a:off x="640080" y="502920"/>
            <a:ext cx="5486400" cy="320040"/>
          </a:xfrm>
          <a:prstGeom prst="rect">
            <a:avLst/>
          </a:prstGeom>
          <a:noFill/>
        </p:spPr>
        <p:txBody>
          <a:bodyPr wrap="square" lIns="0" tIns="0" rIns="0" bIns="0" anchor="t">
            <a:spAutoFit/>
          </a:bodyPr>
          <a:lstStyle/>
          <a:p>
            <a:pPr algn="l"/>
            <a:r>
              <a:rPr sz="1600" b="1" i="0">
                <a:solidFill>
                  <a:srgbClr val="A9BCD3"/>
                </a:solidFill>
                <a:latin typeface="Avenir Next"/>
              </a:rPr>
              <a:t>OwlContinuity</a:t>
            </a:r>
          </a:p>
        </p:txBody>
      </p:sp>
      <p:sp>
        <p:nvSpPr>
          <p:cNvPr id="3" name="TextBox 2"/>
          <p:cNvSpPr txBox="1"/>
          <p:nvPr/>
        </p:nvSpPr>
        <p:spPr>
          <a:xfrm>
            <a:off x="640080" y="1097280"/>
            <a:ext cx="6217920" cy="2377440"/>
          </a:xfrm>
          <a:prstGeom prst="rect">
            <a:avLst/>
          </a:prstGeom>
          <a:noFill/>
        </p:spPr>
        <p:txBody>
          <a:bodyPr wrap="square" lIns="0" tIns="0" rIns="0" bIns="0" anchor="t">
            <a:spAutoFit/>
          </a:bodyPr>
          <a:lstStyle/>
          <a:p>
            <a:pPr algn="l">
              <a:lnSpc>
                <a:spcPct val="95000"/>
              </a:lnSpc>
            </a:pPr>
            <a:r>
              <a:rPr sz="4600" b="1" i="0">
                <a:solidFill>
                  <a:srgbClr val="FFFFFF"/>
                </a:solidFill>
                <a:latin typeface="Avenir Next"/>
              </a:rPr>
              <a:t>When a class moves,</a:t>
            </a:r>
          </a:p>
          <a:p>
            <a:pPr algn="l">
              <a:lnSpc>
                <a:spcPct val="95000"/>
              </a:lnSpc>
            </a:pPr>
            <a:r>
              <a:rPr sz="4600" b="1" i="0">
                <a:solidFill>
                  <a:srgbClr val="FFFFFF"/>
                </a:solidFill>
                <a:latin typeface="Avenir Next"/>
              </a:rPr>
              <a:t>which deadlines</a:t>
            </a:r>
          </a:p>
          <a:p>
            <a:pPr algn="l">
              <a:lnSpc>
                <a:spcPct val="95000"/>
              </a:lnSpc>
            </a:pPr>
            <a:r>
              <a:rPr sz="4600" b="1" i="0">
                <a:solidFill>
                  <a:srgbClr val="FFFFFF"/>
                </a:solidFill>
                <a:latin typeface="Avenir Next"/>
              </a:rPr>
              <a:t>must move too?</a:t>
            </a:r>
          </a:p>
        </p:txBody>
      </p:sp>
      <p:sp>
        <p:nvSpPr>
          <p:cNvPr id="4" name="TextBox 3"/>
          <p:cNvSpPr txBox="1"/>
          <p:nvPr/>
        </p:nvSpPr>
        <p:spPr>
          <a:xfrm>
            <a:off x="640080" y="3611880"/>
            <a:ext cx="5852160" cy="914400"/>
          </a:xfrm>
          <a:prstGeom prst="rect">
            <a:avLst/>
          </a:prstGeom>
          <a:noFill/>
        </p:spPr>
        <p:txBody>
          <a:bodyPr wrap="square" lIns="0" tIns="0" rIns="0" bIns="0" anchor="t">
            <a:spAutoFit/>
          </a:bodyPr>
          <a:lstStyle/>
          <a:p>
            <a:pPr algn="l">
              <a:lnSpc>
                <a:spcPct val="110000"/>
              </a:lnSpc>
            </a:pPr>
            <a:r>
              <a:rPr sz="1800" b="0" i="0">
                <a:solidFill>
                  <a:srgbClr val="D5E0EC"/>
                </a:solidFill>
                <a:latin typeface="Avenir Next"/>
              </a:rPr>
              <a:t>The Domino Effect Agent checks related classes and assignments, then drafts a revised schedule for the professor.</a:t>
            </a:r>
          </a:p>
        </p:txBody>
      </p:sp>
      <p:sp>
        <p:nvSpPr>
          <p:cNvPr id="5" name="TextBox 4"/>
          <p:cNvSpPr txBox="1"/>
          <p:nvPr/>
        </p:nvSpPr>
        <p:spPr>
          <a:xfrm>
            <a:off x="640080" y="4709160"/>
            <a:ext cx="5852160" cy="365760"/>
          </a:xfrm>
          <a:prstGeom prst="rect">
            <a:avLst/>
          </a:prstGeom>
          <a:noFill/>
        </p:spPr>
        <p:txBody>
          <a:bodyPr wrap="square" lIns="0" tIns="0" rIns="0" bIns="0" anchor="t">
            <a:spAutoFit/>
          </a:bodyPr>
          <a:lstStyle/>
          <a:p>
            <a:pPr algn="l"/>
            <a:r>
              <a:rPr sz="1500" b="1" i="0">
                <a:solidFill>
                  <a:srgbClr val="8FB3DA"/>
                </a:solidFill>
                <a:latin typeface="Avenir Next"/>
              </a:rPr>
              <a:t>With a professor–student assignment helper in owlONE</a:t>
            </a:r>
          </a:p>
        </p:txBody>
      </p:sp>
      <p:sp>
        <p:nvSpPr>
          <p:cNvPr id="6" name="TextBox 5"/>
          <p:cNvSpPr txBox="1"/>
          <p:nvPr/>
        </p:nvSpPr>
        <p:spPr>
          <a:xfrm>
            <a:off x="640080" y="5897880"/>
            <a:ext cx="6858000" cy="320040"/>
          </a:xfrm>
          <a:prstGeom prst="rect">
            <a:avLst/>
          </a:prstGeom>
          <a:noFill/>
        </p:spPr>
        <p:txBody>
          <a:bodyPr wrap="square" lIns="0" tIns="0" rIns="0" bIns="0" anchor="t">
            <a:spAutoFit/>
          </a:bodyPr>
          <a:lstStyle/>
          <a:p>
            <a:pPr algn="l"/>
            <a:r>
              <a:rPr sz="1300" b="0" i="0">
                <a:solidFill>
                  <a:srgbClr val="A9BCD3"/>
                </a:solidFill>
                <a:latin typeface="Avenir Next"/>
              </a:rPr>
              <a:t>FAU owlONE Promptathon   /   October 17, 2026   /   Team OwlContinuity</a:t>
            </a:r>
          </a:p>
        </p:txBody>
      </p:sp>
      <p:sp>
        <p:nvSpPr>
          <p:cNvPr id="7" name="Rounded Rectangle 6"/>
          <p:cNvSpPr/>
          <p:nvPr/>
        </p:nvSpPr>
        <p:spPr>
          <a:xfrm rot="2280000">
            <a:off x="7223760" y="2560320"/>
            <a:ext cx="566928" cy="1554480"/>
          </a:xfrm>
          <a:prstGeom prst="roundRect">
            <a:avLst>
              <a:gd name="adj" fmla="val 12000"/>
            </a:avLst>
          </a:prstGeom>
          <a:solidFill>
            <a:srgbClr val="0F4A80"/>
          </a:solidFill>
          <a:ln w="22225">
            <a:solidFill>
              <a:srgbClr val="8FB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2280000">
            <a:off x="7434072" y="2971800"/>
            <a:ext cx="146304" cy="146304"/>
          </a:xfrm>
          <a:prstGeom prst="ellipse">
            <a:avLst/>
          </a:prstGeom>
          <a:solidFill>
            <a:srgbClr val="8FB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2280000">
            <a:off x="7434072" y="3611879"/>
            <a:ext cx="146304" cy="146304"/>
          </a:xfrm>
          <a:prstGeom prst="ellipse">
            <a:avLst/>
          </a:prstGeom>
          <a:solidFill>
            <a:srgbClr val="8FB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22592" y="4389120"/>
            <a:ext cx="960120" cy="320040"/>
          </a:xfrm>
          <a:prstGeom prst="rect">
            <a:avLst/>
          </a:prstGeom>
          <a:noFill/>
        </p:spPr>
        <p:txBody>
          <a:bodyPr wrap="square" lIns="0" tIns="0" rIns="0" bIns="0" anchor="t">
            <a:spAutoFit/>
          </a:bodyPr>
          <a:lstStyle/>
          <a:p>
            <a:pPr algn="ctr"/>
            <a:r>
              <a:rPr sz="1300" b="1" i="0">
                <a:solidFill>
                  <a:srgbClr val="D5E0EC"/>
                </a:solidFill>
                <a:latin typeface="Avenir Next"/>
              </a:rPr>
              <a:t>Lesson</a:t>
            </a:r>
          </a:p>
        </p:txBody>
      </p:sp>
      <p:sp>
        <p:nvSpPr>
          <p:cNvPr id="11" name="Rounded Rectangle 10"/>
          <p:cNvSpPr/>
          <p:nvPr/>
        </p:nvSpPr>
        <p:spPr>
          <a:xfrm rot="1800000">
            <a:off x="8092440" y="2560320"/>
            <a:ext cx="566928" cy="1554480"/>
          </a:xfrm>
          <a:prstGeom prst="roundRect">
            <a:avLst>
              <a:gd name="adj" fmla="val 12000"/>
            </a:avLst>
          </a:prstGeom>
          <a:solidFill>
            <a:srgbClr val="0F4A80"/>
          </a:solidFill>
          <a:ln w="22225">
            <a:solidFill>
              <a:srgbClr val="8FB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rot="1800000">
            <a:off x="8302752" y="2971800"/>
            <a:ext cx="146304" cy="146304"/>
          </a:xfrm>
          <a:prstGeom prst="ellipse">
            <a:avLst/>
          </a:prstGeom>
          <a:solidFill>
            <a:srgbClr val="8FB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rot="1800000">
            <a:off x="8302752" y="3611879"/>
            <a:ext cx="146304" cy="146304"/>
          </a:xfrm>
          <a:prstGeom prst="ellipse">
            <a:avLst/>
          </a:prstGeom>
          <a:solidFill>
            <a:srgbClr val="8FB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891271" y="4389120"/>
            <a:ext cx="960120" cy="320040"/>
          </a:xfrm>
          <a:prstGeom prst="rect">
            <a:avLst/>
          </a:prstGeom>
          <a:noFill/>
        </p:spPr>
        <p:txBody>
          <a:bodyPr wrap="square" lIns="0" tIns="0" rIns="0" bIns="0" anchor="t">
            <a:spAutoFit/>
          </a:bodyPr>
          <a:lstStyle/>
          <a:p>
            <a:pPr algn="ctr"/>
            <a:r>
              <a:rPr sz="1300" b="1" i="0">
                <a:solidFill>
                  <a:srgbClr val="D5E0EC"/>
                </a:solidFill>
                <a:latin typeface="Avenir Next"/>
              </a:rPr>
              <a:t>Lab</a:t>
            </a:r>
          </a:p>
        </p:txBody>
      </p:sp>
      <p:sp>
        <p:nvSpPr>
          <p:cNvPr id="15" name="Rounded Rectangle 14"/>
          <p:cNvSpPr/>
          <p:nvPr/>
        </p:nvSpPr>
        <p:spPr>
          <a:xfrm rot="1320000">
            <a:off x="8961120" y="2560320"/>
            <a:ext cx="566928" cy="1554480"/>
          </a:xfrm>
          <a:prstGeom prst="roundRect">
            <a:avLst>
              <a:gd name="adj" fmla="val 12000"/>
            </a:avLst>
          </a:prstGeom>
          <a:solidFill>
            <a:srgbClr val="0F4A80"/>
          </a:solidFill>
          <a:ln w="22225">
            <a:solidFill>
              <a:srgbClr val="8FB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rot="1320000">
            <a:off x="9171432" y="2971800"/>
            <a:ext cx="146304" cy="146304"/>
          </a:xfrm>
          <a:prstGeom prst="ellipse">
            <a:avLst/>
          </a:prstGeom>
          <a:solidFill>
            <a:srgbClr val="8FB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rot="1320000">
            <a:off x="9171432" y="3611879"/>
            <a:ext cx="146304" cy="146304"/>
          </a:xfrm>
          <a:prstGeom prst="ellipse">
            <a:avLst/>
          </a:prstGeom>
          <a:solidFill>
            <a:srgbClr val="8FB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759952" y="4389120"/>
            <a:ext cx="960120" cy="320040"/>
          </a:xfrm>
          <a:prstGeom prst="rect">
            <a:avLst/>
          </a:prstGeom>
          <a:noFill/>
        </p:spPr>
        <p:txBody>
          <a:bodyPr wrap="square" lIns="0" tIns="0" rIns="0" bIns="0" anchor="t">
            <a:spAutoFit/>
          </a:bodyPr>
          <a:lstStyle/>
          <a:p>
            <a:pPr algn="ctr"/>
            <a:r>
              <a:rPr sz="1300" b="1" i="0">
                <a:solidFill>
                  <a:srgbClr val="D5E0EC"/>
                </a:solidFill>
                <a:latin typeface="Avenir Next"/>
              </a:rPr>
              <a:t>Quiz</a:t>
            </a:r>
          </a:p>
        </p:txBody>
      </p:sp>
      <p:sp>
        <p:nvSpPr>
          <p:cNvPr id="19" name="Rounded Rectangle 18"/>
          <p:cNvSpPr/>
          <p:nvPr/>
        </p:nvSpPr>
        <p:spPr>
          <a:xfrm rot="780000">
            <a:off x="9829800" y="2560320"/>
            <a:ext cx="566928" cy="1554480"/>
          </a:xfrm>
          <a:prstGeom prst="roundRect">
            <a:avLst>
              <a:gd name="adj" fmla="val 12000"/>
            </a:avLst>
          </a:prstGeom>
          <a:solidFill>
            <a:srgbClr val="0F4A80"/>
          </a:solidFill>
          <a:ln w="22225">
            <a:solidFill>
              <a:srgbClr val="8FB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rot="780000">
            <a:off x="10040112" y="2971800"/>
            <a:ext cx="146304" cy="146304"/>
          </a:xfrm>
          <a:prstGeom prst="ellipse">
            <a:avLst/>
          </a:prstGeom>
          <a:solidFill>
            <a:srgbClr val="8FB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rot="780000">
            <a:off x="10040112" y="3611879"/>
            <a:ext cx="146304" cy="146304"/>
          </a:xfrm>
          <a:prstGeom prst="ellipse">
            <a:avLst/>
          </a:prstGeom>
          <a:solidFill>
            <a:srgbClr val="8FB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28632" y="4389120"/>
            <a:ext cx="960120" cy="320040"/>
          </a:xfrm>
          <a:prstGeom prst="rect">
            <a:avLst/>
          </a:prstGeom>
          <a:noFill/>
        </p:spPr>
        <p:txBody>
          <a:bodyPr wrap="square" lIns="0" tIns="0" rIns="0" bIns="0" anchor="t">
            <a:spAutoFit/>
          </a:bodyPr>
          <a:lstStyle/>
          <a:p>
            <a:pPr algn="ctr"/>
            <a:r>
              <a:rPr sz="1300" b="1" i="0">
                <a:solidFill>
                  <a:srgbClr val="D5E0EC"/>
                </a:solidFill>
                <a:latin typeface="Avenir Next"/>
              </a:rPr>
              <a:t>Memo</a:t>
            </a:r>
          </a:p>
        </p:txBody>
      </p:sp>
      <p:sp>
        <p:nvSpPr>
          <p:cNvPr id="23" name="Rounded Rectangle 22"/>
          <p:cNvSpPr/>
          <p:nvPr/>
        </p:nvSpPr>
        <p:spPr>
          <a:xfrm>
            <a:off x="10835640" y="2560320"/>
            <a:ext cx="603504" cy="1600200"/>
          </a:xfrm>
          <a:prstGeom prst="roundRect">
            <a:avLst>
              <a:gd name="adj" fmla="val 12000"/>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1064240" y="2971800"/>
            <a:ext cx="146304" cy="146304"/>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1064240" y="3611879"/>
            <a:ext cx="146304" cy="146304"/>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561319" y="4389120"/>
            <a:ext cx="1188720" cy="320040"/>
          </a:xfrm>
          <a:prstGeom prst="rect">
            <a:avLst/>
          </a:prstGeom>
          <a:noFill/>
        </p:spPr>
        <p:txBody>
          <a:bodyPr wrap="square" lIns="0" tIns="0" rIns="0" bIns="0" anchor="t">
            <a:spAutoFit/>
          </a:bodyPr>
          <a:lstStyle/>
          <a:p>
            <a:pPr algn="ctr"/>
            <a:r>
              <a:rPr sz="1300" b="1" i="0">
                <a:solidFill>
                  <a:srgbClr val="FFFFFF"/>
                </a:solidFill>
                <a:latin typeface="Avenir Next"/>
              </a:rPr>
              <a:t>Final exam</a:t>
            </a:r>
          </a:p>
        </p:txBody>
      </p:sp>
      <p:sp>
        <p:nvSpPr>
          <p:cNvPr id="27" name="Rounded Rectangle 26"/>
          <p:cNvSpPr/>
          <p:nvPr/>
        </p:nvSpPr>
        <p:spPr>
          <a:xfrm>
            <a:off x="10725912" y="2103120"/>
            <a:ext cx="771143" cy="292608"/>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FFFFFF"/>
                </a:solidFill>
                <a:latin typeface="Avenir Next"/>
              </a:rPr>
              <a:t>FIXED</a:t>
            </a:r>
          </a:p>
        </p:txBody>
      </p:sp>
      <p:cxnSp>
        <p:nvCxnSpPr>
          <p:cNvPr id="28" name="Connector 27"/>
          <p:cNvCxnSpPr/>
          <p:nvPr/>
        </p:nvCxnSpPr>
        <p:spPr>
          <a:xfrm>
            <a:off x="7086600" y="4233672"/>
            <a:ext cx="4434840" cy="0"/>
          </a:xfrm>
          <a:prstGeom prst="line">
            <a:avLst/>
          </a:prstGeom>
          <a:ln w="19050">
            <a:solidFill>
              <a:srgbClr val="8FB3DA"/>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086600" y="4800600"/>
            <a:ext cx="4572000" cy="548640"/>
          </a:xfrm>
          <a:prstGeom prst="rect">
            <a:avLst/>
          </a:prstGeom>
          <a:noFill/>
        </p:spPr>
        <p:txBody>
          <a:bodyPr wrap="square" lIns="0" tIns="0" rIns="0" bIns="0" anchor="t">
            <a:spAutoFit/>
          </a:bodyPr>
          <a:lstStyle/>
          <a:p>
            <a:pPr algn="l"/>
            <a:r>
              <a:rPr sz="1400" b="0" i="1">
                <a:solidFill>
                  <a:srgbClr val="A9BCD3"/>
                </a:solidFill>
                <a:latin typeface="Avenir Next"/>
              </a:rPr>
              <a:t>One moved class can knock over the next deadline.</a:t>
            </a:r>
          </a:p>
        </p:txBody>
      </p:sp>
      <p:sp>
        <p:nvSpPr>
          <p:cNvPr id="30"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A9BCD3"/>
                </a:solidFill>
                <a:latin typeface="Avenir Next"/>
              </a:rPr>
              <a:t>OwlContinuity</a:t>
            </a:r>
          </a:p>
        </p:txBody>
      </p:sp>
      <p:sp>
        <p:nvSpPr>
          <p:cNvPr id="31"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A9BCD3"/>
                </a:solidFill>
                <a:latin typeface="Avenir Next"/>
              </a:rPr>
              <a:t>01</a:t>
            </a:r>
          </a:p>
        </p:txBody>
      </p:sp>
      <p:sp>
        <p:nvSpPr>
          <p:cNvPr id="32" name="Presenters"/>
          <p:cNvSpPr txBox="1"/>
          <p:nvPr/>
        </p:nvSpPr>
        <p:spPr>
          <a:xfrm>
            <a:off x="7086600" y="5440680"/>
            <a:ext cx="4572000" cy="914400"/>
          </a:xfrm>
          <a:prstGeom prst="rect">
            <a:avLst/>
          </a:prstGeom>
          <a:noFill/>
        </p:spPr>
        <p:txBody>
          <a:bodyPr wrap="square">
            <a:spAutoFit/>
          </a:bodyPr>
          <a:lstStyle/>
          <a:p>
            <a:pPr>
              <a:spcAft>
                <a:spcPts val="200"/>
              </a:spcAft>
            </a:pPr>
            <a:r>
              <a:rPr sz="1100" b="1">
                <a:solidFill>
                  <a:srgbClr val="8FB3DA"/>
                </a:solidFill>
                <a:latin typeface="Avenir Next"/>
              </a:rPr>
              <a:t>PRESENTED BY</a:t>
            </a:r>
          </a:p>
          <a:p>
            <a:pPr>
              <a:spcAft>
                <a:spcPts val="200"/>
              </a:spcAft>
            </a:pPr>
            <a:r>
              <a:rPr sz="1400" b="1">
                <a:solidFill>
                  <a:srgbClr val="FFFFFF"/>
                </a:solidFill>
                <a:latin typeface="Avenir Next"/>
              </a:rPr>
              <a:t>Tanvir Anjum Joarder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Two personal agents inside owlONE</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The Domino Effect Agent is the RECOVER workflow in Instructor Desk.</a:t>
            </a:r>
          </a:p>
        </p:txBody>
      </p:sp>
      <p:sp>
        <p:nvSpPr>
          <p:cNvPr id="4" name="Oval 3"/>
          <p:cNvSpPr/>
          <p:nvPr/>
        </p:nvSpPr>
        <p:spPr>
          <a:xfrm>
            <a:off x="841248" y="2331720"/>
            <a:ext cx="329184" cy="329184"/>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 Same Side Corner Rectangle 4"/>
          <p:cNvSpPr/>
          <p:nvPr/>
        </p:nvSpPr>
        <p:spPr>
          <a:xfrm>
            <a:off x="685800" y="2697479"/>
            <a:ext cx="640080" cy="384048"/>
          </a:xfrm>
          <a:prstGeom prst="round2Same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3108960"/>
            <a:ext cx="1188720" cy="274320"/>
          </a:xfrm>
          <a:prstGeom prst="rect">
            <a:avLst/>
          </a:prstGeom>
          <a:noFill/>
        </p:spPr>
        <p:txBody>
          <a:bodyPr wrap="square" lIns="0" tIns="0" rIns="0" bIns="0" anchor="t">
            <a:spAutoFit/>
          </a:bodyPr>
          <a:lstStyle/>
          <a:p>
            <a:pPr algn="ctr"/>
            <a:r>
              <a:rPr sz="1300" b="1" i="0">
                <a:solidFill>
                  <a:srgbClr val="003366"/>
                </a:solidFill>
                <a:latin typeface="Avenir Next"/>
              </a:rPr>
              <a:t>Professor</a:t>
            </a:r>
          </a:p>
        </p:txBody>
      </p:sp>
      <p:cxnSp>
        <p:nvCxnSpPr>
          <p:cNvPr id="7" name="Connector 6"/>
          <p:cNvCxnSpPr/>
          <p:nvPr/>
        </p:nvCxnSpPr>
        <p:spPr>
          <a:xfrm>
            <a:off x="1417320" y="2697480"/>
            <a:ext cx="457199" cy="0"/>
          </a:xfrm>
          <a:prstGeom prst="line">
            <a:avLst/>
          </a:prstGeom>
          <a:ln w="28575">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1920240" y="1783080"/>
            <a:ext cx="3931920" cy="2788920"/>
          </a:xfrm>
          <a:prstGeom prst="roundRect">
            <a:avLst>
              <a:gd name="adj" fmla="val 6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148840" y="1874519"/>
            <a:ext cx="3566160" cy="411480"/>
          </a:xfrm>
          <a:prstGeom prst="rect">
            <a:avLst/>
          </a:prstGeom>
          <a:noFill/>
        </p:spPr>
        <p:txBody>
          <a:bodyPr wrap="square" lIns="0" tIns="0" rIns="0" bIns="0" anchor="t">
            <a:spAutoFit/>
          </a:bodyPr>
          <a:lstStyle/>
          <a:p>
            <a:pPr algn="l"/>
            <a:r>
              <a:rPr sz="2000" b="1" i="0">
                <a:solidFill>
                  <a:srgbClr val="FFFFFF"/>
                </a:solidFill>
                <a:latin typeface="Avenir Next"/>
              </a:rPr>
              <a:t>Instructor Desk</a:t>
            </a:r>
          </a:p>
        </p:txBody>
      </p:sp>
      <p:sp>
        <p:nvSpPr>
          <p:cNvPr id="10" name="TextBox 9"/>
          <p:cNvSpPr txBox="1"/>
          <p:nvPr/>
        </p:nvSpPr>
        <p:spPr>
          <a:xfrm>
            <a:off x="2148840" y="2331720"/>
            <a:ext cx="3566160" cy="2194560"/>
          </a:xfrm>
          <a:prstGeom prst="rect">
            <a:avLst/>
          </a:prstGeom>
          <a:noFill/>
        </p:spPr>
        <p:txBody>
          <a:bodyPr wrap="square" lIns="0" tIns="0" rIns="0" bIns="0" anchor="t">
            <a:spAutoFit/>
          </a:bodyPr>
          <a:lstStyle/>
          <a:p>
            <a:pPr marL="201168" indent="-201168" algn="l">
              <a:spcAft>
                <a:spcPts val="400"/>
              </a:spcAft>
              <a:buClr>
                <a:srgbClr val="FFFFFF"/>
              </a:buClr>
              <a:buChar char="•"/>
            </a:pPr>
            <a:r>
              <a:rPr sz="1300" b="0" i="0">
                <a:solidFill>
                  <a:srgbClr val="D5E0EC"/>
                </a:solidFill>
                <a:latin typeface="Avenir Next"/>
              </a:rPr>
              <a:t>Rebuild schedules, check prompts and maintain approved answers</a:t>
            </a:r>
          </a:p>
          <a:p>
            <a:pPr marL="201168" indent="-201168" algn="l">
              <a:spcAft>
                <a:spcPts val="400"/>
              </a:spcAft>
              <a:buClr>
                <a:srgbClr val="FFFFFF"/>
              </a:buClr>
              <a:buChar char="•"/>
            </a:pPr>
            <a:r>
              <a:rPr sz="1300" b="0" i="0">
                <a:solidFill>
                  <a:srgbClr val="D5E0EC"/>
                </a:solidFill>
                <a:latin typeface="Avenir Next"/>
              </a:rPr>
              <a:t>Professor supplies the schedule and rules</a:t>
            </a:r>
          </a:p>
          <a:p>
            <a:pPr marL="201168" indent="-201168" algn="l">
              <a:spcAft>
                <a:spcPts val="400"/>
              </a:spcAft>
              <a:buClr>
                <a:srgbClr val="FFFFFF"/>
              </a:buClr>
              <a:buChar char="•"/>
            </a:pPr>
            <a:r>
              <a:rPr sz="1300" b="0" i="0">
                <a:solidFill>
                  <a:srgbClr val="D5E0EC"/>
                </a:solidFill>
                <a:latin typeface="Avenir Next"/>
              </a:rPr>
              <a:t>Code tools: enabled for elapsed-time calculations</a:t>
            </a:r>
          </a:p>
          <a:p>
            <a:pPr marL="201168" indent="-201168" algn="l">
              <a:spcAft>
                <a:spcPts val="400"/>
              </a:spcAft>
              <a:buClr>
                <a:srgbClr val="FFFFFF"/>
              </a:buClr>
              <a:buChar char="•"/>
            </a:pPr>
            <a:r>
              <a:rPr sz="1300" b="0" i="0">
                <a:solidFill>
                  <a:srgbClr val="D5E0EC"/>
                </a:solidFill>
                <a:latin typeface="Avenir Next"/>
              </a:rPr>
              <a:t>Internet search: disabled in the prototype</a:t>
            </a:r>
          </a:p>
          <a:p>
            <a:pPr marL="201168" indent="-201168" algn="l">
              <a:spcAft>
                <a:spcPts val="400"/>
              </a:spcAft>
              <a:buClr>
                <a:srgbClr val="FFFFFF"/>
              </a:buClr>
              <a:buChar char="•"/>
            </a:pPr>
            <a:r>
              <a:rPr sz="1300" b="0" i="0">
                <a:solidFill>
                  <a:srgbClr val="D5E0EC"/>
                </a:solidFill>
                <a:latin typeface="Avenir Next"/>
              </a:rPr>
              <a:t>Produces drafts for the professor</a:t>
            </a:r>
          </a:p>
        </p:txBody>
      </p:sp>
      <p:cxnSp>
        <p:nvCxnSpPr>
          <p:cNvPr id="11" name="Connector 10"/>
          <p:cNvCxnSpPr/>
          <p:nvPr/>
        </p:nvCxnSpPr>
        <p:spPr>
          <a:xfrm>
            <a:off x="5897880" y="3154680"/>
            <a:ext cx="731520" cy="0"/>
          </a:xfrm>
          <a:prstGeom prst="line">
            <a:avLst/>
          </a:prstGeom>
          <a:ln w="31750">
            <a:solidFill>
              <a:srgbClr val="A8640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5879592" y="3310128"/>
            <a:ext cx="768096"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8288" rIns="18288" rtlCol="0" anchor="ctr"/>
          <a:lstStyle/>
          <a:p>
            <a:pPr algn="ctr"/>
            <a:r>
              <a:rPr sz="1200" b="1" i="0">
                <a:solidFill>
                  <a:srgbClr val="A86400"/>
                </a:solidFill>
                <a:latin typeface="Avenir Next"/>
              </a:rPr>
              <a:t>bank file</a:t>
            </a:r>
          </a:p>
          <a:p>
            <a:pPr algn="ctr"/>
            <a:r>
              <a:rPr sz="1100" b="0" i="0">
                <a:solidFill>
                  <a:srgbClr val="A86400"/>
                </a:solidFill>
                <a:latin typeface="Avenir Next"/>
              </a:rPr>
              <a:t>manual</a:t>
            </a:r>
          </a:p>
        </p:txBody>
      </p:sp>
      <p:sp>
        <p:nvSpPr>
          <p:cNvPr id="13" name="Rounded Rectangle 12"/>
          <p:cNvSpPr/>
          <p:nvPr/>
        </p:nvSpPr>
        <p:spPr>
          <a:xfrm>
            <a:off x="6675120" y="1783080"/>
            <a:ext cx="3794760" cy="2788920"/>
          </a:xfrm>
          <a:prstGeom prst="roundRect">
            <a:avLst>
              <a:gd name="adj" fmla="val 6000"/>
            </a:avLst>
          </a:prstGeom>
          <a:solidFill>
            <a:srgbClr val="126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03720" y="1874519"/>
            <a:ext cx="3429000" cy="411480"/>
          </a:xfrm>
          <a:prstGeom prst="rect">
            <a:avLst/>
          </a:prstGeom>
          <a:noFill/>
        </p:spPr>
        <p:txBody>
          <a:bodyPr wrap="square" lIns="0" tIns="0" rIns="0" bIns="0" anchor="t">
            <a:spAutoFit/>
          </a:bodyPr>
          <a:lstStyle/>
          <a:p>
            <a:pPr algn="l"/>
            <a:r>
              <a:rPr sz="2000" b="1" i="0">
                <a:solidFill>
                  <a:srgbClr val="FFFFFF"/>
                </a:solidFill>
                <a:latin typeface="Avenir Next"/>
              </a:rPr>
              <a:t>Student Helper</a:t>
            </a:r>
          </a:p>
        </p:txBody>
      </p:sp>
      <p:sp>
        <p:nvSpPr>
          <p:cNvPr id="15" name="TextBox 14"/>
          <p:cNvSpPr txBox="1"/>
          <p:nvPr/>
        </p:nvSpPr>
        <p:spPr>
          <a:xfrm>
            <a:off x="6903720" y="2331720"/>
            <a:ext cx="3429000" cy="2194560"/>
          </a:xfrm>
          <a:prstGeom prst="rect">
            <a:avLst/>
          </a:prstGeom>
          <a:noFill/>
        </p:spPr>
        <p:txBody>
          <a:bodyPr wrap="square" lIns="0" tIns="0" rIns="0" bIns="0" anchor="t">
            <a:spAutoFit/>
          </a:bodyPr>
          <a:lstStyle/>
          <a:p>
            <a:pPr marL="201168" indent="-201168" algn="l">
              <a:spcAft>
                <a:spcPts val="400"/>
              </a:spcAft>
              <a:buClr>
                <a:srgbClr val="FFFFFF"/>
              </a:buClr>
              <a:buChar char="•"/>
            </a:pPr>
            <a:r>
              <a:rPr sz="1300" b="0" i="0">
                <a:solidFill>
                  <a:srgbClr val="FFFFFF"/>
                </a:solidFill>
                <a:latin typeface="Avenir Next"/>
              </a:rPr>
              <a:t>Explain assignments and approved rules</a:t>
            </a:r>
          </a:p>
          <a:p>
            <a:pPr marL="201168" indent="-201168" algn="l">
              <a:spcAft>
                <a:spcPts val="400"/>
              </a:spcAft>
              <a:buClr>
                <a:srgbClr val="FFFFFF"/>
              </a:buClr>
              <a:buChar char="•"/>
            </a:pPr>
            <a:r>
              <a:rPr sz="1300" b="0" i="0">
                <a:solidFill>
                  <a:srgbClr val="FFFFFF"/>
                </a:solidFill>
                <a:latin typeface="Avenir Next"/>
              </a:rPr>
              <a:t>Uploaded course pack and answer bank</a:t>
            </a:r>
          </a:p>
          <a:p>
            <a:pPr marL="201168" indent="-201168" algn="l">
              <a:spcAft>
                <a:spcPts val="400"/>
              </a:spcAft>
              <a:buClr>
                <a:srgbClr val="FFFFFF"/>
              </a:buClr>
              <a:buChar char="•"/>
            </a:pPr>
            <a:r>
              <a:rPr sz="1300" b="0" i="0">
                <a:solidFill>
                  <a:srgbClr val="FFFFFF"/>
                </a:solidFill>
                <a:latin typeface="Avenir Next"/>
              </a:rPr>
              <a:t>Code tools: disabled</a:t>
            </a:r>
          </a:p>
          <a:p>
            <a:pPr marL="201168" indent="-201168" algn="l">
              <a:spcAft>
                <a:spcPts val="400"/>
              </a:spcAft>
              <a:buClr>
                <a:srgbClr val="FFFFFF"/>
              </a:buClr>
              <a:buChar char="•"/>
            </a:pPr>
            <a:r>
              <a:rPr sz="1300" b="0" i="0">
                <a:solidFill>
                  <a:srgbClr val="FFFFFF"/>
                </a:solidFill>
                <a:latin typeface="Avenir Next"/>
              </a:rPr>
              <a:t>Internet search: disabled in the prototype</a:t>
            </a:r>
          </a:p>
          <a:p>
            <a:pPr marL="201168" indent="-201168" algn="l">
              <a:spcAft>
                <a:spcPts val="400"/>
              </a:spcAft>
              <a:buClr>
                <a:srgbClr val="FFFFFF"/>
              </a:buClr>
              <a:buChar char="•"/>
            </a:pPr>
            <a:r>
              <a:rPr sz="1300" b="0" i="0">
                <a:solidFill>
                  <a:srgbClr val="FFFFFF"/>
                </a:solidFill>
                <a:latin typeface="Avenir Next"/>
              </a:rPr>
              <a:t>Drafts replies or messages for the student</a:t>
            </a:r>
          </a:p>
        </p:txBody>
      </p:sp>
      <p:cxnSp>
        <p:nvCxnSpPr>
          <p:cNvPr id="16" name="Connector 15"/>
          <p:cNvCxnSpPr/>
          <p:nvPr/>
        </p:nvCxnSpPr>
        <p:spPr>
          <a:xfrm flipH="1">
            <a:off x="10515600" y="2697480"/>
            <a:ext cx="502920" cy="0"/>
          </a:xfrm>
          <a:prstGeom prst="line">
            <a:avLst/>
          </a:prstGeom>
          <a:ln w="28575">
            <a:solidFill>
              <a:srgbClr val="126BD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11082528" y="2331720"/>
            <a:ext cx="329184" cy="329184"/>
          </a:xfrm>
          <a:prstGeom prst="ellipse">
            <a:avLst/>
          </a:prstGeom>
          <a:solidFill>
            <a:srgbClr val="126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 Same Side Corner Rectangle 17"/>
          <p:cNvSpPr/>
          <p:nvPr/>
        </p:nvSpPr>
        <p:spPr>
          <a:xfrm>
            <a:off x="10927080" y="2697479"/>
            <a:ext cx="640080" cy="384048"/>
          </a:xfrm>
          <a:prstGeom prst="round2SameRect">
            <a:avLst/>
          </a:prstGeom>
          <a:solidFill>
            <a:srgbClr val="126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652760" y="3108960"/>
            <a:ext cx="1188720" cy="274320"/>
          </a:xfrm>
          <a:prstGeom prst="rect">
            <a:avLst/>
          </a:prstGeom>
          <a:noFill/>
        </p:spPr>
        <p:txBody>
          <a:bodyPr wrap="square" lIns="0" tIns="0" rIns="0" bIns="0" anchor="t">
            <a:spAutoFit/>
          </a:bodyPr>
          <a:lstStyle/>
          <a:p>
            <a:pPr algn="ctr"/>
            <a:r>
              <a:rPr sz="1300" b="1" i="0">
                <a:solidFill>
                  <a:srgbClr val="126BD9"/>
                </a:solidFill>
                <a:latin typeface="Avenir Next"/>
              </a:rPr>
              <a:t>Student</a:t>
            </a:r>
          </a:p>
        </p:txBody>
      </p:sp>
      <p:sp>
        <p:nvSpPr>
          <p:cNvPr id="20" name="Rounded Rectangle 19"/>
          <p:cNvSpPr/>
          <p:nvPr/>
        </p:nvSpPr>
        <p:spPr>
          <a:xfrm>
            <a:off x="566928" y="4846320"/>
            <a:ext cx="11064240" cy="566928"/>
          </a:xfrm>
          <a:prstGeom prst="roundRect">
            <a:avLst>
              <a:gd name="adj" fmla="val 20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l"/>
            <a:r>
              <a:rPr sz="1400" b="1" i="0">
                <a:solidFill>
                  <a:srgbClr val="003366"/>
                </a:solidFill>
                <a:latin typeface="Avenir Next"/>
              </a:rPr>
              <a:t>Handoff today: </a:t>
            </a:r>
            <a:r>
              <a:rPr sz="1400" b="0" i="0">
                <a:solidFill>
                  <a:srgbClr val="1D2330"/>
                </a:solidFill>
                <a:latin typeface="Avenir Next"/>
              </a:rPr>
              <a:t>Instructor Desk prints the updated bank; the professor replaces the file Student Helper uses.</a:t>
            </a:r>
          </a:p>
        </p:txBody>
      </p:sp>
      <p:sp>
        <p:nvSpPr>
          <p:cNvPr id="21" name="TextBox 20"/>
          <p:cNvSpPr txBox="1"/>
          <p:nvPr/>
        </p:nvSpPr>
        <p:spPr>
          <a:xfrm>
            <a:off x="566928" y="5577840"/>
            <a:ext cx="11064240" cy="548640"/>
          </a:xfrm>
          <a:prstGeom prst="rect">
            <a:avLst/>
          </a:prstGeom>
          <a:noFill/>
        </p:spPr>
        <p:txBody>
          <a:bodyPr wrap="square" lIns="0" tIns="0" rIns="0" bIns="0" anchor="t">
            <a:spAutoFit/>
          </a:bodyPr>
          <a:lstStyle/>
          <a:p>
            <a:pPr algn="l"/>
            <a:r>
              <a:rPr sz="1300" b="0" i="1">
                <a:solidFill>
                  <a:srgbClr val="4D4C55"/>
                </a:solidFill>
                <a:latin typeface="Avenir Next"/>
              </a:rPr>
              <a:t>No Canvas API connection or automatic synchronization exists in this version. Both agents ran gpt-6-luna on the test date.</a:t>
            </a:r>
          </a:p>
        </p:txBody>
      </p:sp>
      <p:sp>
        <p:nvSpPr>
          <p:cNvPr id="22"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23"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A cancelled class changes more than one date</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A “domino effect” means one schedule change forces another change.</a:t>
            </a:r>
          </a:p>
        </p:txBody>
      </p:sp>
      <p:sp>
        <p:nvSpPr>
          <p:cNvPr id="4" name="TextBox 3"/>
          <p:cNvSpPr txBox="1"/>
          <p:nvPr/>
        </p:nvSpPr>
        <p:spPr>
          <a:xfrm>
            <a:off x="566928" y="1783080"/>
            <a:ext cx="3474720" cy="274320"/>
          </a:xfrm>
          <a:prstGeom prst="rect">
            <a:avLst/>
          </a:prstGeom>
          <a:noFill/>
        </p:spPr>
        <p:txBody>
          <a:bodyPr wrap="square" lIns="0" tIns="0" rIns="0" bIns="0" anchor="t">
            <a:spAutoFit/>
          </a:bodyPr>
          <a:lstStyle/>
          <a:p>
            <a:pPr algn="l"/>
            <a:r>
              <a:rPr sz="1200" b="1" i="0">
                <a:solidFill>
                  <a:srgbClr val="4D4C55"/>
                </a:solidFill>
                <a:latin typeface="Avenir Next"/>
              </a:rPr>
              <a:t>WHAT CHANGES</a:t>
            </a:r>
          </a:p>
        </p:txBody>
      </p:sp>
      <p:sp>
        <p:nvSpPr>
          <p:cNvPr id="5" name="TextBox 4"/>
          <p:cNvSpPr txBox="1"/>
          <p:nvPr/>
        </p:nvSpPr>
        <p:spPr>
          <a:xfrm>
            <a:off x="566928" y="3886200"/>
            <a:ext cx="3474720" cy="274320"/>
          </a:xfrm>
          <a:prstGeom prst="rect">
            <a:avLst/>
          </a:prstGeom>
          <a:noFill/>
        </p:spPr>
        <p:txBody>
          <a:bodyPr wrap="square" lIns="0" tIns="0" rIns="0" bIns="0" anchor="t">
            <a:spAutoFit/>
          </a:bodyPr>
          <a:lstStyle/>
          <a:p>
            <a:pPr algn="l"/>
            <a:r>
              <a:rPr sz="1200" b="1" i="0">
                <a:solidFill>
                  <a:srgbClr val="4D4C55"/>
                </a:solidFill>
                <a:latin typeface="Avenir Next"/>
              </a:rPr>
              <a:t>WHAT THE PROFESSOR MUST RECHECK</a:t>
            </a:r>
          </a:p>
        </p:txBody>
      </p:sp>
      <p:sp>
        <p:nvSpPr>
          <p:cNvPr id="6" name="Rounded Rectangle 5"/>
          <p:cNvSpPr/>
          <p:nvPr/>
        </p:nvSpPr>
        <p:spPr>
          <a:xfrm>
            <a:off x="566928" y="2103120"/>
            <a:ext cx="3474720" cy="1234440"/>
          </a:xfrm>
          <a:prstGeom prst="roundRect">
            <a:avLst>
              <a:gd name="adj" fmla="val 10000"/>
            </a:avLst>
          </a:prstGeom>
          <a:solidFill>
            <a:srgbClr val="003366"/>
          </a:solidFill>
          <a:ln w="19050">
            <a:solidFill>
              <a:srgbClr val="003366"/>
            </a:solid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l"/>
            <a:r>
              <a:rPr sz="1900" b="1" i="0">
                <a:solidFill>
                  <a:srgbClr val="FFFFFF"/>
                </a:solidFill>
                <a:latin typeface="Avenir Next"/>
              </a:rPr>
              <a:t>A lesson moves</a:t>
            </a:r>
          </a:p>
        </p:txBody>
      </p:sp>
      <p:cxnSp>
        <p:nvCxnSpPr>
          <p:cNvPr id="7" name="Connector 6"/>
          <p:cNvCxnSpPr/>
          <p:nvPr/>
        </p:nvCxnSpPr>
        <p:spPr>
          <a:xfrm>
            <a:off x="4078224" y="2715768"/>
            <a:ext cx="256032" cy="0"/>
          </a:xfrm>
          <a:prstGeom prst="line">
            <a:avLst/>
          </a:prstGeom>
          <a:ln w="31750">
            <a:solidFill>
              <a:srgbClr val="4D4C5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304288" y="3364992"/>
            <a:ext cx="0" cy="457199"/>
          </a:xfrm>
          <a:prstGeom prst="line">
            <a:avLst/>
          </a:prstGeom>
          <a:ln w="19050">
            <a:solidFill>
              <a:srgbClr val="8A93A3"/>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66928" y="4206240"/>
            <a:ext cx="3474720" cy="1188720"/>
          </a:xfrm>
          <a:prstGeom prst="roundRect">
            <a:avLst>
              <a:gd name="adj" fmla="val 8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wrap="square" lIns="201168" rIns="201168" rtlCol="0" anchor="ctr"/>
          <a:lstStyle/>
          <a:p>
            <a:pPr algn="l"/>
            <a:r>
              <a:rPr sz="2000" b="1" i="0">
                <a:solidFill>
                  <a:srgbClr val="003366"/>
                </a:solidFill>
                <a:latin typeface="Avenir Next"/>
              </a:rPr>
              <a:t>?  </a:t>
            </a:r>
            <a:r>
              <a:rPr sz="1500" b="0" i="0">
                <a:solidFill>
                  <a:srgbClr val="1D2330"/>
                </a:solidFill>
                <a:latin typeface="Avenir Next"/>
              </a:rPr>
              <a:t>Do the lab and quiz still follow the required preparation time?</a:t>
            </a:r>
          </a:p>
        </p:txBody>
      </p:sp>
      <p:sp>
        <p:nvSpPr>
          <p:cNvPr id="10" name="Rounded Rectangle 9"/>
          <p:cNvSpPr/>
          <p:nvPr/>
        </p:nvSpPr>
        <p:spPr>
          <a:xfrm>
            <a:off x="4361688" y="2103120"/>
            <a:ext cx="3474720" cy="1234440"/>
          </a:xfrm>
          <a:prstGeom prst="roundRect">
            <a:avLst>
              <a:gd name="adj" fmla="val 10000"/>
            </a:avLst>
          </a:prstGeom>
          <a:solidFill>
            <a:srgbClr val="FBECEC"/>
          </a:solidFill>
          <a:ln w="19050">
            <a:solidFill>
              <a:srgbClr val="CC0000"/>
            </a:solid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l"/>
            <a:r>
              <a:rPr sz="1900" b="1" i="0">
                <a:solidFill>
                  <a:srgbClr val="CC0000"/>
                </a:solidFill>
                <a:latin typeface="Avenir Next"/>
              </a:rPr>
              <a:t>The lab moves to Thursday</a:t>
            </a:r>
          </a:p>
        </p:txBody>
      </p:sp>
      <p:cxnSp>
        <p:nvCxnSpPr>
          <p:cNvPr id="11" name="Connector 10"/>
          <p:cNvCxnSpPr/>
          <p:nvPr/>
        </p:nvCxnSpPr>
        <p:spPr>
          <a:xfrm>
            <a:off x="7872983" y="2715768"/>
            <a:ext cx="256033" cy="0"/>
          </a:xfrm>
          <a:prstGeom prst="line">
            <a:avLst/>
          </a:prstGeom>
          <a:ln w="31750">
            <a:solidFill>
              <a:srgbClr val="4D4C5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9048" y="3364992"/>
            <a:ext cx="0" cy="457199"/>
          </a:xfrm>
          <a:prstGeom prst="line">
            <a:avLst/>
          </a:prstGeom>
          <a:ln w="19050">
            <a:solidFill>
              <a:srgbClr val="8A93A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61688" y="4206240"/>
            <a:ext cx="3474720" cy="1188720"/>
          </a:xfrm>
          <a:prstGeom prst="roundRect">
            <a:avLst>
              <a:gd name="adj" fmla="val 8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wrap="square" lIns="201168" rIns="201168" rtlCol="0" anchor="ctr"/>
          <a:lstStyle/>
          <a:p>
            <a:pPr algn="l"/>
            <a:r>
              <a:rPr sz="2000" b="1" i="0">
                <a:solidFill>
                  <a:srgbClr val="CC0000"/>
                </a:solidFill>
                <a:latin typeface="Avenir Next"/>
              </a:rPr>
              <a:t>?  </a:t>
            </a:r>
            <a:r>
              <a:rPr sz="1500" b="0" i="0">
                <a:solidFill>
                  <a:srgbClr val="1D2330"/>
                </a:solidFill>
                <a:latin typeface="Avenir Next"/>
              </a:rPr>
              <a:t>Does Friday’s assignment deadline still allow at least 48 hours?</a:t>
            </a:r>
          </a:p>
        </p:txBody>
      </p:sp>
      <p:sp>
        <p:nvSpPr>
          <p:cNvPr id="14" name="Rounded Rectangle 13"/>
          <p:cNvSpPr/>
          <p:nvPr/>
        </p:nvSpPr>
        <p:spPr>
          <a:xfrm>
            <a:off x="8156448" y="2103120"/>
            <a:ext cx="3474720" cy="1234440"/>
          </a:xfrm>
          <a:prstGeom prst="roundRect">
            <a:avLst>
              <a:gd name="adj" fmla="val 10000"/>
            </a:avLst>
          </a:prstGeom>
          <a:solidFill>
            <a:srgbClr val="003366"/>
          </a:solidFill>
          <a:ln w="19050">
            <a:solidFill>
              <a:srgbClr val="003366"/>
            </a:solid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l"/>
            <a:r>
              <a:rPr sz="1900" b="1" i="0">
                <a:solidFill>
                  <a:srgbClr val="FFFFFF"/>
                </a:solidFill>
                <a:latin typeface="Avenir Next"/>
              </a:rPr>
              <a:t>The final exam stays fixed</a:t>
            </a:r>
          </a:p>
        </p:txBody>
      </p:sp>
      <p:cxnSp>
        <p:nvCxnSpPr>
          <p:cNvPr id="15" name="Connector 14"/>
          <p:cNvCxnSpPr/>
          <p:nvPr/>
        </p:nvCxnSpPr>
        <p:spPr>
          <a:xfrm>
            <a:off x="9893808" y="3364992"/>
            <a:ext cx="0" cy="457199"/>
          </a:xfrm>
          <a:prstGeom prst="line">
            <a:avLst/>
          </a:prstGeom>
          <a:ln w="19050">
            <a:solidFill>
              <a:srgbClr val="8A93A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156448" y="4206240"/>
            <a:ext cx="3474720" cy="1188720"/>
          </a:xfrm>
          <a:prstGeom prst="roundRect">
            <a:avLst>
              <a:gd name="adj" fmla="val 8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wrap="square" lIns="201168" rIns="201168" rtlCol="0" anchor="ctr"/>
          <a:lstStyle/>
          <a:p>
            <a:pPr algn="l"/>
            <a:r>
              <a:rPr sz="2000" b="1" i="0">
                <a:solidFill>
                  <a:srgbClr val="003366"/>
                </a:solidFill>
                <a:latin typeface="Avenir Next"/>
              </a:rPr>
              <a:t>?  </a:t>
            </a:r>
            <a:r>
              <a:rPr sz="1500" b="0" i="0">
                <a:solidFill>
                  <a:srgbClr val="1D2330"/>
                </a:solidFill>
                <a:latin typeface="Avenir Next"/>
              </a:rPr>
              <a:t>Can the revised classes and deadlines still fit before the exam?</a:t>
            </a:r>
          </a:p>
        </p:txBody>
      </p:sp>
      <p:sp>
        <p:nvSpPr>
          <p:cNvPr id="17" name="Rounded Rectangle 16"/>
          <p:cNvSpPr/>
          <p:nvPr/>
        </p:nvSpPr>
        <p:spPr>
          <a:xfrm>
            <a:off x="566928" y="5623560"/>
            <a:ext cx="11064240" cy="731520"/>
          </a:xfrm>
          <a:prstGeom prst="roundRect">
            <a:avLst>
              <a:gd name="adj" fmla="val 20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r>
              <a:rPr sz="1600" b="1" i="0">
                <a:solidFill>
                  <a:srgbClr val="003366"/>
                </a:solidFill>
                <a:latin typeface="Avenir Next"/>
              </a:rPr>
              <a:t>Professors must check every linked deadline. Students need one clear, updated schedule.</a:t>
            </a:r>
          </a:p>
          <a:p>
            <a:pPr algn="l"/>
            <a:r>
              <a:rPr sz="1400" b="0" i="0">
                <a:solidFill>
                  <a:srgbClr val="003366"/>
                </a:solidFill>
                <a:latin typeface="Avenir Next"/>
              </a:rPr>
              <a:t>Expected impact: less manual rescheduling and fewer repeated student questions, with the professor approving every change. Not yet measured.</a:t>
            </a:r>
          </a:p>
        </p:txBody>
      </p:sp>
      <p:sp>
        <p:nvSpPr>
          <p:cNvPr id="18"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19"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How the Domino Effect Agent checks the schedule</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The professor supplies the disruption notice, course schedule and rescheduling rules.</a:t>
            </a:r>
          </a:p>
        </p:txBody>
      </p:sp>
      <p:sp>
        <p:nvSpPr>
          <p:cNvPr id="4" name="Folded Corner 3"/>
          <p:cNvSpPr/>
          <p:nvPr/>
        </p:nvSpPr>
        <p:spPr>
          <a:xfrm>
            <a:off x="566928" y="1874519"/>
            <a:ext cx="1417320" cy="822960"/>
          </a:xfrm>
          <a:prstGeom prst="foldedCorner">
            <a:avLst/>
          </a:prstGeom>
          <a:solidFill>
            <a:srgbClr val="FFFFFF"/>
          </a:solidFill>
          <a:ln w="15875">
            <a:solidFill>
              <a:srgbClr val="003366"/>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003366"/>
                </a:solidFill>
                <a:latin typeface="Avenir Next"/>
              </a:rPr>
              <a:t>Disruption notice</a:t>
            </a:r>
          </a:p>
        </p:txBody>
      </p:sp>
      <p:cxnSp>
        <p:nvCxnSpPr>
          <p:cNvPr id="5" name="Connector 4"/>
          <p:cNvCxnSpPr/>
          <p:nvPr/>
        </p:nvCxnSpPr>
        <p:spPr>
          <a:xfrm>
            <a:off x="2011680" y="2286000"/>
            <a:ext cx="320040" cy="1024128"/>
          </a:xfrm>
          <a:prstGeom prst="line">
            <a:avLst/>
          </a:prstGeom>
          <a:ln w="15875">
            <a:solidFill>
              <a:srgbClr val="8A93A3"/>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Folded Corner 5"/>
          <p:cNvSpPr/>
          <p:nvPr/>
        </p:nvSpPr>
        <p:spPr>
          <a:xfrm>
            <a:off x="566928" y="2898648"/>
            <a:ext cx="1417320" cy="822960"/>
          </a:xfrm>
          <a:prstGeom prst="foldedCorner">
            <a:avLst/>
          </a:prstGeom>
          <a:solidFill>
            <a:srgbClr val="FFFFFF"/>
          </a:solidFill>
          <a:ln w="15875">
            <a:solidFill>
              <a:srgbClr val="003366"/>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003366"/>
                </a:solidFill>
                <a:latin typeface="Avenir Next"/>
              </a:rPr>
              <a:t>Course schedule</a:t>
            </a:r>
          </a:p>
        </p:txBody>
      </p:sp>
      <p:cxnSp>
        <p:nvCxnSpPr>
          <p:cNvPr id="7" name="Connector 6"/>
          <p:cNvCxnSpPr/>
          <p:nvPr/>
        </p:nvCxnSpPr>
        <p:spPr>
          <a:xfrm>
            <a:off x="2011680" y="3310128"/>
            <a:ext cx="320040" cy="0"/>
          </a:xfrm>
          <a:prstGeom prst="line">
            <a:avLst/>
          </a:prstGeom>
          <a:ln w="15875">
            <a:solidFill>
              <a:srgbClr val="8A93A3"/>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Folded Corner 7"/>
          <p:cNvSpPr/>
          <p:nvPr/>
        </p:nvSpPr>
        <p:spPr>
          <a:xfrm>
            <a:off x="566928" y="3922776"/>
            <a:ext cx="1417320" cy="822960"/>
          </a:xfrm>
          <a:prstGeom prst="foldedCorner">
            <a:avLst/>
          </a:prstGeom>
          <a:solidFill>
            <a:srgbClr val="FFFFFF"/>
          </a:solidFill>
          <a:ln w="15875">
            <a:solidFill>
              <a:srgbClr val="003366"/>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003366"/>
                </a:solidFill>
                <a:latin typeface="Avenir Next"/>
              </a:rPr>
              <a:t>Rescheduling rules</a:t>
            </a:r>
          </a:p>
        </p:txBody>
      </p:sp>
      <p:cxnSp>
        <p:nvCxnSpPr>
          <p:cNvPr id="9" name="Connector 8"/>
          <p:cNvCxnSpPr/>
          <p:nvPr/>
        </p:nvCxnSpPr>
        <p:spPr>
          <a:xfrm flipV="1">
            <a:off x="2011680" y="3310128"/>
            <a:ext cx="320040" cy="1024128"/>
          </a:xfrm>
          <a:prstGeom prst="line">
            <a:avLst/>
          </a:prstGeom>
          <a:ln w="15875">
            <a:solidFill>
              <a:srgbClr val="8A93A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377440" y="1828800"/>
            <a:ext cx="2148840" cy="301752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2560320" y="1993392"/>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400" b="1" i="0">
                <a:solidFill>
                  <a:srgbClr val="FFFFFF"/>
                </a:solidFill>
                <a:latin typeface="Avenir Next"/>
              </a:rPr>
              <a:t>01</a:t>
            </a:r>
          </a:p>
        </p:txBody>
      </p:sp>
      <p:sp>
        <p:nvSpPr>
          <p:cNvPr id="12" name="TextBox 11"/>
          <p:cNvSpPr txBox="1"/>
          <p:nvPr/>
        </p:nvSpPr>
        <p:spPr>
          <a:xfrm>
            <a:off x="2560320" y="2651760"/>
            <a:ext cx="1810512" cy="214884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Identify the affected classes</a:t>
            </a:r>
          </a:p>
          <a:p>
            <a:pPr algn="l">
              <a:lnSpc>
                <a:spcPct val="105000"/>
              </a:lnSpc>
              <a:spcBef>
                <a:spcPts val="600"/>
              </a:spcBef>
            </a:pPr>
            <a:r>
              <a:rPr sz="1300" b="0" i="0">
                <a:solidFill>
                  <a:srgbClr val="1D2330"/>
                </a:solidFill>
                <a:latin typeface="Avenir Next"/>
              </a:rPr>
              <a:t>Check which course activities overlap the closure or absence.</a:t>
            </a:r>
          </a:p>
        </p:txBody>
      </p:sp>
      <p:cxnSp>
        <p:nvCxnSpPr>
          <p:cNvPr id="13" name="Connector 12"/>
          <p:cNvCxnSpPr/>
          <p:nvPr/>
        </p:nvCxnSpPr>
        <p:spPr>
          <a:xfrm>
            <a:off x="4544568" y="3337560"/>
            <a:ext cx="146304" cy="0"/>
          </a:xfrm>
          <a:prstGeom prst="line">
            <a:avLst/>
          </a:prstGeom>
          <a:ln w="28575">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709160" y="1828800"/>
            <a:ext cx="2148840" cy="301752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892040" y="1993392"/>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400" b="1" i="0">
                <a:solidFill>
                  <a:srgbClr val="FFFFFF"/>
                </a:solidFill>
                <a:latin typeface="Avenir Next"/>
              </a:rPr>
              <a:t>02</a:t>
            </a:r>
          </a:p>
        </p:txBody>
      </p:sp>
      <p:sp>
        <p:nvSpPr>
          <p:cNvPr id="16" name="TextBox 15"/>
          <p:cNvSpPr txBox="1"/>
          <p:nvPr/>
        </p:nvSpPr>
        <p:spPr>
          <a:xfrm>
            <a:off x="4892040" y="2651760"/>
            <a:ext cx="1810512" cy="214884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Try the allowed replacement times</a:t>
            </a:r>
          </a:p>
          <a:p>
            <a:pPr algn="l">
              <a:lnSpc>
                <a:spcPct val="105000"/>
              </a:lnSpc>
              <a:spcBef>
                <a:spcPts val="600"/>
              </a:spcBef>
            </a:pPr>
            <a:r>
              <a:rPr sz="1300" b="0" i="0">
                <a:solidFill>
                  <a:srgbClr val="1D2330"/>
                </a:solidFill>
                <a:latin typeface="Avenir Next"/>
              </a:rPr>
              <a:t>Keep required activities and fixed exams. Use the professor’s available slots.</a:t>
            </a:r>
          </a:p>
        </p:txBody>
      </p:sp>
      <p:cxnSp>
        <p:nvCxnSpPr>
          <p:cNvPr id="17" name="Connector 16"/>
          <p:cNvCxnSpPr/>
          <p:nvPr/>
        </p:nvCxnSpPr>
        <p:spPr>
          <a:xfrm>
            <a:off x="6876288" y="3337560"/>
            <a:ext cx="146304" cy="0"/>
          </a:xfrm>
          <a:prstGeom prst="line">
            <a:avLst/>
          </a:prstGeom>
          <a:ln w="28575">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040879" y="1828800"/>
            <a:ext cx="2148840" cy="301752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223759" y="1993392"/>
            <a:ext cx="502920" cy="502920"/>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400" b="1" i="0">
                <a:solidFill>
                  <a:srgbClr val="FFFFFF"/>
                </a:solidFill>
                <a:latin typeface="Avenir Next"/>
              </a:rPr>
              <a:t>03</a:t>
            </a:r>
          </a:p>
        </p:txBody>
      </p:sp>
      <p:sp>
        <p:nvSpPr>
          <p:cNvPr id="20" name="TextBox 19"/>
          <p:cNvSpPr txBox="1"/>
          <p:nvPr/>
        </p:nvSpPr>
        <p:spPr>
          <a:xfrm>
            <a:off x="7223759" y="2651760"/>
            <a:ext cx="1810512" cy="214884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Recalculate every related deadline</a:t>
            </a:r>
          </a:p>
          <a:p>
            <a:pPr algn="l">
              <a:lnSpc>
                <a:spcPct val="105000"/>
              </a:lnSpc>
              <a:spcBef>
                <a:spcPts val="600"/>
              </a:spcBef>
            </a:pPr>
            <a:r>
              <a:rPr sz="1300" b="0" i="0">
                <a:solidFill>
                  <a:srgbClr val="1D2330"/>
                </a:solidFill>
                <a:latin typeface="Avenir Next"/>
              </a:rPr>
              <a:t>Use code to measure time gaps. Recheck the whole plan after each move.</a:t>
            </a:r>
          </a:p>
        </p:txBody>
      </p:sp>
      <p:cxnSp>
        <p:nvCxnSpPr>
          <p:cNvPr id="21" name="Connector 20"/>
          <p:cNvCxnSpPr/>
          <p:nvPr/>
        </p:nvCxnSpPr>
        <p:spPr>
          <a:xfrm>
            <a:off x="9208008" y="3337560"/>
            <a:ext cx="146303" cy="0"/>
          </a:xfrm>
          <a:prstGeom prst="line">
            <a:avLst/>
          </a:prstGeom>
          <a:ln w="28575">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372600" y="1828800"/>
            <a:ext cx="2148840" cy="3017520"/>
          </a:xfrm>
          <a:prstGeom prst="roundRect">
            <a:avLst>
              <a:gd name="adj" fmla="val 6000"/>
            </a:avLst>
          </a:prstGeom>
          <a:solidFill>
            <a:srgbClr val="E9EFF6"/>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9555480" y="1993392"/>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400" b="1" i="0">
                <a:solidFill>
                  <a:srgbClr val="FFFFFF"/>
                </a:solidFill>
                <a:latin typeface="Avenir Next"/>
              </a:rPr>
              <a:t>04</a:t>
            </a:r>
          </a:p>
        </p:txBody>
      </p:sp>
      <p:sp>
        <p:nvSpPr>
          <p:cNvPr id="24" name="TextBox 23"/>
          <p:cNvSpPr txBox="1"/>
          <p:nvPr/>
        </p:nvSpPr>
        <p:spPr>
          <a:xfrm>
            <a:off x="9555480" y="2651760"/>
            <a:ext cx="1810512" cy="214884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Return a draft or ask for a decision</a:t>
            </a:r>
          </a:p>
          <a:p>
            <a:pPr algn="l">
              <a:lnSpc>
                <a:spcPct val="105000"/>
              </a:lnSpc>
              <a:spcBef>
                <a:spcPts val="600"/>
              </a:spcBef>
            </a:pPr>
            <a:r>
              <a:rPr sz="1300" b="0" i="0">
                <a:solidFill>
                  <a:srgbClr val="1D2330"/>
                </a:solidFill>
                <a:latin typeface="Avenir Next"/>
              </a:rPr>
              <a:t>Show what changed and the time checks. Ask for missing facts or a decision when a rule cannot be met.</a:t>
            </a:r>
          </a:p>
        </p:txBody>
      </p:sp>
      <p:cxnSp>
        <p:nvCxnSpPr>
          <p:cNvPr id="25" name="Connector 24"/>
          <p:cNvCxnSpPr/>
          <p:nvPr/>
        </p:nvCxnSpPr>
        <p:spPr>
          <a:xfrm>
            <a:off x="8110727" y="4864608"/>
            <a:ext cx="0" cy="274320"/>
          </a:xfrm>
          <a:prstGeom prst="line">
            <a:avLst/>
          </a:prstGeom>
          <a:ln w="22225">
            <a:solidFill>
              <a:srgbClr val="CC0000"/>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779008" y="5138928"/>
            <a:ext cx="2331719" cy="0"/>
          </a:xfrm>
          <a:prstGeom prst="line">
            <a:avLst/>
          </a:prstGeom>
          <a:ln w="22225">
            <a:solidFill>
              <a:srgbClr val="CC0000"/>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5779008" y="4882896"/>
            <a:ext cx="0" cy="256032"/>
          </a:xfrm>
          <a:prstGeom prst="line">
            <a:avLst/>
          </a:prstGeom>
          <a:ln w="22225">
            <a:solidFill>
              <a:srgbClr val="CC000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961888" y="5184648"/>
            <a:ext cx="2194560" cy="274320"/>
          </a:xfrm>
          <a:prstGeom prst="rect">
            <a:avLst/>
          </a:prstGeom>
          <a:noFill/>
        </p:spPr>
        <p:txBody>
          <a:bodyPr wrap="square" lIns="0" tIns="0" rIns="0" bIns="0" anchor="t">
            <a:spAutoFit/>
          </a:bodyPr>
          <a:lstStyle/>
          <a:p>
            <a:pPr algn="ctr"/>
            <a:r>
              <a:rPr sz="1200" b="1" i="0">
                <a:solidFill>
                  <a:srgbClr val="CC0000"/>
                </a:solidFill>
                <a:latin typeface="Avenir Next"/>
              </a:rPr>
              <a:t>repeat after each move</a:t>
            </a:r>
          </a:p>
        </p:txBody>
      </p:sp>
      <p:sp>
        <p:nvSpPr>
          <p:cNvPr id="29" name="Rounded Rectangle 28"/>
          <p:cNvSpPr/>
          <p:nvPr/>
        </p:nvSpPr>
        <p:spPr>
          <a:xfrm>
            <a:off x="9372600" y="5029200"/>
            <a:ext cx="2148840" cy="329184"/>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FFFFFF"/>
                </a:solidFill>
                <a:latin typeface="Avenir Next"/>
              </a:rPr>
              <a:t>Draft for review</a:t>
            </a:r>
          </a:p>
        </p:txBody>
      </p:sp>
      <p:sp>
        <p:nvSpPr>
          <p:cNvPr id="30" name="Rounded Rectangle 29"/>
          <p:cNvSpPr/>
          <p:nvPr/>
        </p:nvSpPr>
        <p:spPr>
          <a:xfrm>
            <a:off x="9372600" y="5440680"/>
            <a:ext cx="2148840" cy="329184"/>
          </a:xfrm>
          <a:prstGeom prst="roundRect">
            <a:avLst>
              <a:gd name="adj" fmla="val 50000"/>
            </a:avLst>
          </a:prstGeom>
          <a:solidFill>
            <a:srgbClr val="A86400"/>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FFFFFF"/>
                </a:solidFill>
                <a:latin typeface="Avenir Next"/>
              </a:rPr>
              <a:t>Decision needed</a:t>
            </a:r>
          </a:p>
        </p:txBody>
      </p:sp>
      <p:sp>
        <p:nvSpPr>
          <p:cNvPr id="31"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32"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The professor’s scheduling rules</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Written in plain words by the professor of our practice course. The agent turns each one into a check it can measure.</a:t>
            </a:r>
          </a:p>
        </p:txBody>
      </p:sp>
      <p:sp>
        <p:nvSpPr>
          <p:cNvPr id="27"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28"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05</a:t>
            </a:r>
          </a:p>
        </p:txBody>
      </p:sp>
      <p:sp>
        <p:nvSpPr>
          <p:cNvPr id="29" name="TextBox 28"/>
          <p:cNvSpPr txBox="1"/>
          <p:nvPr/>
        </p:nvSpPr>
        <p:spPr>
          <a:xfrm>
            <a:off x="566928" y="1755648"/>
            <a:ext cx="6583680" cy="292608"/>
          </a:xfrm>
          <a:prstGeom prst="rect">
            <a:avLst/>
          </a:prstGeom>
          <a:noFill/>
        </p:spPr>
        <p:txBody>
          <a:bodyPr wrap="square" lIns="27432" tIns="27432" rIns="27432" bIns="27432" anchor="t">
            <a:spAutoFit/>
          </a:bodyPr>
          <a:lstStyle/>
          <a:p>
            <a:pPr algn="l">
              <a:spcAft>
                <a:spcPts val="300"/>
              </a:spcAft>
            </a:pPr>
            <a:r>
              <a:rPr sz="1150" b="1">
                <a:solidFill>
                  <a:srgbClr val="4D4C55"/>
                </a:solidFill>
                <a:latin typeface="Avenir Next"/>
              </a:rPr>
              <a:t>TIME NEEDED BETWEEN EVENTS  ·  measured from when the earlier one ends</a:t>
            </a:r>
          </a:p>
        </p:txBody>
      </p:sp>
      <p:sp>
        <p:nvSpPr>
          <p:cNvPr id="30" name="Rounded Rectangle 29"/>
          <p:cNvSpPr/>
          <p:nvPr/>
        </p:nvSpPr>
        <p:spPr>
          <a:xfrm>
            <a:off x="566928" y="2103120"/>
            <a:ext cx="6583680" cy="713232"/>
          </a:xfrm>
          <a:prstGeom prst="roundRect">
            <a:avLst>
              <a:gd name="adj" fmla="val 8000"/>
            </a:avLst>
          </a:prstGeom>
          <a:solidFill>
            <a:srgbClr val="FCECEA"/>
          </a:solidFill>
          <a:ln w="15875">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731520" y="2240279"/>
            <a:ext cx="960120" cy="438912"/>
          </a:xfrm>
          <a:prstGeom prst="roundRect">
            <a:avLst>
              <a:gd name="adj" fmla="val 25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venir Next"/>
              </a:rPr>
              <a:t>48 h</a:t>
            </a:r>
          </a:p>
        </p:txBody>
      </p:sp>
      <p:sp>
        <p:nvSpPr>
          <p:cNvPr id="32" name="TextBox 31"/>
          <p:cNvSpPr txBox="1"/>
          <p:nvPr/>
        </p:nvSpPr>
        <p:spPr>
          <a:xfrm>
            <a:off x="1874519" y="2157984"/>
            <a:ext cx="5166360" cy="621792"/>
          </a:xfrm>
          <a:prstGeom prst="rect">
            <a:avLst/>
          </a:prstGeom>
          <a:noFill/>
        </p:spPr>
        <p:txBody>
          <a:bodyPr wrap="square" lIns="27432" tIns="27432" rIns="27432" bIns="27432" anchor="ctr">
            <a:spAutoFit/>
          </a:bodyPr>
          <a:lstStyle/>
          <a:p>
            <a:pPr algn="l">
              <a:spcAft>
                <a:spcPts val="100"/>
              </a:spcAft>
            </a:pPr>
            <a:r>
              <a:rPr sz="1400" b="1">
                <a:solidFill>
                  <a:srgbClr val="B3261E"/>
                </a:solidFill>
                <a:latin typeface="Avenir Next"/>
              </a:rPr>
              <a:t>Lab and memo lesson  →  memo due</a:t>
            </a:r>
          </a:p>
          <a:p>
            <a:pPr algn="l">
              <a:spcAft>
                <a:spcPts val="100"/>
              </a:spcAft>
            </a:pPr>
            <a:r>
              <a:rPr sz="1150" b="0">
                <a:solidFill>
                  <a:srgbClr val="4D4C55"/>
                </a:solidFill>
                <a:latin typeface="Avenir Next"/>
              </a:rPr>
              <a:t>Time to write the memo. This is the domino rule.</a:t>
            </a:r>
          </a:p>
        </p:txBody>
      </p:sp>
      <p:sp>
        <p:nvSpPr>
          <p:cNvPr id="33" name="Rounded Rectangle 32"/>
          <p:cNvSpPr/>
          <p:nvPr/>
        </p:nvSpPr>
        <p:spPr>
          <a:xfrm>
            <a:off x="566928" y="2907791"/>
            <a:ext cx="6583680" cy="713232"/>
          </a:xfrm>
          <a:prstGeom prst="roundRect">
            <a:avLst>
              <a:gd name="adj" fmla="val 8000"/>
            </a:avLst>
          </a:prstGeom>
          <a:solidFill>
            <a:srgbClr val="FBFAF7"/>
          </a:solidFill>
          <a:ln w="15875">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731520" y="3044951"/>
            <a:ext cx="960120" cy="438912"/>
          </a:xfrm>
          <a:prstGeom prst="roundRect">
            <a:avLst>
              <a:gd name="adj" fmla="val 25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venir Next"/>
              </a:rPr>
              <a:t>48 h</a:t>
            </a:r>
          </a:p>
        </p:txBody>
      </p:sp>
      <p:sp>
        <p:nvSpPr>
          <p:cNvPr id="35" name="TextBox 34"/>
          <p:cNvSpPr txBox="1"/>
          <p:nvPr/>
        </p:nvSpPr>
        <p:spPr>
          <a:xfrm>
            <a:off x="1874519" y="2962656"/>
            <a:ext cx="5166360" cy="621792"/>
          </a:xfrm>
          <a:prstGeom prst="rect">
            <a:avLst/>
          </a:prstGeom>
          <a:noFill/>
        </p:spPr>
        <p:txBody>
          <a:bodyPr wrap="square" lIns="27432" tIns="27432" rIns="27432" bIns="27432" anchor="ctr">
            <a:spAutoFit/>
          </a:bodyPr>
          <a:lstStyle/>
          <a:p>
            <a:pPr algn="l">
              <a:spcAft>
                <a:spcPts val="100"/>
              </a:spcAft>
            </a:pPr>
            <a:r>
              <a:rPr sz="1400" b="1">
                <a:solidFill>
                  <a:srgbClr val="003366"/>
                </a:solidFill>
                <a:latin typeface="Avenir Next"/>
              </a:rPr>
              <a:t>Both lessons  →  Quiz 1</a:t>
            </a:r>
          </a:p>
          <a:p>
            <a:pPr algn="l">
              <a:spcAft>
                <a:spcPts val="100"/>
              </a:spcAft>
            </a:pPr>
            <a:r>
              <a:rPr sz="1150" b="0">
                <a:solidFill>
                  <a:srgbClr val="4D4C55"/>
                </a:solidFill>
                <a:latin typeface="Avenir Next"/>
              </a:rPr>
              <a:t>Time to study before the quiz.</a:t>
            </a:r>
          </a:p>
        </p:txBody>
      </p:sp>
      <p:sp>
        <p:nvSpPr>
          <p:cNvPr id="36" name="Rounded Rectangle 35"/>
          <p:cNvSpPr/>
          <p:nvPr/>
        </p:nvSpPr>
        <p:spPr>
          <a:xfrm>
            <a:off x="566928" y="3712463"/>
            <a:ext cx="6583680" cy="713232"/>
          </a:xfrm>
          <a:prstGeom prst="roundRect">
            <a:avLst>
              <a:gd name="adj" fmla="val 8000"/>
            </a:avLst>
          </a:prstGeom>
          <a:solidFill>
            <a:srgbClr val="FBFAF7"/>
          </a:solidFill>
          <a:ln w="15875">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731520" y="3849624"/>
            <a:ext cx="960120" cy="438912"/>
          </a:xfrm>
          <a:prstGeom prst="roundRect">
            <a:avLst>
              <a:gd name="adj" fmla="val 25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venir Next"/>
              </a:rPr>
              <a:t>24 h</a:t>
            </a:r>
          </a:p>
        </p:txBody>
      </p:sp>
      <p:sp>
        <p:nvSpPr>
          <p:cNvPr id="38" name="TextBox 37"/>
          <p:cNvSpPr txBox="1"/>
          <p:nvPr/>
        </p:nvSpPr>
        <p:spPr>
          <a:xfrm>
            <a:off x="1874519" y="3767327"/>
            <a:ext cx="5166360" cy="621792"/>
          </a:xfrm>
          <a:prstGeom prst="rect">
            <a:avLst/>
          </a:prstGeom>
          <a:noFill/>
        </p:spPr>
        <p:txBody>
          <a:bodyPr wrap="square" lIns="27432" tIns="27432" rIns="27432" bIns="27432" anchor="ctr">
            <a:spAutoFit/>
          </a:bodyPr>
          <a:lstStyle/>
          <a:p>
            <a:pPr algn="l">
              <a:spcAft>
                <a:spcPts val="100"/>
              </a:spcAft>
            </a:pPr>
            <a:r>
              <a:rPr sz="1400" b="1">
                <a:solidFill>
                  <a:srgbClr val="003366"/>
                </a:solidFill>
                <a:latin typeface="Avenir Next"/>
              </a:rPr>
              <a:t>Evidence lesson  →  lab</a:t>
            </a:r>
          </a:p>
          <a:p>
            <a:pPr algn="l">
              <a:spcAft>
                <a:spcPts val="100"/>
              </a:spcAft>
            </a:pPr>
            <a:r>
              <a:rPr sz="1150" b="0">
                <a:solidFill>
                  <a:srgbClr val="4D4C55"/>
                </a:solidFill>
                <a:latin typeface="Avenir Next"/>
              </a:rPr>
              <a:t>A day to absorb the method before the lab.</a:t>
            </a:r>
          </a:p>
        </p:txBody>
      </p:sp>
      <p:sp>
        <p:nvSpPr>
          <p:cNvPr id="39" name="Rounded Rectangle 38"/>
          <p:cNvSpPr/>
          <p:nvPr/>
        </p:nvSpPr>
        <p:spPr>
          <a:xfrm>
            <a:off x="566928" y="4517136"/>
            <a:ext cx="6583680" cy="713232"/>
          </a:xfrm>
          <a:prstGeom prst="roundRect">
            <a:avLst>
              <a:gd name="adj" fmla="val 8000"/>
            </a:avLst>
          </a:prstGeom>
          <a:solidFill>
            <a:srgbClr val="FBFAF7"/>
          </a:solidFill>
          <a:ln w="15875">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731520" y="4654296"/>
            <a:ext cx="960120" cy="438912"/>
          </a:xfrm>
          <a:prstGeom prst="roundRect">
            <a:avLst>
              <a:gd name="adj" fmla="val 25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venir Next"/>
              </a:rPr>
              <a:t>48 h</a:t>
            </a:r>
          </a:p>
        </p:txBody>
      </p:sp>
      <p:sp>
        <p:nvSpPr>
          <p:cNvPr id="41" name="TextBox 40"/>
          <p:cNvSpPr txBox="1"/>
          <p:nvPr/>
        </p:nvSpPr>
        <p:spPr>
          <a:xfrm>
            <a:off x="1874519" y="4571999"/>
            <a:ext cx="5166360" cy="621792"/>
          </a:xfrm>
          <a:prstGeom prst="rect">
            <a:avLst/>
          </a:prstGeom>
          <a:noFill/>
        </p:spPr>
        <p:txBody>
          <a:bodyPr wrap="square" lIns="27432" tIns="27432" rIns="27432" bIns="27432" anchor="ctr">
            <a:spAutoFit/>
          </a:bodyPr>
          <a:lstStyle/>
          <a:p>
            <a:pPr algn="l">
              <a:spcAft>
                <a:spcPts val="100"/>
              </a:spcAft>
            </a:pPr>
            <a:r>
              <a:rPr sz="1400" b="1">
                <a:solidFill>
                  <a:srgbClr val="003366"/>
                </a:solidFill>
                <a:latin typeface="Avenir Next"/>
              </a:rPr>
              <a:t>Quiz 1, memo and final</a:t>
            </a:r>
          </a:p>
          <a:p>
            <a:pPr algn="l">
              <a:spcAft>
                <a:spcPts val="100"/>
              </a:spcAft>
            </a:pPr>
            <a:r>
              <a:rPr sz="1150" b="0">
                <a:solidFill>
                  <a:srgbClr val="4D4C55"/>
                </a:solidFill>
                <a:latin typeface="Avenir Next"/>
              </a:rPr>
              <a:t>At least 48 hours apart, never two on the same day.</a:t>
            </a:r>
          </a:p>
        </p:txBody>
      </p:sp>
      <p:sp>
        <p:nvSpPr>
          <p:cNvPr id="42" name="Rounded Rectangle 41"/>
          <p:cNvSpPr/>
          <p:nvPr/>
        </p:nvSpPr>
        <p:spPr>
          <a:xfrm>
            <a:off x="566928" y="5321807"/>
            <a:ext cx="6583680" cy="713232"/>
          </a:xfrm>
          <a:prstGeom prst="roundRect">
            <a:avLst>
              <a:gd name="adj" fmla="val 8000"/>
            </a:avLst>
          </a:prstGeom>
          <a:solidFill>
            <a:srgbClr val="FBFAF7"/>
          </a:solidFill>
          <a:ln w="15875">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731520" y="5458968"/>
            <a:ext cx="960120" cy="438912"/>
          </a:xfrm>
          <a:prstGeom prst="roundRect">
            <a:avLst>
              <a:gd name="adj" fmla="val 25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venir Next"/>
              </a:rPr>
              <a:t>24 h</a:t>
            </a:r>
          </a:p>
        </p:txBody>
      </p:sp>
      <p:sp>
        <p:nvSpPr>
          <p:cNvPr id="44" name="TextBox 43"/>
          <p:cNvSpPr txBox="1"/>
          <p:nvPr/>
        </p:nvSpPr>
        <p:spPr>
          <a:xfrm>
            <a:off x="1874519" y="5376671"/>
            <a:ext cx="5166360" cy="621792"/>
          </a:xfrm>
          <a:prstGeom prst="rect">
            <a:avLst/>
          </a:prstGeom>
          <a:noFill/>
        </p:spPr>
        <p:txBody>
          <a:bodyPr wrap="square" lIns="27432" tIns="27432" rIns="27432" bIns="27432" anchor="ctr">
            <a:spAutoFit/>
          </a:bodyPr>
          <a:lstStyle/>
          <a:p>
            <a:pPr algn="l">
              <a:spcAft>
                <a:spcPts val="100"/>
              </a:spcAft>
            </a:pPr>
            <a:r>
              <a:rPr sz="1400" b="1">
                <a:solidFill>
                  <a:srgbClr val="003366"/>
                </a:solidFill>
                <a:latin typeface="Avenir Next"/>
              </a:rPr>
              <a:t>Review  →  final exam</a:t>
            </a:r>
          </a:p>
          <a:p>
            <a:pPr algn="l">
              <a:spcAft>
                <a:spcPts val="100"/>
              </a:spcAft>
            </a:pPr>
            <a:r>
              <a:rPr sz="1150" b="0">
                <a:solidFill>
                  <a:srgbClr val="4D4C55"/>
                </a:solidFill>
                <a:latin typeface="Avenir Next"/>
              </a:rPr>
              <a:t>A day to prepare after the review.</a:t>
            </a:r>
          </a:p>
        </p:txBody>
      </p:sp>
      <p:sp>
        <p:nvSpPr>
          <p:cNvPr id="45" name="Rounded Rectangle 44"/>
          <p:cNvSpPr/>
          <p:nvPr/>
        </p:nvSpPr>
        <p:spPr>
          <a:xfrm>
            <a:off x="7360920" y="1755648"/>
            <a:ext cx="4270248" cy="1353312"/>
          </a:xfrm>
          <a:prstGeom prst="roundRect">
            <a:avLst>
              <a:gd name="adj" fmla="val 8000"/>
            </a:avLst>
          </a:prstGeom>
          <a:solidFill>
            <a:srgbClr val="FBF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543800" y="1847088"/>
            <a:ext cx="3931920" cy="1188720"/>
          </a:xfrm>
          <a:prstGeom prst="rect">
            <a:avLst/>
          </a:prstGeom>
          <a:noFill/>
        </p:spPr>
        <p:txBody>
          <a:bodyPr wrap="square" lIns="27432" tIns="27432" rIns="27432" bIns="27432" anchor="t">
            <a:spAutoFit/>
          </a:bodyPr>
          <a:lstStyle/>
          <a:p>
            <a:pPr algn="l">
              <a:spcAft>
                <a:spcPts val="200"/>
              </a:spcAft>
            </a:pPr>
            <a:r>
              <a:rPr sz="1350" b="1">
                <a:solidFill>
                  <a:srgbClr val="A86400"/>
                </a:solidFill>
                <a:latin typeface="Avenir Next"/>
              </a:rPr>
              <a:t>Can’t move</a:t>
            </a:r>
          </a:p>
          <a:p>
            <a:pPr algn="l">
              <a:spcAft>
                <a:spcPts val="200"/>
              </a:spcAft>
            </a:pPr>
            <a:r>
              <a:rPr sz="1150" b="0">
                <a:solidFill>
                  <a:srgbClr val="4D4C55"/>
                </a:solidFill>
                <a:latin typeface="Avenir Next"/>
              </a:rPr>
              <a:t>•  Final exam: Fri Nov 6, 10–11 am</a:t>
            </a:r>
          </a:p>
          <a:p>
            <a:pPr algn="l">
              <a:spcAft>
                <a:spcPts val="200"/>
              </a:spcAft>
            </a:pPr>
            <a:r>
              <a:rPr sz="1150" b="0">
                <a:solidFill>
                  <a:srgbClr val="4D4C55"/>
                </a:solidFill>
                <a:latin typeface="Avenir Next"/>
              </a:rPr>
              <a:t>•  Memo lesson: Wed Oct 28</a:t>
            </a:r>
          </a:p>
          <a:p>
            <a:pPr algn="l">
              <a:spcAft>
                <a:spcPts val="200"/>
              </a:spcAft>
            </a:pPr>
            <a:r>
              <a:rPr sz="1150" b="0">
                <a:solidFill>
                  <a:srgbClr val="4D4C55"/>
                </a:solidFill>
                <a:latin typeface="Avenir Next"/>
              </a:rPr>
              <a:t>•  In-person lab: Fri Oct 23 or backup Thu Oct 29</a:t>
            </a:r>
          </a:p>
        </p:txBody>
      </p:sp>
      <p:sp>
        <p:nvSpPr>
          <p:cNvPr id="47" name="Rounded Rectangle 46"/>
          <p:cNvSpPr/>
          <p:nvPr/>
        </p:nvSpPr>
        <p:spPr>
          <a:xfrm>
            <a:off x="7360920" y="3200400"/>
            <a:ext cx="4270248" cy="1353312"/>
          </a:xfrm>
          <a:prstGeom prst="roundRect">
            <a:avLst>
              <a:gd name="adj" fmla="val 8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543800" y="3291840"/>
            <a:ext cx="3931920" cy="1188720"/>
          </a:xfrm>
          <a:prstGeom prst="rect">
            <a:avLst/>
          </a:prstGeom>
          <a:noFill/>
        </p:spPr>
        <p:txBody>
          <a:bodyPr wrap="square" lIns="27432" tIns="27432" rIns="27432" bIns="27432" anchor="t">
            <a:spAutoFit/>
          </a:bodyPr>
          <a:lstStyle/>
          <a:p>
            <a:pPr algn="l">
              <a:spcAft>
                <a:spcPts val="200"/>
              </a:spcAft>
            </a:pPr>
            <a:r>
              <a:rPr sz="1350" b="1">
                <a:solidFill>
                  <a:srgbClr val="003366"/>
                </a:solidFill>
                <a:latin typeface="Avenir Next"/>
              </a:rPr>
              <a:t>Options the agent may use</a:t>
            </a:r>
          </a:p>
          <a:p>
            <a:pPr algn="l">
              <a:spcAft>
                <a:spcPts val="200"/>
              </a:spcAft>
            </a:pPr>
            <a:r>
              <a:rPr sz="1150" b="0">
                <a:solidFill>
                  <a:srgbClr val="4D4C55"/>
                </a:solidFill>
                <a:latin typeface="Avenir Next"/>
              </a:rPr>
              <a:t>•  Five make-up lesson times, each once</a:t>
            </a:r>
          </a:p>
          <a:p>
            <a:pPr algn="l">
              <a:spcAft>
                <a:spcPts val="200"/>
              </a:spcAft>
            </a:pPr>
            <a:r>
              <a:rPr sz="1150" b="0">
                <a:solidFill>
                  <a:srgbClr val="4D4C55"/>
                </a:solidFill>
                <a:latin typeface="Avenir Next"/>
              </a:rPr>
              <a:t>•  Memo: stay, or Tue Nov 3 at 5 pm</a:t>
            </a:r>
          </a:p>
          <a:p>
            <a:pPr algn="l">
              <a:spcAft>
                <a:spcPts val="200"/>
              </a:spcAft>
            </a:pPr>
            <a:r>
              <a:rPr sz="1150" b="0">
                <a:solidFill>
                  <a:srgbClr val="4D4C55"/>
                </a:solidFill>
                <a:latin typeface="Avenir Next"/>
              </a:rPr>
              <a:t>•  Quiz: Oct 27, Oct 29 or Nov 2 at 3 pm</a:t>
            </a:r>
          </a:p>
        </p:txBody>
      </p:sp>
      <p:sp>
        <p:nvSpPr>
          <p:cNvPr id="49" name="Rounded Rectangle 48"/>
          <p:cNvSpPr/>
          <p:nvPr/>
        </p:nvSpPr>
        <p:spPr>
          <a:xfrm>
            <a:off x="7360920" y="4645152"/>
            <a:ext cx="4270248" cy="1353312"/>
          </a:xfrm>
          <a:prstGeom prst="roundRect">
            <a:avLst>
              <a:gd name="adj" fmla="val 8000"/>
            </a:avLst>
          </a:prstGeom>
          <a:solidFill>
            <a:srgbClr val="E8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543800" y="4736592"/>
            <a:ext cx="3931920" cy="1188720"/>
          </a:xfrm>
          <a:prstGeom prst="rect">
            <a:avLst/>
          </a:prstGeom>
          <a:noFill/>
        </p:spPr>
        <p:txBody>
          <a:bodyPr wrap="square" lIns="27432" tIns="27432" rIns="27432" bIns="27432" anchor="t">
            <a:spAutoFit/>
          </a:bodyPr>
          <a:lstStyle/>
          <a:p>
            <a:pPr algn="l">
              <a:spcAft>
                <a:spcPts val="200"/>
              </a:spcAft>
            </a:pPr>
            <a:r>
              <a:rPr sz="1350" b="1">
                <a:solidFill>
                  <a:srgbClr val="1E7B45"/>
                </a:solidFill>
                <a:latin typeface="Avenir Next"/>
              </a:rPr>
              <a:t>Always</a:t>
            </a:r>
          </a:p>
          <a:p>
            <a:pPr algn="l">
              <a:spcAft>
                <a:spcPts val="200"/>
              </a:spcAft>
            </a:pPr>
            <a:r>
              <a:rPr sz="1150" b="0">
                <a:solidFill>
                  <a:srgbClr val="4D4C55"/>
                </a:solidFill>
                <a:latin typeface="Avenir Next"/>
              </a:rPr>
              <a:t>•  Drop nothing; nothing inside a closure</a:t>
            </a:r>
          </a:p>
          <a:p>
            <a:pPr algn="l">
              <a:spcAft>
                <a:spcPts val="200"/>
              </a:spcAft>
            </a:pPr>
            <a:r>
              <a:rPr sz="1150" b="0">
                <a:solidFill>
                  <a:srgbClr val="4D4C55"/>
                </a:solidFill>
                <a:latin typeface="Avenir Next"/>
              </a:rPr>
              <a:t>•  Earliest option, fewest changes</a:t>
            </a:r>
          </a:p>
          <a:p>
            <a:pPr algn="l">
              <a:spcAft>
                <a:spcPts val="200"/>
              </a:spcAft>
            </a:pPr>
            <a:r>
              <a:rPr sz="1150" b="0">
                <a:solidFill>
                  <a:srgbClr val="4D4C55"/>
                </a:solidFill>
                <a:latin typeface="Avenir Next"/>
              </a:rPr>
              <a:t>•  A draft only. The professor decides</a:t>
            </a:r>
          </a:p>
        </p:txBody>
      </p:sp>
      <p:sp>
        <p:nvSpPr>
          <p:cNvPr id="51" name="TextBox 50"/>
          <p:cNvSpPr txBox="1"/>
          <p:nvPr/>
        </p:nvSpPr>
        <p:spPr>
          <a:xfrm>
            <a:off x="566928" y="6144768"/>
            <a:ext cx="11064240" cy="274320"/>
          </a:xfrm>
          <a:prstGeom prst="rect">
            <a:avLst/>
          </a:prstGeom>
          <a:noFill/>
        </p:spPr>
        <p:txBody>
          <a:bodyPr wrap="square" lIns="27432" tIns="27432" rIns="27432" bIns="27432" anchor="t">
            <a:spAutoFit/>
          </a:bodyPr>
          <a:lstStyle/>
          <a:p>
            <a:pPr algn="l">
              <a:spcAft>
                <a:spcPts val="300"/>
              </a:spcAft>
            </a:pPr>
            <a:r>
              <a:rPr sz="1050" b="0">
                <a:solidFill>
                  <a:srgbClr val="6B6A73"/>
                </a:solidFill>
                <a:latin typeface="Avenir Next"/>
              </a:rPr>
              <a:t>Fictional DEMO-101 course rules, not FAU policy. Clocks fall back on Sun Nov 1, so a gap across that night is one hour longer.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The lab moves. The memo deadline must move too</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The lab ends Thursday, October 29 at 2:50 pm. Students need at least 48 hours before the memo is due.</a:t>
            </a:r>
          </a:p>
        </p:txBody>
      </p:sp>
      <p:cxnSp>
        <p:nvCxnSpPr>
          <p:cNvPr id="4" name="Connector 3"/>
          <p:cNvCxnSpPr/>
          <p:nvPr/>
        </p:nvCxnSpPr>
        <p:spPr>
          <a:xfrm>
            <a:off x="731519" y="3291840"/>
            <a:ext cx="10543032" cy="0"/>
          </a:xfrm>
          <a:prstGeom prst="line">
            <a:avLst/>
          </a:prstGeom>
          <a:ln w="25400">
            <a:solidFill>
              <a:srgbClr val="8A93A3"/>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68680" y="3227832"/>
            <a:ext cx="0" cy="128016"/>
          </a:xfrm>
          <a:prstGeom prst="line">
            <a:avLst/>
          </a:prstGeom>
          <a:ln w="19050">
            <a:solidFill>
              <a:srgbClr val="8A93A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3401568"/>
            <a:ext cx="1143000" cy="274320"/>
          </a:xfrm>
          <a:prstGeom prst="rect">
            <a:avLst/>
          </a:prstGeom>
          <a:noFill/>
        </p:spPr>
        <p:txBody>
          <a:bodyPr wrap="square" lIns="0" tIns="0" rIns="0" bIns="0" anchor="t">
            <a:spAutoFit/>
          </a:bodyPr>
          <a:lstStyle/>
          <a:p>
            <a:pPr algn="l"/>
            <a:r>
              <a:rPr sz="1200" b="0" i="0">
                <a:solidFill>
                  <a:srgbClr val="4D4C55"/>
                </a:solidFill>
                <a:latin typeface="Avenir Next"/>
              </a:rPr>
              <a:t>Thu 29</a:t>
            </a:r>
          </a:p>
        </p:txBody>
      </p:sp>
      <p:cxnSp>
        <p:nvCxnSpPr>
          <p:cNvPr id="7" name="Connector 6"/>
          <p:cNvCxnSpPr/>
          <p:nvPr/>
        </p:nvCxnSpPr>
        <p:spPr>
          <a:xfrm>
            <a:off x="2029967" y="3227832"/>
            <a:ext cx="0" cy="128016"/>
          </a:xfrm>
          <a:prstGeom prst="line">
            <a:avLst/>
          </a:prstGeom>
          <a:ln w="19050">
            <a:solidFill>
              <a:srgbClr val="8A93A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938527" y="3401568"/>
            <a:ext cx="1143000" cy="274320"/>
          </a:xfrm>
          <a:prstGeom prst="rect">
            <a:avLst/>
          </a:prstGeom>
          <a:noFill/>
        </p:spPr>
        <p:txBody>
          <a:bodyPr wrap="square" lIns="0" tIns="0" rIns="0" bIns="0" anchor="t">
            <a:spAutoFit/>
          </a:bodyPr>
          <a:lstStyle/>
          <a:p>
            <a:pPr algn="l"/>
            <a:r>
              <a:rPr sz="1200" b="0" i="0">
                <a:solidFill>
                  <a:srgbClr val="4D4C55"/>
                </a:solidFill>
                <a:latin typeface="Avenir Next"/>
              </a:rPr>
              <a:t>Fri 30</a:t>
            </a:r>
          </a:p>
        </p:txBody>
      </p:sp>
      <p:cxnSp>
        <p:nvCxnSpPr>
          <p:cNvPr id="9" name="Connector 8"/>
          <p:cNvCxnSpPr/>
          <p:nvPr/>
        </p:nvCxnSpPr>
        <p:spPr>
          <a:xfrm>
            <a:off x="3191256" y="3227832"/>
            <a:ext cx="0" cy="128016"/>
          </a:xfrm>
          <a:prstGeom prst="line">
            <a:avLst/>
          </a:prstGeom>
          <a:ln w="19050">
            <a:solidFill>
              <a:srgbClr val="8A93A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099816" y="3401568"/>
            <a:ext cx="1143000" cy="274320"/>
          </a:xfrm>
          <a:prstGeom prst="rect">
            <a:avLst/>
          </a:prstGeom>
          <a:noFill/>
        </p:spPr>
        <p:txBody>
          <a:bodyPr wrap="square" lIns="0" tIns="0" rIns="0" bIns="0" anchor="t">
            <a:spAutoFit/>
          </a:bodyPr>
          <a:lstStyle/>
          <a:p>
            <a:pPr algn="l"/>
            <a:r>
              <a:rPr sz="1200" b="0" i="0">
                <a:solidFill>
                  <a:srgbClr val="4D4C55"/>
                </a:solidFill>
                <a:latin typeface="Avenir Next"/>
              </a:rPr>
              <a:t>Sat 31</a:t>
            </a:r>
          </a:p>
        </p:txBody>
      </p:sp>
      <p:cxnSp>
        <p:nvCxnSpPr>
          <p:cNvPr id="11" name="Connector 10"/>
          <p:cNvCxnSpPr/>
          <p:nvPr/>
        </p:nvCxnSpPr>
        <p:spPr>
          <a:xfrm>
            <a:off x="4352544" y="3227832"/>
            <a:ext cx="0" cy="128016"/>
          </a:xfrm>
          <a:prstGeom prst="line">
            <a:avLst/>
          </a:prstGeom>
          <a:ln w="19050">
            <a:solidFill>
              <a:srgbClr val="8A93A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261104" y="3401568"/>
            <a:ext cx="1143000" cy="274320"/>
          </a:xfrm>
          <a:prstGeom prst="rect">
            <a:avLst/>
          </a:prstGeom>
          <a:noFill/>
        </p:spPr>
        <p:txBody>
          <a:bodyPr wrap="square" lIns="0" tIns="0" rIns="0" bIns="0" anchor="t">
            <a:spAutoFit/>
          </a:bodyPr>
          <a:lstStyle/>
          <a:p>
            <a:pPr algn="l"/>
            <a:r>
              <a:rPr sz="1200" b="0" i="0">
                <a:solidFill>
                  <a:srgbClr val="4D4C55"/>
                </a:solidFill>
                <a:latin typeface="Avenir Next"/>
              </a:rPr>
              <a:t>Sun Nov 1</a:t>
            </a:r>
          </a:p>
        </p:txBody>
      </p:sp>
      <p:cxnSp>
        <p:nvCxnSpPr>
          <p:cNvPr id="13" name="Connector 12"/>
          <p:cNvCxnSpPr/>
          <p:nvPr/>
        </p:nvCxnSpPr>
        <p:spPr>
          <a:xfrm>
            <a:off x="5513832" y="3227832"/>
            <a:ext cx="0" cy="128016"/>
          </a:xfrm>
          <a:prstGeom prst="line">
            <a:avLst/>
          </a:prstGeom>
          <a:ln w="19050">
            <a:solidFill>
              <a:srgbClr val="8A93A3"/>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22392" y="3401568"/>
            <a:ext cx="1143000" cy="274320"/>
          </a:xfrm>
          <a:prstGeom prst="rect">
            <a:avLst/>
          </a:prstGeom>
          <a:noFill/>
        </p:spPr>
        <p:txBody>
          <a:bodyPr wrap="square" lIns="0" tIns="0" rIns="0" bIns="0" anchor="t">
            <a:spAutoFit/>
          </a:bodyPr>
          <a:lstStyle/>
          <a:p>
            <a:pPr algn="l"/>
            <a:r>
              <a:rPr sz="1200" b="0" i="0">
                <a:solidFill>
                  <a:srgbClr val="4D4C55"/>
                </a:solidFill>
                <a:latin typeface="Avenir Next"/>
              </a:rPr>
              <a:t>Mon 2</a:t>
            </a:r>
          </a:p>
        </p:txBody>
      </p:sp>
      <p:cxnSp>
        <p:nvCxnSpPr>
          <p:cNvPr id="15" name="Connector 14"/>
          <p:cNvCxnSpPr/>
          <p:nvPr/>
        </p:nvCxnSpPr>
        <p:spPr>
          <a:xfrm>
            <a:off x="6675120" y="3227832"/>
            <a:ext cx="0" cy="128016"/>
          </a:xfrm>
          <a:prstGeom prst="line">
            <a:avLst/>
          </a:prstGeom>
          <a:ln w="19050">
            <a:solidFill>
              <a:srgbClr val="8A93A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583680" y="3401568"/>
            <a:ext cx="1143000" cy="274320"/>
          </a:xfrm>
          <a:prstGeom prst="rect">
            <a:avLst/>
          </a:prstGeom>
          <a:noFill/>
        </p:spPr>
        <p:txBody>
          <a:bodyPr wrap="square" lIns="0" tIns="0" rIns="0" bIns="0" anchor="t">
            <a:spAutoFit/>
          </a:bodyPr>
          <a:lstStyle/>
          <a:p>
            <a:pPr algn="l"/>
            <a:r>
              <a:rPr sz="1200" b="0" i="0">
                <a:solidFill>
                  <a:srgbClr val="4D4C55"/>
                </a:solidFill>
                <a:latin typeface="Avenir Next"/>
              </a:rPr>
              <a:t>Tue 3</a:t>
            </a:r>
          </a:p>
        </p:txBody>
      </p:sp>
      <p:cxnSp>
        <p:nvCxnSpPr>
          <p:cNvPr id="17" name="Connector 16"/>
          <p:cNvCxnSpPr/>
          <p:nvPr/>
        </p:nvCxnSpPr>
        <p:spPr>
          <a:xfrm>
            <a:off x="7836408" y="3227832"/>
            <a:ext cx="0" cy="128016"/>
          </a:xfrm>
          <a:prstGeom prst="line">
            <a:avLst/>
          </a:prstGeom>
          <a:ln w="19050">
            <a:solidFill>
              <a:srgbClr val="8A93A3"/>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744968" y="3401568"/>
            <a:ext cx="1143000" cy="274320"/>
          </a:xfrm>
          <a:prstGeom prst="rect">
            <a:avLst/>
          </a:prstGeom>
          <a:noFill/>
        </p:spPr>
        <p:txBody>
          <a:bodyPr wrap="square" lIns="0" tIns="0" rIns="0" bIns="0" anchor="t">
            <a:spAutoFit/>
          </a:bodyPr>
          <a:lstStyle/>
          <a:p>
            <a:pPr algn="l"/>
            <a:r>
              <a:rPr sz="1200" b="0" i="0">
                <a:solidFill>
                  <a:srgbClr val="4D4C55"/>
                </a:solidFill>
                <a:latin typeface="Avenir Next"/>
              </a:rPr>
              <a:t>Wed 4</a:t>
            </a:r>
          </a:p>
        </p:txBody>
      </p:sp>
      <p:cxnSp>
        <p:nvCxnSpPr>
          <p:cNvPr id="19" name="Connector 18"/>
          <p:cNvCxnSpPr/>
          <p:nvPr/>
        </p:nvCxnSpPr>
        <p:spPr>
          <a:xfrm>
            <a:off x="8997696" y="3227832"/>
            <a:ext cx="0" cy="128016"/>
          </a:xfrm>
          <a:prstGeom prst="line">
            <a:avLst/>
          </a:prstGeom>
          <a:ln w="19050">
            <a:solidFill>
              <a:srgbClr val="8A93A3"/>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906256" y="3401568"/>
            <a:ext cx="1143000" cy="274320"/>
          </a:xfrm>
          <a:prstGeom prst="rect">
            <a:avLst/>
          </a:prstGeom>
          <a:noFill/>
        </p:spPr>
        <p:txBody>
          <a:bodyPr wrap="square" lIns="0" tIns="0" rIns="0" bIns="0" anchor="t">
            <a:spAutoFit/>
          </a:bodyPr>
          <a:lstStyle/>
          <a:p>
            <a:pPr algn="l"/>
            <a:r>
              <a:rPr sz="1200" b="0" i="0">
                <a:solidFill>
                  <a:srgbClr val="4D4C55"/>
                </a:solidFill>
                <a:latin typeface="Avenir Next"/>
              </a:rPr>
              <a:t>Thu 5</a:t>
            </a:r>
          </a:p>
        </p:txBody>
      </p:sp>
      <p:cxnSp>
        <p:nvCxnSpPr>
          <p:cNvPr id="21" name="Connector 20"/>
          <p:cNvCxnSpPr/>
          <p:nvPr/>
        </p:nvCxnSpPr>
        <p:spPr>
          <a:xfrm>
            <a:off x="10158984" y="3227832"/>
            <a:ext cx="0" cy="128016"/>
          </a:xfrm>
          <a:prstGeom prst="line">
            <a:avLst/>
          </a:prstGeom>
          <a:ln w="19050">
            <a:solidFill>
              <a:srgbClr val="8A93A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0067544" y="3401568"/>
            <a:ext cx="1143000" cy="274320"/>
          </a:xfrm>
          <a:prstGeom prst="rect">
            <a:avLst/>
          </a:prstGeom>
          <a:noFill/>
        </p:spPr>
        <p:txBody>
          <a:bodyPr wrap="square" lIns="0" tIns="0" rIns="0" bIns="0" anchor="t">
            <a:spAutoFit/>
          </a:bodyPr>
          <a:lstStyle/>
          <a:p>
            <a:pPr algn="l"/>
            <a:r>
              <a:rPr sz="1200" b="0" i="0">
                <a:solidFill>
                  <a:srgbClr val="4D4C55"/>
                </a:solidFill>
                <a:latin typeface="Avenir Next"/>
              </a:rPr>
              <a:t>Fri 6</a:t>
            </a:r>
          </a:p>
        </p:txBody>
      </p:sp>
      <p:cxnSp>
        <p:nvCxnSpPr>
          <p:cNvPr id="23" name="Connector 22"/>
          <p:cNvCxnSpPr/>
          <p:nvPr/>
        </p:nvCxnSpPr>
        <p:spPr>
          <a:xfrm>
            <a:off x="4449318" y="2990088"/>
            <a:ext cx="0" cy="347472"/>
          </a:xfrm>
          <a:prstGeom prst="line">
            <a:avLst/>
          </a:prstGeom>
          <a:ln w="15875">
            <a:solidFill>
              <a:srgbClr val="8A93A3"/>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522470" y="2962656"/>
            <a:ext cx="2011680" cy="274320"/>
          </a:xfrm>
          <a:prstGeom prst="rect">
            <a:avLst/>
          </a:prstGeom>
          <a:noFill/>
        </p:spPr>
        <p:txBody>
          <a:bodyPr wrap="square" lIns="0" tIns="0" rIns="0" bIns="0" anchor="t">
            <a:spAutoFit/>
          </a:bodyPr>
          <a:lstStyle/>
          <a:p>
            <a:pPr algn="l"/>
            <a:r>
              <a:rPr sz="1100" b="0" i="0">
                <a:solidFill>
                  <a:srgbClr val="4D4C55"/>
                </a:solidFill>
                <a:latin typeface="Avenir Next"/>
              </a:rPr>
              <a:t>clocks fall back</a:t>
            </a:r>
          </a:p>
        </p:txBody>
      </p:sp>
      <p:sp>
        <p:nvSpPr>
          <p:cNvPr id="25" name="Oval 24"/>
          <p:cNvSpPr/>
          <p:nvPr/>
        </p:nvSpPr>
        <p:spPr>
          <a:xfrm>
            <a:off x="1485836" y="3191256"/>
            <a:ext cx="201168" cy="201168"/>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2751963" y="3191256"/>
            <a:ext cx="201168" cy="20116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397115" y="3191256"/>
            <a:ext cx="201168" cy="201168"/>
          </a:xfrm>
          <a:prstGeom prst="ellipse">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0542270" y="3191256"/>
            <a:ext cx="201168" cy="201168"/>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1220660" y="1737360"/>
            <a:ext cx="1600200" cy="502920"/>
          </a:xfrm>
          <a:prstGeom prst="roundRect">
            <a:avLst>
              <a:gd name="adj" fmla="val 20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400" b="1" i="0">
                <a:solidFill>
                  <a:srgbClr val="FFFFFF"/>
                </a:solidFill>
                <a:latin typeface="Avenir Next"/>
              </a:rPr>
              <a:t>Lab ends</a:t>
            </a:r>
          </a:p>
        </p:txBody>
      </p:sp>
      <p:cxnSp>
        <p:nvCxnSpPr>
          <p:cNvPr id="30" name="Connector 29"/>
          <p:cNvCxnSpPr/>
          <p:nvPr/>
        </p:nvCxnSpPr>
        <p:spPr>
          <a:xfrm>
            <a:off x="1586420" y="2258568"/>
            <a:ext cx="0" cy="914400"/>
          </a:xfrm>
          <a:prstGeom prst="line">
            <a:avLst/>
          </a:prstGeom>
          <a:ln w="15875">
            <a:solidFill>
              <a:srgbClr val="003366"/>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819894" y="1737360"/>
            <a:ext cx="1645920" cy="502920"/>
          </a:xfrm>
          <a:prstGeom prst="roundRect">
            <a:avLst>
              <a:gd name="adj" fmla="val 20000"/>
            </a:avLst>
          </a:prstGeom>
          <a:solidFill>
            <a:srgbClr val="FFFFFF"/>
          </a:solidFill>
          <a:ln w="19050">
            <a:solidFill>
              <a:srgbClr val="003366"/>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400" b="1" i="0">
                <a:solidFill>
                  <a:srgbClr val="003366"/>
                </a:solidFill>
                <a:latin typeface="Avenir Next"/>
              </a:rPr>
              <a:t>Final · fixed</a:t>
            </a:r>
          </a:p>
        </p:txBody>
      </p:sp>
      <p:cxnSp>
        <p:nvCxnSpPr>
          <p:cNvPr id="32" name="Connector 31"/>
          <p:cNvCxnSpPr/>
          <p:nvPr/>
        </p:nvCxnSpPr>
        <p:spPr>
          <a:xfrm>
            <a:off x="10642854" y="2258568"/>
            <a:ext cx="0" cy="914400"/>
          </a:xfrm>
          <a:prstGeom prst="line">
            <a:avLst/>
          </a:prstGeom>
          <a:ln w="15875">
            <a:solidFill>
              <a:srgbClr val="003366"/>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1586420" y="2697480"/>
            <a:ext cx="1266126" cy="11887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989707" y="2103120"/>
            <a:ext cx="3017520" cy="777240"/>
          </a:xfrm>
          <a:prstGeom prst="rect">
            <a:avLst/>
          </a:prstGeom>
          <a:noFill/>
        </p:spPr>
        <p:txBody>
          <a:bodyPr wrap="square" lIns="0" tIns="0" rIns="0" bIns="0" anchor="t">
            <a:spAutoFit/>
          </a:bodyPr>
          <a:lstStyle/>
          <a:p>
            <a:pPr algn="l">
              <a:lnSpc>
                <a:spcPct val="95000"/>
              </a:lnSpc>
            </a:pPr>
            <a:r>
              <a:rPr sz="2600" b="1" i="0">
                <a:solidFill>
                  <a:srgbClr val="CC0000"/>
                </a:solidFill>
                <a:latin typeface="Avenir Next"/>
              </a:rPr>
              <a:t>26 h 10 m</a:t>
            </a:r>
          </a:p>
          <a:p>
            <a:pPr algn="l">
              <a:lnSpc>
                <a:spcPct val="95000"/>
              </a:lnSpc>
            </a:pPr>
            <a:r>
              <a:rPr sz="1300" b="0" i="0">
                <a:solidFill>
                  <a:srgbClr val="CC0000"/>
                </a:solidFill>
                <a:latin typeface="Avenir Next"/>
              </a:rPr>
              <a:t>Time before the original deadline</a:t>
            </a:r>
          </a:p>
        </p:txBody>
      </p:sp>
      <p:sp>
        <p:nvSpPr>
          <p:cNvPr id="35" name="Rectangle 34"/>
          <p:cNvSpPr/>
          <p:nvPr/>
        </p:nvSpPr>
        <p:spPr>
          <a:xfrm>
            <a:off x="1586420" y="3886200"/>
            <a:ext cx="5911278" cy="118872"/>
          </a:xfrm>
          <a:prstGeom prst="rect">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634859" y="3657600"/>
            <a:ext cx="3291840" cy="777240"/>
          </a:xfrm>
          <a:prstGeom prst="rect">
            <a:avLst/>
          </a:prstGeom>
          <a:noFill/>
        </p:spPr>
        <p:txBody>
          <a:bodyPr wrap="square" lIns="0" tIns="0" rIns="0" bIns="0" anchor="t">
            <a:spAutoFit/>
          </a:bodyPr>
          <a:lstStyle/>
          <a:p>
            <a:pPr algn="l">
              <a:lnSpc>
                <a:spcPct val="95000"/>
              </a:lnSpc>
            </a:pPr>
            <a:r>
              <a:rPr sz="2600" b="1" i="0">
                <a:solidFill>
                  <a:srgbClr val="1E7B45"/>
                </a:solidFill>
                <a:latin typeface="Avenir Next"/>
              </a:rPr>
              <a:t>123 h 10 m</a:t>
            </a:r>
          </a:p>
          <a:p>
            <a:pPr algn="l">
              <a:lnSpc>
                <a:spcPct val="95000"/>
              </a:lnSpc>
            </a:pPr>
            <a:r>
              <a:rPr sz="1300" b="0" i="0">
                <a:solidFill>
                  <a:srgbClr val="1E7B45"/>
                </a:solidFill>
                <a:latin typeface="Avenir Next"/>
              </a:rPr>
              <a:t>Time before the proposed deadline</a:t>
            </a:r>
          </a:p>
        </p:txBody>
      </p:sp>
      <p:graphicFrame>
        <p:nvGraphicFramePr>
          <p:cNvPr id="37" name="Table 36"/>
          <p:cNvGraphicFramePr>
            <a:graphicFrameLocks noGrp="1"/>
          </p:cNvGraphicFramePr>
          <p:nvPr/>
        </p:nvGraphicFramePr>
        <p:xfrm>
          <a:off x="566928" y="4709160"/>
          <a:ext cx="6949440" cy="1152144"/>
        </p:xfrm>
        <a:graphic>
          <a:graphicData uri="http://schemas.openxmlformats.org/drawingml/2006/table">
            <a:tbl>
              <a:tblPr>
                <a:tableStyleId>{5940675A-B579-460E-94D1-54222C63F5DA}</a:tableStyleId>
              </a:tblPr>
              <a:tblGrid>
                <a:gridCol w="201168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84048">
                <a:tc>
                  <a:txBody>
                    <a:bodyPr/>
                    <a:lstStyle/>
                    <a:p>
                      <a:pPr algn="l"/>
                      <a:r>
                        <a:rPr sz="1500" b="1" i="0">
                          <a:solidFill>
                            <a:srgbClr val="FFFFFF"/>
                          </a:solidFill>
                          <a:latin typeface="Avenir Next"/>
                        </a:rPr>
                        <a:t>Deadline</a:t>
                      </a:r>
                    </a:p>
                  </a:txBody>
                  <a:tcPr marL="73152" marR="73152" marT="27432" marB="27432" anchor="ctr">
                    <a:solidFill>
                      <a:srgbClr val="003366"/>
                    </a:solidFill>
                  </a:tcPr>
                </a:tc>
                <a:tc>
                  <a:txBody>
                    <a:bodyPr/>
                    <a:lstStyle/>
                    <a:p>
                      <a:pPr algn="l"/>
                      <a:r>
                        <a:rPr sz="1500" b="1" i="0">
                          <a:solidFill>
                            <a:srgbClr val="FFFFFF"/>
                          </a:solidFill>
                          <a:latin typeface="Avenir Next"/>
                        </a:rPr>
                        <a:t>Date and time</a:t>
                      </a:r>
                    </a:p>
                  </a:txBody>
                  <a:tcPr marL="73152" marR="73152" marT="27432" marB="27432" anchor="ctr">
                    <a:solidFill>
                      <a:srgbClr val="003366"/>
                    </a:solidFill>
                  </a:tcPr>
                </a:tc>
                <a:tc>
                  <a:txBody>
                    <a:bodyPr/>
                    <a:lstStyle/>
                    <a:p>
                      <a:pPr algn="l"/>
                      <a:r>
                        <a:rPr sz="1500" b="1" i="0">
                          <a:solidFill>
                            <a:srgbClr val="FFFFFF"/>
                          </a:solidFill>
                          <a:latin typeface="Avenir Next"/>
                        </a:rPr>
                        <a:t>48-hour rule</a:t>
                      </a:r>
                    </a:p>
                  </a:txBody>
                  <a:tcPr marL="73152" marR="73152" marT="27432" marB="27432" anchor="ctr">
                    <a:solidFill>
                      <a:srgbClr val="003366"/>
                    </a:solidFill>
                  </a:tcPr>
                </a:tc>
                <a:extLst>
                  <a:ext uri="{0D108BD9-81ED-4DB2-BD59-A6C34878D82A}">
                    <a16:rowId xmlns:a16="http://schemas.microsoft.com/office/drawing/2014/main" val="10000"/>
                  </a:ext>
                </a:extLst>
              </a:tr>
              <a:tr h="384048">
                <a:tc>
                  <a:txBody>
                    <a:bodyPr/>
                    <a:lstStyle/>
                    <a:p>
                      <a:pPr algn="l"/>
                      <a:r>
                        <a:rPr sz="1500" b="1" i="0">
                          <a:solidFill>
                            <a:srgbClr val="1D2330"/>
                          </a:solidFill>
                          <a:latin typeface="Avenir Next"/>
                        </a:rPr>
                        <a:t>Original memo</a:t>
                      </a:r>
                    </a:p>
                  </a:txBody>
                  <a:tcPr marL="73152" marR="73152" marT="27432" marB="27432" anchor="ctr">
                    <a:solidFill>
                      <a:srgbClr val="FFFFFF"/>
                    </a:solidFill>
                  </a:tcPr>
                </a:tc>
                <a:tc>
                  <a:txBody>
                    <a:bodyPr/>
                    <a:lstStyle/>
                    <a:p>
                      <a:pPr algn="l"/>
                      <a:r>
                        <a:rPr sz="1500" b="0" i="0">
                          <a:solidFill>
                            <a:srgbClr val="1D2330"/>
                          </a:solidFill>
                          <a:latin typeface="Avenir Next"/>
                        </a:rPr>
                        <a:t>Friday, October 30 at 5:00 pm</a:t>
                      </a:r>
                    </a:p>
                  </a:txBody>
                  <a:tcPr marL="73152" marR="73152" marT="27432" marB="27432" anchor="ctr">
                    <a:solidFill>
                      <a:srgbClr val="FFFFFF"/>
                    </a:solidFill>
                  </a:tcPr>
                </a:tc>
                <a:tc>
                  <a:txBody>
                    <a:bodyPr/>
                    <a:lstStyle/>
                    <a:p>
                      <a:pPr algn="l"/>
                      <a:r>
                        <a:rPr sz="1500" b="1" i="0">
                          <a:solidFill>
                            <a:srgbClr val="CC0000"/>
                          </a:solidFill>
                          <a:latin typeface="Avenir Next"/>
                        </a:rPr>
                        <a:t>FAIL</a:t>
                      </a:r>
                    </a:p>
                  </a:txBody>
                  <a:tcPr marL="73152" marR="73152" marT="27432" marB="27432" anchor="ctr">
                    <a:solidFill>
                      <a:srgbClr val="FFFFFF"/>
                    </a:solidFill>
                  </a:tcPr>
                </a:tc>
                <a:extLst>
                  <a:ext uri="{0D108BD9-81ED-4DB2-BD59-A6C34878D82A}">
                    <a16:rowId xmlns:a16="http://schemas.microsoft.com/office/drawing/2014/main" val="10001"/>
                  </a:ext>
                </a:extLst>
              </a:tr>
              <a:tr h="384048">
                <a:tc>
                  <a:txBody>
                    <a:bodyPr/>
                    <a:lstStyle/>
                    <a:p>
                      <a:pPr algn="l"/>
                      <a:r>
                        <a:rPr sz="1500" b="1" i="0">
                          <a:solidFill>
                            <a:srgbClr val="1D2330"/>
                          </a:solidFill>
                          <a:latin typeface="Avenir Next"/>
                        </a:rPr>
                        <a:t>Proposed memo</a:t>
                      </a:r>
                    </a:p>
                  </a:txBody>
                  <a:tcPr marL="73152" marR="73152" marT="27432" marB="27432" anchor="ctr">
                    <a:solidFill>
                      <a:srgbClr val="E9EFF6"/>
                    </a:solidFill>
                  </a:tcPr>
                </a:tc>
                <a:tc>
                  <a:txBody>
                    <a:bodyPr/>
                    <a:lstStyle/>
                    <a:p>
                      <a:pPr algn="l"/>
                      <a:r>
                        <a:rPr sz="1500" b="0" i="0">
                          <a:solidFill>
                            <a:srgbClr val="1D2330"/>
                          </a:solidFill>
                          <a:latin typeface="Avenir Next"/>
                        </a:rPr>
                        <a:t>Tuesday, November 3 at 5:00 pm</a:t>
                      </a:r>
                    </a:p>
                  </a:txBody>
                  <a:tcPr marL="73152" marR="73152" marT="27432" marB="27432" anchor="ctr">
                    <a:solidFill>
                      <a:srgbClr val="E9EFF6"/>
                    </a:solidFill>
                  </a:tcPr>
                </a:tc>
                <a:tc>
                  <a:txBody>
                    <a:bodyPr/>
                    <a:lstStyle/>
                    <a:p>
                      <a:pPr algn="l"/>
                      <a:r>
                        <a:rPr sz="1500" b="1" i="0">
                          <a:solidFill>
                            <a:srgbClr val="1E7B45"/>
                          </a:solidFill>
                          <a:latin typeface="Avenir Next"/>
                        </a:rPr>
                        <a:t>PASS</a:t>
                      </a:r>
                    </a:p>
                  </a:txBody>
                  <a:tcPr marL="73152" marR="73152" marT="27432" marB="27432" anchor="ctr">
                    <a:solidFill>
                      <a:srgbClr val="E9EFF6"/>
                    </a:solidFill>
                  </a:tcPr>
                </a:tc>
                <a:extLst>
                  <a:ext uri="{0D108BD9-81ED-4DB2-BD59-A6C34878D82A}">
                    <a16:rowId xmlns:a16="http://schemas.microsoft.com/office/drawing/2014/main" val="10002"/>
                  </a:ext>
                </a:extLst>
              </a:tr>
            </a:tbl>
          </a:graphicData>
        </a:graphic>
      </p:graphicFrame>
      <p:sp>
        <p:nvSpPr>
          <p:cNvPr id="38" name="Rounded Rectangle 37"/>
          <p:cNvSpPr/>
          <p:nvPr/>
        </p:nvSpPr>
        <p:spPr>
          <a:xfrm>
            <a:off x="7818120" y="4709160"/>
            <a:ext cx="3813048" cy="1152144"/>
          </a:xfrm>
          <a:prstGeom prst="roundRect">
            <a:avLst>
              <a:gd name="adj" fmla="val 8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l"/>
            <a:r>
              <a:rPr sz="1600" b="1" i="0">
                <a:solidFill>
                  <a:srgbClr val="003366"/>
                </a:solidFill>
                <a:latin typeface="Avenir Next"/>
              </a:rPr>
              <a:t>The final stays Friday, November 6 at 10:00 am.</a:t>
            </a:r>
          </a:p>
        </p:txBody>
      </p:sp>
      <p:sp>
        <p:nvSpPr>
          <p:cNvPr id="39" name="Rounded Rectangle 38"/>
          <p:cNvSpPr/>
          <p:nvPr/>
        </p:nvSpPr>
        <p:spPr>
          <a:xfrm>
            <a:off x="7818120" y="5989320"/>
            <a:ext cx="2185415" cy="292608"/>
          </a:xfrm>
          <a:prstGeom prst="roundRect">
            <a:avLst>
              <a:gd name="adj" fmla="val 50000"/>
            </a:avLst>
          </a:prstGeom>
          <a:solidFill>
            <a:srgbClr val="F1F0EE"/>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4D4C55"/>
                </a:solidFill>
                <a:latin typeface="Avenir Next"/>
              </a:rPr>
              <a:t>Fictional demo course</a:t>
            </a:r>
          </a:p>
        </p:txBody>
      </p:sp>
      <p:sp>
        <p:nvSpPr>
          <p:cNvPr id="40"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41"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The full revised schedule</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Fictional closure: October 19–23, 2026. All times are America/New_York.</a:t>
            </a:r>
          </a:p>
        </p:txBody>
      </p:sp>
      <p:sp>
        <p:nvSpPr>
          <p:cNvPr id="4" name="TextBox 3"/>
          <p:cNvSpPr txBox="1"/>
          <p:nvPr/>
        </p:nvSpPr>
        <p:spPr>
          <a:xfrm>
            <a:off x="566928" y="1719072"/>
            <a:ext cx="1188720" cy="292608"/>
          </a:xfrm>
          <a:prstGeom prst="rect">
            <a:avLst/>
          </a:prstGeom>
          <a:noFill/>
        </p:spPr>
        <p:txBody>
          <a:bodyPr wrap="square" lIns="0" tIns="0" rIns="0" bIns="0" anchor="t">
            <a:spAutoFit/>
          </a:bodyPr>
          <a:lstStyle/>
          <a:p>
            <a:pPr algn="l"/>
            <a:endParaRPr/>
          </a:p>
        </p:txBody>
      </p:sp>
      <p:sp>
        <p:nvSpPr>
          <p:cNvPr id="5" name="TextBox 4"/>
          <p:cNvSpPr txBox="1"/>
          <p:nvPr/>
        </p:nvSpPr>
        <p:spPr>
          <a:xfrm>
            <a:off x="1874519" y="1719072"/>
            <a:ext cx="1874519" cy="292608"/>
          </a:xfrm>
          <a:prstGeom prst="rect">
            <a:avLst/>
          </a:prstGeom>
          <a:noFill/>
        </p:spPr>
        <p:txBody>
          <a:bodyPr wrap="square" lIns="0" tIns="0" rIns="0" bIns="0" anchor="t">
            <a:spAutoFit/>
          </a:bodyPr>
          <a:lstStyle/>
          <a:p>
            <a:pPr algn="ctr"/>
            <a:r>
              <a:rPr sz="1300" b="1" i="0">
                <a:solidFill>
                  <a:srgbClr val="4D4C55"/>
                </a:solidFill>
                <a:latin typeface="Avenir Next"/>
              </a:rPr>
              <a:t>Mon</a:t>
            </a:r>
          </a:p>
        </p:txBody>
      </p:sp>
      <p:sp>
        <p:nvSpPr>
          <p:cNvPr id="6" name="TextBox 5"/>
          <p:cNvSpPr txBox="1"/>
          <p:nvPr/>
        </p:nvSpPr>
        <p:spPr>
          <a:xfrm>
            <a:off x="3822191" y="1719072"/>
            <a:ext cx="1874519" cy="292608"/>
          </a:xfrm>
          <a:prstGeom prst="rect">
            <a:avLst/>
          </a:prstGeom>
          <a:noFill/>
        </p:spPr>
        <p:txBody>
          <a:bodyPr wrap="square" lIns="0" tIns="0" rIns="0" bIns="0" anchor="t">
            <a:spAutoFit/>
          </a:bodyPr>
          <a:lstStyle/>
          <a:p>
            <a:pPr algn="ctr"/>
            <a:r>
              <a:rPr sz="1300" b="1" i="0">
                <a:solidFill>
                  <a:srgbClr val="4D4C55"/>
                </a:solidFill>
                <a:latin typeface="Avenir Next"/>
              </a:rPr>
              <a:t>Tue</a:t>
            </a:r>
          </a:p>
        </p:txBody>
      </p:sp>
      <p:sp>
        <p:nvSpPr>
          <p:cNvPr id="7" name="TextBox 6"/>
          <p:cNvSpPr txBox="1"/>
          <p:nvPr/>
        </p:nvSpPr>
        <p:spPr>
          <a:xfrm>
            <a:off x="5769864" y="1719072"/>
            <a:ext cx="1874519" cy="292608"/>
          </a:xfrm>
          <a:prstGeom prst="rect">
            <a:avLst/>
          </a:prstGeom>
          <a:noFill/>
        </p:spPr>
        <p:txBody>
          <a:bodyPr wrap="square" lIns="0" tIns="0" rIns="0" bIns="0" anchor="t">
            <a:spAutoFit/>
          </a:bodyPr>
          <a:lstStyle/>
          <a:p>
            <a:pPr algn="ctr"/>
            <a:r>
              <a:rPr sz="1300" b="1" i="0">
                <a:solidFill>
                  <a:srgbClr val="4D4C55"/>
                </a:solidFill>
                <a:latin typeface="Avenir Next"/>
              </a:rPr>
              <a:t>Wed</a:t>
            </a:r>
          </a:p>
        </p:txBody>
      </p:sp>
      <p:sp>
        <p:nvSpPr>
          <p:cNvPr id="8" name="TextBox 7"/>
          <p:cNvSpPr txBox="1"/>
          <p:nvPr/>
        </p:nvSpPr>
        <p:spPr>
          <a:xfrm>
            <a:off x="7717536" y="1719072"/>
            <a:ext cx="1874519" cy="292608"/>
          </a:xfrm>
          <a:prstGeom prst="rect">
            <a:avLst/>
          </a:prstGeom>
          <a:noFill/>
        </p:spPr>
        <p:txBody>
          <a:bodyPr wrap="square" lIns="0" tIns="0" rIns="0" bIns="0" anchor="t">
            <a:spAutoFit/>
          </a:bodyPr>
          <a:lstStyle/>
          <a:p>
            <a:pPr algn="ctr"/>
            <a:r>
              <a:rPr sz="1300" b="1" i="0">
                <a:solidFill>
                  <a:srgbClr val="4D4C55"/>
                </a:solidFill>
                <a:latin typeface="Avenir Next"/>
              </a:rPr>
              <a:t>Thu</a:t>
            </a:r>
          </a:p>
        </p:txBody>
      </p:sp>
      <p:sp>
        <p:nvSpPr>
          <p:cNvPr id="9" name="TextBox 8"/>
          <p:cNvSpPr txBox="1"/>
          <p:nvPr/>
        </p:nvSpPr>
        <p:spPr>
          <a:xfrm>
            <a:off x="9665208" y="1719072"/>
            <a:ext cx="1874519" cy="292608"/>
          </a:xfrm>
          <a:prstGeom prst="rect">
            <a:avLst/>
          </a:prstGeom>
          <a:noFill/>
        </p:spPr>
        <p:txBody>
          <a:bodyPr wrap="square" lIns="0" tIns="0" rIns="0" bIns="0" anchor="t">
            <a:spAutoFit/>
          </a:bodyPr>
          <a:lstStyle/>
          <a:p>
            <a:pPr algn="ctr"/>
            <a:r>
              <a:rPr sz="1300" b="1" i="0">
                <a:solidFill>
                  <a:srgbClr val="4D4C55"/>
                </a:solidFill>
                <a:latin typeface="Avenir Next"/>
              </a:rPr>
              <a:t>Fri</a:t>
            </a:r>
          </a:p>
        </p:txBody>
      </p:sp>
      <p:sp>
        <p:nvSpPr>
          <p:cNvPr id="10" name="TextBox 9"/>
          <p:cNvSpPr txBox="1"/>
          <p:nvPr/>
        </p:nvSpPr>
        <p:spPr>
          <a:xfrm>
            <a:off x="566928" y="2057400"/>
            <a:ext cx="1234440" cy="566928"/>
          </a:xfrm>
          <a:prstGeom prst="rect">
            <a:avLst/>
          </a:prstGeom>
          <a:noFill/>
        </p:spPr>
        <p:txBody>
          <a:bodyPr wrap="square" lIns="0" tIns="0" rIns="0" bIns="0" anchor="ctr">
            <a:spAutoFit/>
          </a:bodyPr>
          <a:lstStyle/>
          <a:p>
            <a:pPr algn="l"/>
            <a:r>
              <a:rPr sz="1400" b="1" i="0">
                <a:solidFill>
                  <a:srgbClr val="003366"/>
                </a:solidFill>
                <a:latin typeface="Avenir Next"/>
              </a:rPr>
              <a:t>Oct 19–23</a:t>
            </a:r>
          </a:p>
        </p:txBody>
      </p:sp>
      <p:sp>
        <p:nvSpPr>
          <p:cNvPr id="11" name="TextBox 10"/>
          <p:cNvSpPr txBox="1"/>
          <p:nvPr/>
        </p:nvSpPr>
        <p:spPr>
          <a:xfrm>
            <a:off x="566928" y="2697480"/>
            <a:ext cx="1234440" cy="1600200"/>
          </a:xfrm>
          <a:prstGeom prst="rect">
            <a:avLst/>
          </a:prstGeom>
          <a:noFill/>
        </p:spPr>
        <p:txBody>
          <a:bodyPr wrap="square" lIns="0" tIns="0" rIns="0" bIns="0" anchor="ctr">
            <a:spAutoFit/>
          </a:bodyPr>
          <a:lstStyle/>
          <a:p>
            <a:pPr algn="l"/>
            <a:r>
              <a:rPr sz="1400" b="1" i="0">
                <a:solidFill>
                  <a:srgbClr val="003366"/>
                </a:solidFill>
                <a:latin typeface="Avenir Next"/>
              </a:rPr>
              <a:t>Oct 26–30</a:t>
            </a:r>
          </a:p>
        </p:txBody>
      </p:sp>
      <p:sp>
        <p:nvSpPr>
          <p:cNvPr id="12" name="TextBox 11"/>
          <p:cNvSpPr txBox="1"/>
          <p:nvPr/>
        </p:nvSpPr>
        <p:spPr>
          <a:xfrm>
            <a:off x="566928" y="4370832"/>
            <a:ext cx="1234440" cy="1298448"/>
          </a:xfrm>
          <a:prstGeom prst="rect">
            <a:avLst/>
          </a:prstGeom>
          <a:noFill/>
        </p:spPr>
        <p:txBody>
          <a:bodyPr wrap="square" lIns="0" tIns="0" rIns="0" bIns="0" anchor="ctr">
            <a:spAutoFit/>
          </a:bodyPr>
          <a:lstStyle/>
          <a:p>
            <a:pPr algn="l"/>
            <a:r>
              <a:rPr sz="1400" b="1" i="0">
                <a:solidFill>
                  <a:srgbClr val="003366"/>
                </a:solidFill>
                <a:latin typeface="Avenir Next"/>
              </a:rPr>
              <a:t>Nov 2–6</a:t>
            </a:r>
          </a:p>
        </p:txBody>
      </p:sp>
      <p:sp>
        <p:nvSpPr>
          <p:cNvPr id="13" name="Rounded Rectangle 12"/>
          <p:cNvSpPr/>
          <p:nvPr/>
        </p:nvSpPr>
        <p:spPr>
          <a:xfrm>
            <a:off x="1874519" y="2057400"/>
            <a:ext cx="9665207" cy="566928"/>
          </a:xfrm>
          <a:prstGeom prst="roundRect">
            <a:avLst>
              <a:gd name="adj" fmla="val 15000"/>
            </a:avLst>
          </a:prstGeom>
          <a:solidFill>
            <a:srgbClr val="FBECEC"/>
          </a:solidFill>
          <a:ln w="15875">
            <a:solidFill>
              <a:srgbClr val="CC0000"/>
            </a:solidFill>
            <a:prstDash val="dash"/>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500" b="1" i="0">
                <a:solidFill>
                  <a:srgbClr val="CC0000"/>
                </a:solidFill>
                <a:latin typeface="Avenir Next"/>
              </a:rPr>
              <a:t>Closed: no required activity (fictional notice)</a:t>
            </a:r>
          </a:p>
        </p:txBody>
      </p:sp>
      <p:sp>
        <p:nvSpPr>
          <p:cNvPr id="14" name="Rounded Rectangle 13"/>
          <p:cNvSpPr/>
          <p:nvPr/>
        </p:nvSpPr>
        <p:spPr>
          <a:xfrm>
            <a:off x="1874519" y="2697480"/>
            <a:ext cx="1874519" cy="160020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874519" y="4370832"/>
            <a:ext cx="1874519" cy="1298448"/>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822191" y="2697480"/>
            <a:ext cx="1874519" cy="160020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822191" y="4370832"/>
            <a:ext cx="1874519" cy="1298448"/>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769864" y="2697480"/>
            <a:ext cx="1874519" cy="160020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5769864" y="4370832"/>
            <a:ext cx="1874519" cy="1298448"/>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7717536" y="2697480"/>
            <a:ext cx="1874519" cy="160020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717536" y="4370832"/>
            <a:ext cx="1874519" cy="1298448"/>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9665208" y="2697480"/>
            <a:ext cx="1874519" cy="160020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9665208" y="4370832"/>
            <a:ext cx="1874519" cy="1298448"/>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1874519" y="2770632"/>
            <a:ext cx="1874519" cy="713232"/>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i="0">
                <a:solidFill>
                  <a:srgbClr val="FFFFFF"/>
                </a:solidFill>
                <a:latin typeface="Avenir Next"/>
              </a:rPr>
              <a:t>Evidence lesson</a:t>
            </a:r>
          </a:p>
          <a:p>
            <a:pPr algn="l"/>
            <a:r>
              <a:rPr sz="1100" b="0" i="0">
                <a:solidFill>
                  <a:srgbClr val="FFFFFF"/>
                </a:solidFill>
                <a:latin typeface="Avenir Next"/>
              </a:rPr>
              <a:t>3:00–3:50 pm</a:t>
            </a:r>
          </a:p>
        </p:txBody>
      </p:sp>
      <p:sp>
        <p:nvSpPr>
          <p:cNvPr id="25" name="Rounded Rectangle 24"/>
          <p:cNvSpPr/>
          <p:nvPr/>
        </p:nvSpPr>
        <p:spPr>
          <a:xfrm>
            <a:off x="3822191" y="2770632"/>
            <a:ext cx="1874519" cy="713232"/>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i="0">
                <a:solidFill>
                  <a:srgbClr val="FFFFFF"/>
                </a:solidFill>
                <a:latin typeface="Avenir Next"/>
              </a:rPr>
              <a:t>Comparing options</a:t>
            </a:r>
          </a:p>
          <a:p>
            <a:pPr algn="l"/>
            <a:r>
              <a:rPr sz="1100" b="0" i="0">
                <a:solidFill>
                  <a:srgbClr val="FFFFFF"/>
                </a:solidFill>
                <a:latin typeface="Avenir Next"/>
              </a:rPr>
              <a:t>10:00–10:50 am</a:t>
            </a:r>
          </a:p>
        </p:txBody>
      </p:sp>
      <p:sp>
        <p:nvSpPr>
          <p:cNvPr id="26" name="Rounded Rectangle 25"/>
          <p:cNvSpPr/>
          <p:nvPr/>
        </p:nvSpPr>
        <p:spPr>
          <a:xfrm>
            <a:off x="5769864" y="2770632"/>
            <a:ext cx="1874519" cy="713232"/>
          </a:xfrm>
          <a:prstGeom prst="roundRect">
            <a:avLst>
              <a:gd name="adj" fmla="val 12000"/>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i="0">
                <a:solidFill>
                  <a:srgbClr val="1D2330"/>
                </a:solidFill>
                <a:latin typeface="Avenir Next"/>
              </a:rPr>
              <a:t>Memo lesson</a:t>
            </a:r>
          </a:p>
          <a:p>
            <a:pPr algn="l"/>
            <a:r>
              <a:rPr sz="1100" b="0" i="0">
                <a:solidFill>
                  <a:srgbClr val="1D2330"/>
                </a:solidFill>
                <a:latin typeface="Avenir Next"/>
              </a:rPr>
              <a:t>10:00–10:50 am</a:t>
            </a:r>
          </a:p>
        </p:txBody>
      </p:sp>
      <p:sp>
        <p:nvSpPr>
          <p:cNvPr id="27" name="Rounded Rectangle 26"/>
          <p:cNvSpPr/>
          <p:nvPr/>
        </p:nvSpPr>
        <p:spPr>
          <a:xfrm>
            <a:off x="7717536" y="2770632"/>
            <a:ext cx="1874519" cy="713232"/>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i="0">
                <a:solidFill>
                  <a:srgbClr val="FFFFFF"/>
                </a:solidFill>
                <a:latin typeface="Avenir Next"/>
              </a:rPr>
              <a:t>Physical lab</a:t>
            </a:r>
          </a:p>
          <a:p>
            <a:pPr algn="l"/>
            <a:r>
              <a:rPr sz="1100" b="0" i="0">
                <a:solidFill>
                  <a:srgbClr val="FFFFFF"/>
                </a:solidFill>
                <a:latin typeface="Avenir Next"/>
              </a:rPr>
              <a:t>1:00–2:50 pm</a:t>
            </a:r>
          </a:p>
        </p:txBody>
      </p:sp>
      <p:sp>
        <p:nvSpPr>
          <p:cNvPr id="28" name="Rounded Rectangle 27"/>
          <p:cNvSpPr/>
          <p:nvPr/>
        </p:nvSpPr>
        <p:spPr>
          <a:xfrm>
            <a:off x="7717536" y="3529584"/>
            <a:ext cx="1874519" cy="713232"/>
          </a:xfrm>
          <a:prstGeom prst="roundRect">
            <a:avLst>
              <a:gd name="adj" fmla="val 12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i="0">
                <a:solidFill>
                  <a:srgbClr val="FFFFFF"/>
                </a:solidFill>
                <a:latin typeface="Avenir Next"/>
              </a:rPr>
              <a:t>Quiz 1</a:t>
            </a:r>
          </a:p>
          <a:p>
            <a:pPr algn="l"/>
            <a:r>
              <a:rPr sz="1100" b="0" i="0">
                <a:solidFill>
                  <a:srgbClr val="FFFFFF"/>
                </a:solidFill>
                <a:latin typeface="Avenir Next"/>
              </a:rPr>
              <a:t>3:00–3:30 pm</a:t>
            </a:r>
          </a:p>
        </p:txBody>
      </p:sp>
      <p:sp>
        <p:nvSpPr>
          <p:cNvPr id="29" name="Rounded Rectangle 28"/>
          <p:cNvSpPr/>
          <p:nvPr/>
        </p:nvSpPr>
        <p:spPr>
          <a:xfrm>
            <a:off x="9665208" y="2770632"/>
            <a:ext cx="1874519" cy="713232"/>
          </a:xfrm>
          <a:prstGeom prst="roundRect">
            <a:avLst>
              <a:gd name="adj" fmla="val 12000"/>
            </a:avLst>
          </a:prstGeom>
          <a:solidFill>
            <a:srgbClr val="FFFFFF"/>
          </a:solidFill>
          <a:ln w="15875">
            <a:solidFill>
              <a:srgbClr val="CC0000"/>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i="0">
                <a:solidFill>
                  <a:srgbClr val="CC0000"/>
                </a:solidFill>
                <a:latin typeface="Avenir Next"/>
              </a:rPr>
              <a:t>Old memo deadline</a:t>
            </a:r>
          </a:p>
          <a:p>
            <a:pPr algn="l"/>
            <a:r>
              <a:rPr sz="1100" b="0" i="0">
                <a:solidFill>
                  <a:srgbClr val="CC0000"/>
                </a:solidFill>
                <a:latin typeface="Avenir Next"/>
              </a:rPr>
              <a:t>5:00 pm · no longer used</a:t>
            </a:r>
          </a:p>
        </p:txBody>
      </p:sp>
      <p:sp>
        <p:nvSpPr>
          <p:cNvPr id="30" name="Rounded Rectangle 29"/>
          <p:cNvSpPr/>
          <p:nvPr/>
        </p:nvSpPr>
        <p:spPr>
          <a:xfrm>
            <a:off x="1874519" y="4443984"/>
            <a:ext cx="1874519" cy="713232"/>
          </a:xfrm>
          <a:prstGeom prst="roundRect">
            <a:avLst>
              <a:gd name="adj" fmla="val 12000"/>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i="0">
                <a:solidFill>
                  <a:srgbClr val="1D2330"/>
                </a:solidFill>
                <a:latin typeface="Avenir Next"/>
              </a:rPr>
              <a:t>Workshop</a:t>
            </a:r>
          </a:p>
          <a:p>
            <a:pPr algn="l"/>
            <a:r>
              <a:rPr sz="1100" b="0" i="0">
                <a:solidFill>
                  <a:srgbClr val="1D2330"/>
                </a:solidFill>
                <a:latin typeface="Avenir Next"/>
              </a:rPr>
              <a:t>10:00–10:50 am</a:t>
            </a:r>
          </a:p>
        </p:txBody>
      </p:sp>
      <p:sp>
        <p:nvSpPr>
          <p:cNvPr id="31" name="Rounded Rectangle 30"/>
          <p:cNvSpPr/>
          <p:nvPr/>
        </p:nvSpPr>
        <p:spPr>
          <a:xfrm>
            <a:off x="3822191" y="4443984"/>
            <a:ext cx="1874519" cy="713232"/>
          </a:xfrm>
          <a:prstGeom prst="roundRect">
            <a:avLst>
              <a:gd name="adj" fmla="val 12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i="0">
                <a:solidFill>
                  <a:srgbClr val="FFFFFF"/>
                </a:solidFill>
                <a:latin typeface="Avenir Next"/>
              </a:rPr>
              <a:t>Memo deadline</a:t>
            </a:r>
          </a:p>
          <a:p>
            <a:pPr algn="l"/>
            <a:r>
              <a:rPr sz="1100" b="0" i="0">
                <a:solidFill>
                  <a:srgbClr val="FFFFFF"/>
                </a:solidFill>
                <a:latin typeface="Avenir Next"/>
              </a:rPr>
              <a:t>5:00 pm</a:t>
            </a:r>
          </a:p>
        </p:txBody>
      </p:sp>
      <p:sp>
        <p:nvSpPr>
          <p:cNvPr id="32" name="Rounded Rectangle 31"/>
          <p:cNvSpPr/>
          <p:nvPr/>
        </p:nvSpPr>
        <p:spPr>
          <a:xfrm>
            <a:off x="5769864" y="4443984"/>
            <a:ext cx="1874519" cy="713232"/>
          </a:xfrm>
          <a:prstGeom prst="roundRect">
            <a:avLst>
              <a:gd name="adj" fmla="val 12000"/>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i="0">
                <a:solidFill>
                  <a:srgbClr val="1D2330"/>
                </a:solidFill>
                <a:latin typeface="Avenir Next"/>
              </a:rPr>
              <a:t>Review</a:t>
            </a:r>
          </a:p>
          <a:p>
            <a:pPr algn="l"/>
            <a:r>
              <a:rPr sz="1100" b="0" i="0">
                <a:solidFill>
                  <a:srgbClr val="1D2330"/>
                </a:solidFill>
                <a:latin typeface="Avenir Next"/>
              </a:rPr>
              <a:t>10:00–10:50 am</a:t>
            </a:r>
          </a:p>
        </p:txBody>
      </p:sp>
      <p:sp>
        <p:nvSpPr>
          <p:cNvPr id="33" name="Rounded Rectangle 32"/>
          <p:cNvSpPr/>
          <p:nvPr/>
        </p:nvSpPr>
        <p:spPr>
          <a:xfrm>
            <a:off x="9665208" y="4443984"/>
            <a:ext cx="1874519" cy="713232"/>
          </a:xfrm>
          <a:prstGeom prst="roundRect">
            <a:avLst>
              <a:gd name="adj" fmla="val 12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i="0">
                <a:solidFill>
                  <a:srgbClr val="FFFFFF"/>
                </a:solidFill>
                <a:latin typeface="Avenir Next"/>
              </a:rPr>
              <a:t>Final exam</a:t>
            </a:r>
          </a:p>
          <a:p>
            <a:pPr algn="l"/>
            <a:r>
              <a:rPr sz="1100" b="0" i="0">
                <a:solidFill>
                  <a:srgbClr val="FFFFFF"/>
                </a:solidFill>
                <a:latin typeface="Avenir Next"/>
              </a:rPr>
              <a:t>10:00–11:00 am · fixed</a:t>
            </a:r>
          </a:p>
        </p:txBody>
      </p:sp>
      <p:sp>
        <p:nvSpPr>
          <p:cNvPr id="34" name="Rounded Rectangle 33"/>
          <p:cNvSpPr/>
          <p:nvPr/>
        </p:nvSpPr>
        <p:spPr>
          <a:xfrm>
            <a:off x="1874519" y="5815584"/>
            <a:ext cx="256032" cy="256032"/>
          </a:xfrm>
          <a:prstGeom prst="roundRect">
            <a:avLst>
              <a:gd name="adj" fmla="val 20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203703" y="5779008"/>
            <a:ext cx="2194560" cy="329184"/>
          </a:xfrm>
          <a:prstGeom prst="rect">
            <a:avLst/>
          </a:prstGeom>
          <a:noFill/>
        </p:spPr>
        <p:txBody>
          <a:bodyPr wrap="square" lIns="0" tIns="0" rIns="0" bIns="0" anchor="ctr">
            <a:spAutoFit/>
          </a:bodyPr>
          <a:lstStyle/>
          <a:p>
            <a:pPr algn="l"/>
            <a:r>
              <a:rPr sz="1200" b="0" i="0">
                <a:solidFill>
                  <a:srgbClr val="1D2330"/>
                </a:solidFill>
                <a:latin typeface="Avenir Next"/>
              </a:rPr>
              <a:t>Moved: direct hit</a:t>
            </a:r>
          </a:p>
        </p:txBody>
      </p:sp>
      <p:sp>
        <p:nvSpPr>
          <p:cNvPr id="36" name="Rounded Rectangle 35"/>
          <p:cNvSpPr/>
          <p:nvPr/>
        </p:nvSpPr>
        <p:spPr>
          <a:xfrm>
            <a:off x="4206240" y="5815584"/>
            <a:ext cx="256032" cy="256032"/>
          </a:xfrm>
          <a:prstGeom prst="roundRect">
            <a:avLst>
              <a:gd name="adj" fmla="val 2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535424" y="5779008"/>
            <a:ext cx="2194560" cy="329184"/>
          </a:xfrm>
          <a:prstGeom prst="rect">
            <a:avLst/>
          </a:prstGeom>
          <a:noFill/>
        </p:spPr>
        <p:txBody>
          <a:bodyPr wrap="square" lIns="0" tIns="0" rIns="0" bIns="0" anchor="ctr">
            <a:spAutoFit/>
          </a:bodyPr>
          <a:lstStyle/>
          <a:p>
            <a:pPr algn="l"/>
            <a:r>
              <a:rPr sz="1200" b="0" i="0">
                <a:solidFill>
                  <a:srgbClr val="1D2330"/>
                </a:solidFill>
                <a:latin typeface="Avenir Next"/>
              </a:rPr>
              <a:t>Domino: dependent change</a:t>
            </a:r>
          </a:p>
        </p:txBody>
      </p:sp>
      <p:sp>
        <p:nvSpPr>
          <p:cNvPr id="38" name="Rounded Rectangle 37"/>
          <p:cNvSpPr/>
          <p:nvPr/>
        </p:nvSpPr>
        <p:spPr>
          <a:xfrm>
            <a:off x="6537959" y="5815584"/>
            <a:ext cx="256032" cy="256032"/>
          </a:xfrm>
          <a:prstGeom prst="roundRect">
            <a:avLst>
              <a:gd name="adj" fmla="val 20000"/>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867144" y="5779008"/>
            <a:ext cx="2194560" cy="329184"/>
          </a:xfrm>
          <a:prstGeom prst="rect">
            <a:avLst/>
          </a:prstGeom>
          <a:noFill/>
        </p:spPr>
        <p:txBody>
          <a:bodyPr wrap="square" lIns="0" tIns="0" rIns="0" bIns="0" anchor="ctr">
            <a:spAutoFit/>
          </a:bodyPr>
          <a:lstStyle/>
          <a:p>
            <a:pPr algn="l"/>
            <a:r>
              <a:rPr sz="1200" b="0" i="0">
                <a:solidFill>
                  <a:srgbClr val="1D2330"/>
                </a:solidFill>
                <a:latin typeface="Avenir Next"/>
              </a:rPr>
              <a:t>Unchanged</a:t>
            </a:r>
          </a:p>
        </p:txBody>
      </p:sp>
      <p:sp>
        <p:nvSpPr>
          <p:cNvPr id="40" name="Rounded Rectangle 39"/>
          <p:cNvSpPr/>
          <p:nvPr/>
        </p:nvSpPr>
        <p:spPr>
          <a:xfrm>
            <a:off x="8869680" y="5815584"/>
            <a:ext cx="256032" cy="256032"/>
          </a:xfrm>
          <a:prstGeom prst="roundRect">
            <a:avLst>
              <a:gd name="adj" fmla="val 2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198863" y="5779008"/>
            <a:ext cx="2194560" cy="329184"/>
          </a:xfrm>
          <a:prstGeom prst="rect">
            <a:avLst/>
          </a:prstGeom>
          <a:noFill/>
        </p:spPr>
        <p:txBody>
          <a:bodyPr wrap="square" lIns="0" tIns="0" rIns="0" bIns="0" anchor="ctr">
            <a:spAutoFit/>
          </a:bodyPr>
          <a:lstStyle/>
          <a:p>
            <a:pPr algn="l"/>
            <a:r>
              <a:rPr sz="1200" b="0" i="0">
                <a:solidFill>
                  <a:srgbClr val="1D2330"/>
                </a:solidFill>
                <a:latin typeface="Avenir Next"/>
              </a:rPr>
              <a:t>Fixed</a:t>
            </a:r>
          </a:p>
        </p:txBody>
      </p:sp>
      <p:sp>
        <p:nvSpPr>
          <p:cNvPr id="42" name="TextBox 41"/>
          <p:cNvSpPr txBox="1"/>
          <p:nvPr/>
        </p:nvSpPr>
        <p:spPr>
          <a:xfrm>
            <a:off x="566928" y="6144768"/>
            <a:ext cx="11064240" cy="274320"/>
          </a:xfrm>
          <a:prstGeom prst="rect">
            <a:avLst/>
          </a:prstGeom>
          <a:noFill/>
        </p:spPr>
        <p:txBody>
          <a:bodyPr wrap="square" lIns="0" tIns="0" rIns="0" bIns="0" anchor="t">
            <a:spAutoFit/>
          </a:bodyPr>
          <a:lstStyle/>
          <a:p>
            <a:pPr algn="l"/>
            <a:r>
              <a:rPr sz="1200" b="0" i="1">
                <a:solidFill>
                  <a:srgbClr val="4D4C55"/>
                </a:solidFill>
                <a:latin typeface="Avenir Next"/>
              </a:rPr>
              <a:t>A proposed draft for the professor, not an automatic calendar update.</a:t>
            </a:r>
          </a:p>
        </p:txBody>
      </p:sp>
      <p:sp>
        <p:nvSpPr>
          <p:cNvPr id="43"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44"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Every time gap is checked with code</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Calculate in America/New_York, convert to UTC, then subtract the timestamps.</a:t>
            </a:r>
          </a:p>
        </p:txBody>
      </p:sp>
      <p:sp>
        <p:nvSpPr>
          <p:cNvPr id="4" name="TextBox 3"/>
          <p:cNvSpPr txBox="1"/>
          <p:nvPr/>
        </p:nvSpPr>
        <p:spPr>
          <a:xfrm>
            <a:off x="566928" y="1810512"/>
            <a:ext cx="3429000" cy="402336"/>
          </a:xfrm>
          <a:prstGeom prst="rect">
            <a:avLst/>
          </a:prstGeom>
          <a:noFill/>
        </p:spPr>
        <p:txBody>
          <a:bodyPr wrap="square" lIns="0" tIns="0" rIns="0" bIns="0" anchor="ctr">
            <a:spAutoFit/>
          </a:bodyPr>
          <a:lstStyle/>
          <a:p>
            <a:pPr algn="l"/>
            <a:r>
              <a:rPr sz="1300" b="1" i="0">
                <a:solidFill>
                  <a:srgbClr val="1D2330"/>
                </a:solidFill>
                <a:latin typeface="Avenir Next"/>
              </a:rPr>
              <a:t>Lab end → original memo deadline</a:t>
            </a:r>
          </a:p>
        </p:txBody>
      </p:sp>
      <p:sp>
        <p:nvSpPr>
          <p:cNvPr id="5" name="Rounded Rectangle 4"/>
          <p:cNvSpPr/>
          <p:nvPr/>
        </p:nvSpPr>
        <p:spPr>
          <a:xfrm>
            <a:off x="4069080" y="1883664"/>
            <a:ext cx="5760720" cy="256032"/>
          </a:xfrm>
          <a:prstGeom prst="roundRect">
            <a:avLst>
              <a:gd name="adj" fmla="val 50000"/>
            </a:avLst>
          </a:prstGeom>
          <a:solidFill>
            <a:srgbClr val="F1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069080" y="1883664"/>
            <a:ext cx="972508" cy="256032"/>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a:off x="5853044" y="1810512"/>
            <a:ext cx="0" cy="402336"/>
          </a:xfrm>
          <a:prstGeom prst="line">
            <a:avLst/>
          </a:prstGeom>
          <a:ln w="19050">
            <a:solidFill>
              <a:srgbClr val="1D2330"/>
            </a:solidFill>
            <a:prstDash val="dash"/>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962772" y="1810512"/>
            <a:ext cx="1097280" cy="402336"/>
          </a:xfrm>
          <a:prstGeom prst="rect">
            <a:avLst/>
          </a:prstGeom>
          <a:noFill/>
        </p:spPr>
        <p:txBody>
          <a:bodyPr wrap="square" lIns="0" tIns="0" rIns="0" bIns="0" anchor="ctr">
            <a:spAutoFit/>
          </a:bodyPr>
          <a:lstStyle/>
          <a:p>
            <a:pPr algn="l"/>
            <a:r>
              <a:rPr sz="1200" b="1" i="0">
                <a:solidFill>
                  <a:srgbClr val="CC0000"/>
                </a:solidFill>
                <a:latin typeface="Avenir Next"/>
              </a:rPr>
              <a:t>26 h 10 m</a:t>
            </a:r>
          </a:p>
        </p:txBody>
      </p:sp>
      <p:sp>
        <p:nvSpPr>
          <p:cNvPr id="9" name="Rounded Rectangle 8"/>
          <p:cNvSpPr/>
          <p:nvPr/>
        </p:nvSpPr>
        <p:spPr>
          <a:xfrm>
            <a:off x="10058400" y="1865376"/>
            <a:ext cx="822960" cy="292608"/>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FFFFFF"/>
                </a:solidFill>
                <a:latin typeface="Avenir Next"/>
              </a:rPr>
              <a:t>FAIL</a:t>
            </a:r>
          </a:p>
        </p:txBody>
      </p:sp>
      <p:sp>
        <p:nvSpPr>
          <p:cNvPr id="10" name="TextBox 9"/>
          <p:cNvSpPr txBox="1"/>
          <p:nvPr/>
        </p:nvSpPr>
        <p:spPr>
          <a:xfrm>
            <a:off x="566928" y="2322576"/>
            <a:ext cx="3429000" cy="402336"/>
          </a:xfrm>
          <a:prstGeom prst="rect">
            <a:avLst/>
          </a:prstGeom>
          <a:noFill/>
        </p:spPr>
        <p:txBody>
          <a:bodyPr wrap="square" lIns="0" tIns="0" rIns="0" bIns="0" anchor="ctr">
            <a:spAutoFit/>
          </a:bodyPr>
          <a:lstStyle/>
          <a:p>
            <a:pPr algn="l"/>
            <a:r>
              <a:rPr sz="1300" b="1" i="0">
                <a:solidFill>
                  <a:srgbClr val="1D2330"/>
                </a:solidFill>
                <a:latin typeface="Avenir Next"/>
              </a:rPr>
              <a:t>Lab end → proposed memo deadline</a:t>
            </a:r>
          </a:p>
        </p:txBody>
      </p:sp>
      <p:sp>
        <p:nvSpPr>
          <p:cNvPr id="11" name="Rounded Rectangle 10"/>
          <p:cNvSpPr/>
          <p:nvPr/>
        </p:nvSpPr>
        <p:spPr>
          <a:xfrm>
            <a:off x="4069080" y="2395728"/>
            <a:ext cx="5760720" cy="256032"/>
          </a:xfrm>
          <a:prstGeom prst="roundRect">
            <a:avLst>
              <a:gd name="adj" fmla="val 50000"/>
            </a:avLst>
          </a:prstGeom>
          <a:solidFill>
            <a:srgbClr val="F1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069080" y="2395728"/>
            <a:ext cx="4577604" cy="256032"/>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a:off x="5853044" y="2322576"/>
            <a:ext cx="0" cy="402336"/>
          </a:xfrm>
          <a:prstGeom prst="line">
            <a:avLst/>
          </a:prstGeom>
          <a:ln w="19050">
            <a:solidFill>
              <a:srgbClr val="1D2330"/>
            </a:solidFill>
            <a:prstDash val="dash"/>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366524" y="2322576"/>
            <a:ext cx="1097280" cy="402336"/>
          </a:xfrm>
          <a:prstGeom prst="rect">
            <a:avLst/>
          </a:prstGeom>
          <a:noFill/>
        </p:spPr>
        <p:txBody>
          <a:bodyPr wrap="square" lIns="0" tIns="0" rIns="0" bIns="0" anchor="ctr">
            <a:spAutoFit/>
          </a:bodyPr>
          <a:lstStyle/>
          <a:p>
            <a:pPr algn="r"/>
            <a:r>
              <a:rPr sz="1200" b="1" i="0">
                <a:solidFill>
                  <a:srgbClr val="FFFFFF"/>
                </a:solidFill>
                <a:latin typeface="Avenir Next"/>
              </a:rPr>
              <a:t>123 h 10 m</a:t>
            </a:r>
          </a:p>
        </p:txBody>
      </p:sp>
      <p:sp>
        <p:nvSpPr>
          <p:cNvPr id="15" name="Rounded Rectangle 14"/>
          <p:cNvSpPr/>
          <p:nvPr/>
        </p:nvSpPr>
        <p:spPr>
          <a:xfrm>
            <a:off x="10058400" y="2377440"/>
            <a:ext cx="822960" cy="292608"/>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FFFFFF"/>
                </a:solidFill>
                <a:latin typeface="Avenir Next"/>
              </a:rPr>
              <a:t>PASS</a:t>
            </a:r>
          </a:p>
        </p:txBody>
      </p:sp>
      <p:sp>
        <p:nvSpPr>
          <p:cNvPr id="16" name="TextBox 15"/>
          <p:cNvSpPr txBox="1"/>
          <p:nvPr/>
        </p:nvSpPr>
        <p:spPr>
          <a:xfrm>
            <a:off x="566928" y="2834640"/>
            <a:ext cx="3429000" cy="402336"/>
          </a:xfrm>
          <a:prstGeom prst="rect">
            <a:avLst/>
          </a:prstGeom>
          <a:noFill/>
        </p:spPr>
        <p:txBody>
          <a:bodyPr wrap="square" lIns="0" tIns="0" rIns="0" bIns="0" anchor="ctr">
            <a:spAutoFit/>
          </a:bodyPr>
          <a:lstStyle/>
          <a:p>
            <a:pPr algn="l"/>
            <a:r>
              <a:rPr sz="1300" b="1" i="0">
                <a:solidFill>
                  <a:srgbClr val="1D2330"/>
                </a:solidFill>
                <a:latin typeface="Avenir Next"/>
              </a:rPr>
              <a:t>Memo lesson end → memo deadline</a:t>
            </a:r>
          </a:p>
        </p:txBody>
      </p:sp>
      <p:sp>
        <p:nvSpPr>
          <p:cNvPr id="17" name="Rounded Rectangle 16"/>
          <p:cNvSpPr/>
          <p:nvPr/>
        </p:nvSpPr>
        <p:spPr>
          <a:xfrm>
            <a:off x="4069080" y="2907792"/>
            <a:ext cx="5760720" cy="256032"/>
          </a:xfrm>
          <a:prstGeom prst="roundRect">
            <a:avLst>
              <a:gd name="adj" fmla="val 50000"/>
            </a:avLst>
          </a:prstGeom>
          <a:solidFill>
            <a:srgbClr val="F1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069080" y="2907792"/>
            <a:ext cx="5618250" cy="256032"/>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a:off x="5853044" y="2834640"/>
            <a:ext cx="0" cy="402336"/>
          </a:xfrm>
          <a:prstGeom prst="line">
            <a:avLst/>
          </a:prstGeom>
          <a:ln w="19050">
            <a:solidFill>
              <a:srgbClr val="1D2330"/>
            </a:solidFill>
            <a:prstDash val="dash"/>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407170" y="2834640"/>
            <a:ext cx="1097280" cy="402336"/>
          </a:xfrm>
          <a:prstGeom prst="rect">
            <a:avLst/>
          </a:prstGeom>
          <a:noFill/>
        </p:spPr>
        <p:txBody>
          <a:bodyPr wrap="square" lIns="0" tIns="0" rIns="0" bIns="0" anchor="ctr">
            <a:spAutoFit/>
          </a:bodyPr>
          <a:lstStyle/>
          <a:p>
            <a:pPr algn="r"/>
            <a:r>
              <a:rPr sz="1200" b="1" i="0">
                <a:solidFill>
                  <a:srgbClr val="FFFFFF"/>
                </a:solidFill>
                <a:latin typeface="Avenir Next"/>
              </a:rPr>
              <a:t>151 h 10 m</a:t>
            </a:r>
          </a:p>
        </p:txBody>
      </p:sp>
      <p:sp>
        <p:nvSpPr>
          <p:cNvPr id="21" name="Rounded Rectangle 20"/>
          <p:cNvSpPr/>
          <p:nvPr/>
        </p:nvSpPr>
        <p:spPr>
          <a:xfrm>
            <a:off x="10058400" y="2889504"/>
            <a:ext cx="822960" cy="292608"/>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FFFFFF"/>
                </a:solidFill>
                <a:latin typeface="Avenir Next"/>
              </a:rPr>
              <a:t>PASS</a:t>
            </a:r>
          </a:p>
        </p:txBody>
      </p:sp>
      <p:sp>
        <p:nvSpPr>
          <p:cNvPr id="22" name="TextBox 21"/>
          <p:cNvSpPr txBox="1"/>
          <p:nvPr/>
        </p:nvSpPr>
        <p:spPr>
          <a:xfrm>
            <a:off x="566928" y="3346704"/>
            <a:ext cx="3429000" cy="402336"/>
          </a:xfrm>
          <a:prstGeom prst="rect">
            <a:avLst/>
          </a:prstGeom>
          <a:noFill/>
        </p:spPr>
        <p:txBody>
          <a:bodyPr wrap="square" lIns="0" tIns="0" rIns="0" bIns="0" anchor="ctr">
            <a:spAutoFit/>
          </a:bodyPr>
          <a:lstStyle/>
          <a:p>
            <a:pPr algn="l"/>
            <a:r>
              <a:rPr sz="1300" b="1" i="0">
                <a:solidFill>
                  <a:srgbClr val="1D2330"/>
                </a:solidFill>
                <a:latin typeface="Avenir Next"/>
              </a:rPr>
              <a:t>Evidence lesson end → lab start</a:t>
            </a:r>
          </a:p>
        </p:txBody>
      </p:sp>
      <p:sp>
        <p:nvSpPr>
          <p:cNvPr id="23" name="Rounded Rectangle 22"/>
          <p:cNvSpPr/>
          <p:nvPr/>
        </p:nvSpPr>
        <p:spPr>
          <a:xfrm>
            <a:off x="4069080" y="3419856"/>
            <a:ext cx="5760720" cy="256032"/>
          </a:xfrm>
          <a:prstGeom prst="roundRect">
            <a:avLst>
              <a:gd name="adj" fmla="val 50000"/>
            </a:avLst>
          </a:prstGeom>
          <a:solidFill>
            <a:srgbClr val="F1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4069080" y="3419856"/>
            <a:ext cx="2570643" cy="256032"/>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p:cNvCxnSpPr/>
          <p:nvPr/>
        </p:nvCxnSpPr>
        <p:spPr>
          <a:xfrm>
            <a:off x="4961062" y="3346704"/>
            <a:ext cx="0" cy="402336"/>
          </a:xfrm>
          <a:prstGeom prst="line">
            <a:avLst/>
          </a:prstGeom>
          <a:ln w="19050">
            <a:solidFill>
              <a:srgbClr val="1D2330"/>
            </a:solidFill>
            <a:prstDash val="dash"/>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749451" y="3346704"/>
            <a:ext cx="1097280" cy="402336"/>
          </a:xfrm>
          <a:prstGeom prst="rect">
            <a:avLst/>
          </a:prstGeom>
          <a:noFill/>
        </p:spPr>
        <p:txBody>
          <a:bodyPr wrap="square" lIns="0" tIns="0" rIns="0" bIns="0" anchor="ctr">
            <a:spAutoFit/>
          </a:bodyPr>
          <a:lstStyle/>
          <a:p>
            <a:pPr algn="l"/>
            <a:r>
              <a:rPr sz="1200" b="1" i="0">
                <a:solidFill>
                  <a:srgbClr val="1E7B45"/>
                </a:solidFill>
                <a:latin typeface="Avenir Next"/>
              </a:rPr>
              <a:t>69 h 10 m</a:t>
            </a:r>
          </a:p>
        </p:txBody>
      </p:sp>
      <p:sp>
        <p:nvSpPr>
          <p:cNvPr id="27" name="Rounded Rectangle 26"/>
          <p:cNvSpPr/>
          <p:nvPr/>
        </p:nvSpPr>
        <p:spPr>
          <a:xfrm>
            <a:off x="10058400" y="3401568"/>
            <a:ext cx="822960" cy="292608"/>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FFFFFF"/>
                </a:solidFill>
                <a:latin typeface="Avenir Next"/>
              </a:rPr>
              <a:t>PASS</a:t>
            </a:r>
          </a:p>
        </p:txBody>
      </p:sp>
      <p:sp>
        <p:nvSpPr>
          <p:cNvPr id="28" name="TextBox 27"/>
          <p:cNvSpPr txBox="1"/>
          <p:nvPr/>
        </p:nvSpPr>
        <p:spPr>
          <a:xfrm>
            <a:off x="566928" y="3858768"/>
            <a:ext cx="3429000" cy="402336"/>
          </a:xfrm>
          <a:prstGeom prst="rect">
            <a:avLst/>
          </a:prstGeom>
          <a:noFill/>
        </p:spPr>
        <p:txBody>
          <a:bodyPr wrap="square" lIns="0" tIns="0" rIns="0" bIns="0" anchor="ctr">
            <a:spAutoFit/>
          </a:bodyPr>
          <a:lstStyle/>
          <a:p>
            <a:pPr algn="l"/>
            <a:r>
              <a:rPr sz="1300" b="1" i="0">
                <a:solidFill>
                  <a:srgbClr val="1D2330"/>
                </a:solidFill>
                <a:latin typeface="Avenir Next"/>
              </a:rPr>
              <a:t>Comparing lesson end → quiz start</a:t>
            </a:r>
          </a:p>
        </p:txBody>
      </p:sp>
      <p:sp>
        <p:nvSpPr>
          <p:cNvPr id="29" name="Rounded Rectangle 28"/>
          <p:cNvSpPr/>
          <p:nvPr/>
        </p:nvSpPr>
        <p:spPr>
          <a:xfrm>
            <a:off x="4069080" y="3931920"/>
            <a:ext cx="5760720" cy="256032"/>
          </a:xfrm>
          <a:prstGeom prst="roundRect">
            <a:avLst>
              <a:gd name="adj" fmla="val 50000"/>
            </a:avLst>
          </a:prstGeom>
          <a:solidFill>
            <a:srgbClr val="F1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4069080" y="3931920"/>
            <a:ext cx="1938822" cy="256032"/>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 name="Connector 30"/>
          <p:cNvCxnSpPr/>
          <p:nvPr/>
        </p:nvCxnSpPr>
        <p:spPr>
          <a:xfrm>
            <a:off x="5853044" y="3858768"/>
            <a:ext cx="0" cy="402336"/>
          </a:xfrm>
          <a:prstGeom prst="line">
            <a:avLst/>
          </a:prstGeom>
          <a:ln w="19050">
            <a:solidFill>
              <a:srgbClr val="1D2330"/>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117630" y="3858768"/>
            <a:ext cx="1097280" cy="402336"/>
          </a:xfrm>
          <a:prstGeom prst="rect">
            <a:avLst/>
          </a:prstGeom>
          <a:noFill/>
        </p:spPr>
        <p:txBody>
          <a:bodyPr wrap="square" lIns="0" tIns="0" rIns="0" bIns="0" anchor="ctr">
            <a:spAutoFit/>
          </a:bodyPr>
          <a:lstStyle/>
          <a:p>
            <a:pPr algn="l"/>
            <a:r>
              <a:rPr sz="1200" b="1" i="0">
                <a:solidFill>
                  <a:srgbClr val="1E7B45"/>
                </a:solidFill>
                <a:latin typeface="Avenir Next"/>
              </a:rPr>
              <a:t>52 h 10 m</a:t>
            </a:r>
          </a:p>
        </p:txBody>
      </p:sp>
      <p:sp>
        <p:nvSpPr>
          <p:cNvPr id="33" name="Rounded Rectangle 32"/>
          <p:cNvSpPr/>
          <p:nvPr/>
        </p:nvSpPr>
        <p:spPr>
          <a:xfrm>
            <a:off x="10058400" y="3913632"/>
            <a:ext cx="822960" cy="292608"/>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FFFFFF"/>
                </a:solidFill>
                <a:latin typeface="Avenir Next"/>
              </a:rPr>
              <a:t>PASS</a:t>
            </a:r>
          </a:p>
        </p:txBody>
      </p:sp>
      <p:sp>
        <p:nvSpPr>
          <p:cNvPr id="34" name="TextBox 33"/>
          <p:cNvSpPr txBox="1"/>
          <p:nvPr/>
        </p:nvSpPr>
        <p:spPr>
          <a:xfrm>
            <a:off x="566928" y="4370832"/>
            <a:ext cx="3429000" cy="402336"/>
          </a:xfrm>
          <a:prstGeom prst="rect">
            <a:avLst/>
          </a:prstGeom>
          <a:noFill/>
        </p:spPr>
        <p:txBody>
          <a:bodyPr wrap="square" lIns="0" tIns="0" rIns="0" bIns="0" anchor="ctr">
            <a:spAutoFit/>
          </a:bodyPr>
          <a:lstStyle/>
          <a:p>
            <a:pPr algn="l"/>
            <a:r>
              <a:rPr sz="1300" b="1" i="0">
                <a:solidFill>
                  <a:srgbClr val="1D2330"/>
                </a:solidFill>
                <a:latin typeface="Avenir Next"/>
              </a:rPr>
              <a:t>Quiz end → memo deadline</a:t>
            </a:r>
          </a:p>
        </p:txBody>
      </p:sp>
      <p:sp>
        <p:nvSpPr>
          <p:cNvPr id="35" name="Rounded Rectangle 34"/>
          <p:cNvSpPr/>
          <p:nvPr/>
        </p:nvSpPr>
        <p:spPr>
          <a:xfrm>
            <a:off x="4069080" y="4443984"/>
            <a:ext cx="5760720" cy="256032"/>
          </a:xfrm>
          <a:prstGeom prst="roundRect">
            <a:avLst>
              <a:gd name="adj" fmla="val 50000"/>
            </a:avLst>
          </a:prstGeom>
          <a:solidFill>
            <a:srgbClr val="F1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4069080" y="4443984"/>
            <a:ext cx="4552827" cy="256032"/>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7" name="Connector 36"/>
          <p:cNvCxnSpPr/>
          <p:nvPr/>
        </p:nvCxnSpPr>
        <p:spPr>
          <a:xfrm>
            <a:off x="5853044" y="4370832"/>
            <a:ext cx="0" cy="402336"/>
          </a:xfrm>
          <a:prstGeom prst="line">
            <a:avLst/>
          </a:prstGeom>
          <a:ln w="19050">
            <a:solidFill>
              <a:srgbClr val="1D2330"/>
            </a:solidFill>
            <a:prstDash val="dash"/>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41747" y="4370832"/>
            <a:ext cx="1097280" cy="402336"/>
          </a:xfrm>
          <a:prstGeom prst="rect">
            <a:avLst/>
          </a:prstGeom>
          <a:noFill/>
        </p:spPr>
        <p:txBody>
          <a:bodyPr wrap="square" lIns="0" tIns="0" rIns="0" bIns="0" anchor="ctr">
            <a:spAutoFit/>
          </a:bodyPr>
          <a:lstStyle/>
          <a:p>
            <a:pPr algn="r"/>
            <a:r>
              <a:rPr sz="1200" b="1" i="0">
                <a:solidFill>
                  <a:srgbClr val="FFFFFF"/>
                </a:solidFill>
                <a:latin typeface="Avenir Next"/>
              </a:rPr>
              <a:t>122 h 30 m</a:t>
            </a:r>
          </a:p>
        </p:txBody>
      </p:sp>
      <p:sp>
        <p:nvSpPr>
          <p:cNvPr id="39" name="Rounded Rectangle 38"/>
          <p:cNvSpPr/>
          <p:nvPr/>
        </p:nvSpPr>
        <p:spPr>
          <a:xfrm>
            <a:off x="10058400" y="4425696"/>
            <a:ext cx="822960" cy="292608"/>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FFFFFF"/>
                </a:solidFill>
                <a:latin typeface="Avenir Next"/>
              </a:rPr>
              <a:t>PASS</a:t>
            </a:r>
          </a:p>
        </p:txBody>
      </p:sp>
      <p:sp>
        <p:nvSpPr>
          <p:cNvPr id="40" name="TextBox 39"/>
          <p:cNvSpPr txBox="1"/>
          <p:nvPr/>
        </p:nvSpPr>
        <p:spPr>
          <a:xfrm>
            <a:off x="566928" y="4882896"/>
            <a:ext cx="3429000" cy="402336"/>
          </a:xfrm>
          <a:prstGeom prst="rect">
            <a:avLst/>
          </a:prstGeom>
          <a:noFill/>
        </p:spPr>
        <p:txBody>
          <a:bodyPr wrap="square" lIns="0" tIns="0" rIns="0" bIns="0" anchor="ctr">
            <a:spAutoFit/>
          </a:bodyPr>
          <a:lstStyle/>
          <a:p>
            <a:pPr algn="l"/>
            <a:r>
              <a:rPr sz="1300" b="1" i="0">
                <a:solidFill>
                  <a:srgbClr val="1D2330"/>
                </a:solidFill>
                <a:latin typeface="Avenir Next"/>
              </a:rPr>
              <a:t>Memo deadline → final start</a:t>
            </a:r>
          </a:p>
        </p:txBody>
      </p:sp>
      <p:sp>
        <p:nvSpPr>
          <p:cNvPr id="41" name="Rounded Rectangle 40"/>
          <p:cNvSpPr/>
          <p:nvPr/>
        </p:nvSpPr>
        <p:spPr>
          <a:xfrm>
            <a:off x="4069080" y="4956048"/>
            <a:ext cx="5760720" cy="256032"/>
          </a:xfrm>
          <a:prstGeom prst="roundRect">
            <a:avLst>
              <a:gd name="adj" fmla="val 50000"/>
            </a:avLst>
          </a:prstGeom>
          <a:solidFill>
            <a:srgbClr val="F1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4069080" y="4956048"/>
            <a:ext cx="2415785" cy="256032"/>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3" name="Connector 42"/>
          <p:cNvCxnSpPr/>
          <p:nvPr/>
        </p:nvCxnSpPr>
        <p:spPr>
          <a:xfrm>
            <a:off x="5853044" y="4882896"/>
            <a:ext cx="0" cy="402336"/>
          </a:xfrm>
          <a:prstGeom prst="line">
            <a:avLst/>
          </a:prstGeom>
          <a:ln w="19050">
            <a:solidFill>
              <a:srgbClr val="1D2330"/>
            </a:solidFill>
            <a:prstDash val="dash"/>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594593" y="4882896"/>
            <a:ext cx="1097280" cy="402336"/>
          </a:xfrm>
          <a:prstGeom prst="rect">
            <a:avLst/>
          </a:prstGeom>
          <a:noFill/>
        </p:spPr>
        <p:txBody>
          <a:bodyPr wrap="square" lIns="0" tIns="0" rIns="0" bIns="0" anchor="ctr">
            <a:spAutoFit/>
          </a:bodyPr>
          <a:lstStyle/>
          <a:p>
            <a:pPr algn="l"/>
            <a:r>
              <a:rPr sz="1200" b="1" i="0">
                <a:solidFill>
                  <a:srgbClr val="1E7B45"/>
                </a:solidFill>
                <a:latin typeface="Avenir Next"/>
              </a:rPr>
              <a:t>65 h</a:t>
            </a:r>
          </a:p>
        </p:txBody>
      </p:sp>
      <p:sp>
        <p:nvSpPr>
          <p:cNvPr id="45" name="Rounded Rectangle 44"/>
          <p:cNvSpPr/>
          <p:nvPr/>
        </p:nvSpPr>
        <p:spPr>
          <a:xfrm>
            <a:off x="10058400" y="4937759"/>
            <a:ext cx="822960" cy="292608"/>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FFFFFF"/>
                </a:solidFill>
                <a:latin typeface="Avenir Next"/>
              </a:rPr>
              <a:t>PASS</a:t>
            </a:r>
          </a:p>
        </p:txBody>
      </p:sp>
      <p:sp>
        <p:nvSpPr>
          <p:cNvPr id="46" name="TextBox 45"/>
          <p:cNvSpPr txBox="1"/>
          <p:nvPr/>
        </p:nvSpPr>
        <p:spPr>
          <a:xfrm>
            <a:off x="566928" y="5394960"/>
            <a:ext cx="3429000" cy="402336"/>
          </a:xfrm>
          <a:prstGeom prst="rect">
            <a:avLst/>
          </a:prstGeom>
          <a:noFill/>
        </p:spPr>
        <p:txBody>
          <a:bodyPr wrap="square" lIns="0" tIns="0" rIns="0" bIns="0" anchor="ctr">
            <a:spAutoFit/>
          </a:bodyPr>
          <a:lstStyle/>
          <a:p>
            <a:pPr algn="l"/>
            <a:r>
              <a:rPr sz="1300" b="1" i="0">
                <a:solidFill>
                  <a:srgbClr val="1D2330"/>
                </a:solidFill>
                <a:latin typeface="Avenir Next"/>
              </a:rPr>
              <a:t>Review end → final start</a:t>
            </a:r>
          </a:p>
        </p:txBody>
      </p:sp>
      <p:sp>
        <p:nvSpPr>
          <p:cNvPr id="47" name="Rounded Rectangle 46"/>
          <p:cNvSpPr/>
          <p:nvPr/>
        </p:nvSpPr>
        <p:spPr>
          <a:xfrm>
            <a:off x="4069080" y="5468112"/>
            <a:ext cx="5760720" cy="256032"/>
          </a:xfrm>
          <a:prstGeom prst="roundRect">
            <a:avLst>
              <a:gd name="adj" fmla="val 50000"/>
            </a:avLst>
          </a:prstGeom>
          <a:solidFill>
            <a:srgbClr val="F1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4069080" y="5468112"/>
            <a:ext cx="1752993" cy="256032"/>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9" name="Connector 48"/>
          <p:cNvCxnSpPr/>
          <p:nvPr/>
        </p:nvCxnSpPr>
        <p:spPr>
          <a:xfrm>
            <a:off x="4961062" y="5394960"/>
            <a:ext cx="0" cy="402336"/>
          </a:xfrm>
          <a:prstGeom prst="line">
            <a:avLst/>
          </a:prstGeom>
          <a:ln w="19050">
            <a:solidFill>
              <a:srgbClr val="1D2330"/>
            </a:solidFill>
            <a:prstDash val="dash"/>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931801" y="5394960"/>
            <a:ext cx="1097280" cy="402336"/>
          </a:xfrm>
          <a:prstGeom prst="rect">
            <a:avLst/>
          </a:prstGeom>
          <a:noFill/>
        </p:spPr>
        <p:txBody>
          <a:bodyPr wrap="square" lIns="0" tIns="0" rIns="0" bIns="0" anchor="ctr">
            <a:spAutoFit/>
          </a:bodyPr>
          <a:lstStyle/>
          <a:p>
            <a:pPr algn="l"/>
            <a:r>
              <a:rPr sz="1200" b="1" i="0">
                <a:solidFill>
                  <a:srgbClr val="1E7B45"/>
                </a:solidFill>
                <a:latin typeface="Avenir Next"/>
              </a:rPr>
              <a:t>47 h 10 m</a:t>
            </a:r>
          </a:p>
        </p:txBody>
      </p:sp>
      <p:sp>
        <p:nvSpPr>
          <p:cNvPr id="51" name="Rounded Rectangle 50"/>
          <p:cNvSpPr/>
          <p:nvPr/>
        </p:nvSpPr>
        <p:spPr>
          <a:xfrm>
            <a:off x="10058400" y="5449824"/>
            <a:ext cx="822960" cy="292608"/>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FFFFFF"/>
                </a:solidFill>
                <a:latin typeface="Avenir Next"/>
              </a:rPr>
              <a:t>PASS</a:t>
            </a:r>
          </a:p>
        </p:txBody>
      </p:sp>
      <p:sp>
        <p:nvSpPr>
          <p:cNvPr id="52" name="TextBox 51"/>
          <p:cNvSpPr txBox="1"/>
          <p:nvPr/>
        </p:nvSpPr>
        <p:spPr>
          <a:xfrm>
            <a:off x="10927080" y="1810512"/>
            <a:ext cx="731520" cy="4114800"/>
          </a:xfrm>
          <a:prstGeom prst="rect">
            <a:avLst/>
          </a:prstGeom>
          <a:noFill/>
        </p:spPr>
        <p:txBody>
          <a:bodyPr wrap="square" lIns="0" tIns="0" rIns="0" bIns="0" anchor="t">
            <a:spAutoFit/>
          </a:bodyPr>
          <a:lstStyle/>
          <a:p>
            <a:pPr algn="l"/>
            <a:endParaRPr/>
          </a:p>
        </p:txBody>
      </p:sp>
      <p:sp>
        <p:nvSpPr>
          <p:cNvPr id="53" name="Rectangle 52"/>
          <p:cNvSpPr/>
          <p:nvPr/>
        </p:nvSpPr>
        <p:spPr>
          <a:xfrm>
            <a:off x="566928" y="6053328"/>
            <a:ext cx="274320" cy="54864"/>
          </a:xfrm>
          <a:prstGeom prst="rect">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914400" y="5925312"/>
            <a:ext cx="1554480" cy="292608"/>
          </a:xfrm>
          <a:prstGeom prst="rect">
            <a:avLst/>
          </a:prstGeom>
          <a:noFill/>
        </p:spPr>
        <p:txBody>
          <a:bodyPr wrap="square" lIns="0" tIns="0" rIns="0" bIns="0" anchor="ctr">
            <a:spAutoFit/>
          </a:bodyPr>
          <a:lstStyle/>
          <a:p>
            <a:pPr algn="l"/>
            <a:r>
              <a:rPr sz="1200" b="0" i="0">
                <a:solidFill>
                  <a:srgbClr val="1D2330"/>
                </a:solidFill>
                <a:latin typeface="Avenir Next"/>
              </a:rPr>
              <a:t>elapsed time</a:t>
            </a:r>
          </a:p>
        </p:txBody>
      </p:sp>
      <p:cxnSp>
        <p:nvCxnSpPr>
          <p:cNvPr id="55" name="Connector 54"/>
          <p:cNvCxnSpPr/>
          <p:nvPr/>
        </p:nvCxnSpPr>
        <p:spPr>
          <a:xfrm>
            <a:off x="2606040" y="5907024"/>
            <a:ext cx="0" cy="310896"/>
          </a:xfrm>
          <a:prstGeom prst="line">
            <a:avLst/>
          </a:prstGeom>
          <a:ln w="19050">
            <a:solidFill>
              <a:srgbClr val="1D2330"/>
            </a:solidFill>
            <a:prstDash val="dash"/>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2697480" y="5925312"/>
            <a:ext cx="2011680" cy="292608"/>
          </a:xfrm>
          <a:prstGeom prst="rect">
            <a:avLst/>
          </a:prstGeom>
          <a:noFill/>
        </p:spPr>
        <p:txBody>
          <a:bodyPr wrap="square" lIns="0" tIns="0" rIns="0" bIns="0" anchor="ctr">
            <a:spAutoFit/>
          </a:bodyPr>
          <a:lstStyle/>
          <a:p>
            <a:pPr algn="l"/>
            <a:r>
              <a:rPr sz="1200" b="0" i="0">
                <a:solidFill>
                  <a:srgbClr val="1D2330"/>
                </a:solidFill>
                <a:latin typeface="Avenir Next"/>
              </a:rPr>
              <a:t>minimum required</a:t>
            </a:r>
          </a:p>
        </p:txBody>
      </p:sp>
      <p:sp>
        <p:nvSpPr>
          <p:cNvPr id="57" name="TextBox 56"/>
          <p:cNvSpPr txBox="1"/>
          <p:nvPr/>
        </p:nvSpPr>
        <p:spPr>
          <a:xfrm>
            <a:off x="4846320" y="5925312"/>
            <a:ext cx="6766560" cy="329184"/>
          </a:xfrm>
          <a:prstGeom prst="rect">
            <a:avLst/>
          </a:prstGeom>
          <a:noFill/>
        </p:spPr>
        <p:txBody>
          <a:bodyPr wrap="square" lIns="0" tIns="0" rIns="0" bIns="0" anchor="ctr">
            <a:spAutoFit/>
          </a:bodyPr>
          <a:lstStyle/>
          <a:p>
            <a:pPr algn="l"/>
            <a:r>
              <a:rPr sz="1300" b="1" i="0">
                <a:solidFill>
                  <a:srgbClr val="003366"/>
                </a:solidFill>
                <a:latin typeface="Avenir Next"/>
              </a:rPr>
              <a:t>The November 1 clock change adds one elapsed hour to intervals that cross it.</a:t>
            </a:r>
          </a:p>
        </p:txBody>
      </p:sp>
      <p:sp>
        <p:nvSpPr>
          <p:cNvPr id="58"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59"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Assignment help for professors and students</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The supporting helper makes course requirements easier to understand.</a:t>
            </a:r>
          </a:p>
        </p:txBody>
      </p:sp>
      <p:sp>
        <p:nvSpPr>
          <p:cNvPr id="4" name="Rounded Rectangle 3"/>
          <p:cNvSpPr/>
          <p:nvPr/>
        </p:nvSpPr>
        <p:spPr>
          <a:xfrm>
            <a:off x="566928" y="1783080"/>
            <a:ext cx="5440680" cy="1874519"/>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96695" y="2011680"/>
            <a:ext cx="329184" cy="329184"/>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 Same Side Corner Rectangle 5"/>
          <p:cNvSpPr/>
          <p:nvPr/>
        </p:nvSpPr>
        <p:spPr>
          <a:xfrm>
            <a:off x="841247" y="2377440"/>
            <a:ext cx="640080" cy="384048"/>
          </a:xfrm>
          <a:prstGeom prst="round2Same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709928" y="1965960"/>
            <a:ext cx="4114800" cy="365760"/>
          </a:xfrm>
          <a:prstGeom prst="rect">
            <a:avLst/>
          </a:prstGeom>
          <a:noFill/>
        </p:spPr>
        <p:txBody>
          <a:bodyPr wrap="square" lIns="0" tIns="0" rIns="0" bIns="0" anchor="t">
            <a:spAutoFit/>
          </a:bodyPr>
          <a:lstStyle/>
          <a:p>
            <a:pPr algn="l"/>
            <a:r>
              <a:rPr sz="1900" b="1" i="0">
                <a:solidFill>
                  <a:srgbClr val="003366"/>
                </a:solidFill>
                <a:latin typeface="Avenir Next"/>
              </a:rPr>
              <a:t>For professors</a:t>
            </a:r>
          </a:p>
        </p:txBody>
      </p:sp>
      <p:sp>
        <p:nvSpPr>
          <p:cNvPr id="8" name="TextBox 7"/>
          <p:cNvSpPr txBox="1"/>
          <p:nvPr/>
        </p:nvSpPr>
        <p:spPr>
          <a:xfrm>
            <a:off x="1709928" y="2395728"/>
            <a:ext cx="4114800" cy="1234440"/>
          </a:xfrm>
          <a:prstGeom prst="rect">
            <a:avLst/>
          </a:prstGeom>
          <a:noFill/>
        </p:spPr>
        <p:txBody>
          <a:bodyPr wrap="square" lIns="0" tIns="0" rIns="0" bIns="0" anchor="t">
            <a:spAutoFit/>
          </a:bodyPr>
          <a:lstStyle/>
          <a:p>
            <a:pPr marL="201168" indent="-201168" algn="l">
              <a:spcAft>
                <a:spcPts val="500"/>
              </a:spcAft>
              <a:buClr>
                <a:srgbClr val="003366"/>
              </a:buClr>
              <a:buChar char="•"/>
            </a:pPr>
            <a:r>
              <a:rPr sz="1400" b="0" i="0">
                <a:solidFill>
                  <a:srgbClr val="1D2330"/>
                </a:solidFill>
                <a:latin typeface="Avenir Next"/>
              </a:rPr>
              <a:t>Check the assignment prompt and rubric for unclear requirements.</a:t>
            </a:r>
          </a:p>
          <a:p>
            <a:pPr marL="201168" indent="-201168" algn="l">
              <a:spcAft>
                <a:spcPts val="500"/>
              </a:spcAft>
              <a:buClr>
                <a:srgbClr val="003366"/>
              </a:buClr>
              <a:buChar char="•"/>
            </a:pPr>
            <a:r>
              <a:rPr sz="1400" b="0" i="0">
                <a:solidFill>
                  <a:srgbClr val="1D2330"/>
                </a:solidFill>
                <a:latin typeface="Avenir Next"/>
              </a:rPr>
              <a:t>Approve an answer once and add it to the course answer bank.</a:t>
            </a:r>
          </a:p>
        </p:txBody>
      </p:sp>
      <p:sp>
        <p:nvSpPr>
          <p:cNvPr id="9" name="Rounded Rectangle 8"/>
          <p:cNvSpPr/>
          <p:nvPr/>
        </p:nvSpPr>
        <p:spPr>
          <a:xfrm>
            <a:off x="6190488" y="1783080"/>
            <a:ext cx="5440680" cy="1874519"/>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620256" y="2011680"/>
            <a:ext cx="329184" cy="329184"/>
          </a:xfrm>
          <a:prstGeom prst="ellipse">
            <a:avLst/>
          </a:prstGeom>
          <a:solidFill>
            <a:srgbClr val="126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 Same Side Corner Rectangle 10"/>
          <p:cNvSpPr/>
          <p:nvPr/>
        </p:nvSpPr>
        <p:spPr>
          <a:xfrm>
            <a:off x="6464808" y="2377440"/>
            <a:ext cx="640080" cy="384048"/>
          </a:xfrm>
          <a:prstGeom prst="round2SameRect">
            <a:avLst/>
          </a:prstGeom>
          <a:solidFill>
            <a:srgbClr val="126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33488" y="1965960"/>
            <a:ext cx="4114800" cy="365760"/>
          </a:xfrm>
          <a:prstGeom prst="rect">
            <a:avLst/>
          </a:prstGeom>
          <a:noFill/>
        </p:spPr>
        <p:txBody>
          <a:bodyPr wrap="square" lIns="0" tIns="0" rIns="0" bIns="0" anchor="t">
            <a:spAutoFit/>
          </a:bodyPr>
          <a:lstStyle/>
          <a:p>
            <a:pPr algn="l"/>
            <a:r>
              <a:rPr sz="1900" b="1" i="0">
                <a:solidFill>
                  <a:srgbClr val="003366"/>
                </a:solidFill>
                <a:latin typeface="Avenir Next"/>
              </a:rPr>
              <a:t>For students</a:t>
            </a:r>
          </a:p>
        </p:txBody>
      </p:sp>
      <p:sp>
        <p:nvSpPr>
          <p:cNvPr id="13" name="TextBox 12"/>
          <p:cNvSpPr txBox="1"/>
          <p:nvPr/>
        </p:nvSpPr>
        <p:spPr>
          <a:xfrm>
            <a:off x="7333488" y="2395728"/>
            <a:ext cx="4114800" cy="1234440"/>
          </a:xfrm>
          <a:prstGeom prst="rect">
            <a:avLst/>
          </a:prstGeom>
          <a:noFill/>
        </p:spPr>
        <p:txBody>
          <a:bodyPr wrap="square" lIns="0" tIns="0" rIns="0" bIns="0" anchor="t">
            <a:spAutoFit/>
          </a:bodyPr>
          <a:lstStyle/>
          <a:p>
            <a:pPr marL="201168" indent="-201168" algn="l">
              <a:spcAft>
                <a:spcPts val="500"/>
              </a:spcAft>
              <a:buClr>
                <a:srgbClr val="003366"/>
              </a:buClr>
              <a:buChar char="•"/>
            </a:pPr>
            <a:r>
              <a:rPr sz="1400" b="0" i="0">
                <a:solidFill>
                  <a:srgbClr val="1D2330"/>
                </a:solidFill>
                <a:latin typeface="Avenir Next"/>
              </a:rPr>
              <a:t>Turn the instructions into a submission checklist.</a:t>
            </a:r>
          </a:p>
          <a:p>
            <a:pPr marL="201168" indent="-201168" algn="l">
              <a:spcAft>
                <a:spcPts val="500"/>
              </a:spcAft>
              <a:buClr>
                <a:srgbClr val="003366"/>
              </a:buClr>
              <a:buChar char="•"/>
            </a:pPr>
            <a:r>
              <a:rPr sz="1400" b="0" i="0">
                <a:solidFill>
                  <a:srgbClr val="1D2330"/>
                </a:solidFill>
                <a:latin typeface="Avenir Next"/>
              </a:rPr>
              <a:t>Get cited answers about deadlines, file formats, citations and upload problems.</a:t>
            </a:r>
          </a:p>
        </p:txBody>
      </p:sp>
      <p:sp>
        <p:nvSpPr>
          <p:cNvPr id="14" name="Rounded Rectangle 13"/>
          <p:cNvSpPr/>
          <p:nvPr/>
        </p:nvSpPr>
        <p:spPr>
          <a:xfrm>
            <a:off x="566928" y="3840480"/>
            <a:ext cx="11064240" cy="2331720"/>
          </a:xfrm>
          <a:prstGeom prst="roundRect">
            <a:avLst>
              <a:gd name="adj" fmla="val 5000"/>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3950208"/>
            <a:ext cx="10515600" cy="365760"/>
          </a:xfrm>
          <a:prstGeom prst="rect">
            <a:avLst/>
          </a:prstGeom>
          <a:noFill/>
        </p:spPr>
        <p:txBody>
          <a:bodyPr wrap="square" lIns="0" tIns="0" rIns="0" bIns="0" anchor="t">
            <a:spAutoFit/>
          </a:bodyPr>
          <a:lstStyle/>
          <a:p>
            <a:pPr algn="l"/>
            <a:r>
              <a:rPr sz="1600" b="1" i="0">
                <a:solidFill>
                  <a:srgbClr val="CC0000"/>
                </a:solidFill>
                <a:latin typeface="Avenir Next"/>
              </a:rPr>
              <a:t>Example: two length instructions need clarification</a:t>
            </a:r>
          </a:p>
        </p:txBody>
      </p:sp>
      <p:sp>
        <p:nvSpPr>
          <p:cNvPr id="16" name="Folded Corner 15"/>
          <p:cNvSpPr/>
          <p:nvPr/>
        </p:nvSpPr>
        <p:spPr>
          <a:xfrm>
            <a:off x="868680" y="4480560"/>
            <a:ext cx="2011680" cy="914400"/>
          </a:xfrm>
          <a:prstGeom prst="foldedCorner">
            <a:avLst/>
          </a:prstGeom>
          <a:solidFill>
            <a:srgbClr val="FFFFFF"/>
          </a:solidFill>
          <a:ln w="15875">
            <a:solidFill>
              <a:srgbClr val="003366"/>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400" b="1" i="0">
                <a:solidFill>
                  <a:srgbClr val="003366"/>
                </a:solidFill>
                <a:latin typeface="Avenir Next"/>
              </a:rPr>
              <a:t>Prompt: “2–3 pages”</a:t>
            </a:r>
          </a:p>
        </p:txBody>
      </p:sp>
      <p:sp>
        <p:nvSpPr>
          <p:cNvPr id="17" name="Folded Corner 16"/>
          <p:cNvSpPr/>
          <p:nvPr/>
        </p:nvSpPr>
        <p:spPr>
          <a:xfrm>
            <a:off x="3246120" y="4480560"/>
            <a:ext cx="2011680" cy="914400"/>
          </a:xfrm>
          <a:prstGeom prst="foldedCorner">
            <a:avLst/>
          </a:prstGeom>
          <a:solidFill>
            <a:srgbClr val="FFFFFF"/>
          </a:solidFill>
          <a:ln w="15875">
            <a:solidFill>
              <a:srgbClr val="003366"/>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400" b="1" i="0">
                <a:solidFill>
                  <a:srgbClr val="003366"/>
                </a:solidFill>
                <a:latin typeface="Avenir Next"/>
              </a:rPr>
              <a:t>Rubric: “600 words maximum”</a:t>
            </a:r>
          </a:p>
        </p:txBody>
      </p:sp>
      <p:sp>
        <p:nvSpPr>
          <p:cNvPr id="18" name="TextBox 17"/>
          <p:cNvSpPr txBox="1"/>
          <p:nvPr/>
        </p:nvSpPr>
        <p:spPr>
          <a:xfrm>
            <a:off x="2898648" y="4709160"/>
            <a:ext cx="347472" cy="457200"/>
          </a:xfrm>
          <a:prstGeom prst="rect">
            <a:avLst/>
          </a:prstGeom>
          <a:noFill/>
        </p:spPr>
        <p:txBody>
          <a:bodyPr wrap="square" lIns="0" tIns="0" rIns="0" bIns="0" anchor="t">
            <a:spAutoFit/>
          </a:bodyPr>
          <a:lstStyle/>
          <a:p>
            <a:pPr algn="ctr"/>
            <a:r>
              <a:rPr sz="2600" b="1" i="0">
                <a:solidFill>
                  <a:srgbClr val="CC0000"/>
                </a:solidFill>
                <a:latin typeface="Avenir Next"/>
              </a:rPr>
              <a:t>?</a:t>
            </a:r>
          </a:p>
        </p:txBody>
      </p:sp>
      <p:cxnSp>
        <p:nvCxnSpPr>
          <p:cNvPr id="19" name="Connector 18"/>
          <p:cNvCxnSpPr/>
          <p:nvPr/>
        </p:nvCxnSpPr>
        <p:spPr>
          <a:xfrm>
            <a:off x="5349240" y="4937760"/>
            <a:ext cx="457200" cy="0"/>
          </a:xfrm>
          <a:prstGeom prst="line">
            <a:avLst/>
          </a:prstGeom>
          <a:ln w="28575">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897880" y="4480560"/>
            <a:ext cx="2286000" cy="914400"/>
          </a:xfrm>
          <a:prstGeom prst="roundRect">
            <a:avLst>
              <a:gd name="adj" fmla="val 12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400" b="1" i="0">
                <a:solidFill>
                  <a:srgbClr val="003366"/>
                </a:solidFill>
                <a:latin typeface="Avenir Next"/>
              </a:rPr>
              <a:t>Question to the professor</a:t>
            </a:r>
          </a:p>
        </p:txBody>
      </p:sp>
      <p:sp>
        <p:nvSpPr>
          <p:cNvPr id="21" name="TextBox 20"/>
          <p:cNvSpPr txBox="1"/>
          <p:nvPr/>
        </p:nvSpPr>
        <p:spPr>
          <a:xfrm>
            <a:off x="8412480" y="4434840"/>
            <a:ext cx="3063240" cy="1691640"/>
          </a:xfrm>
          <a:prstGeom prst="rect">
            <a:avLst/>
          </a:prstGeom>
          <a:noFill/>
        </p:spPr>
        <p:txBody>
          <a:bodyPr wrap="square" lIns="0" tIns="0" rIns="0" bIns="0" anchor="t">
            <a:spAutoFit/>
          </a:bodyPr>
          <a:lstStyle/>
          <a:p>
            <a:pPr algn="l">
              <a:lnSpc>
                <a:spcPct val="105000"/>
              </a:lnSpc>
            </a:pPr>
            <a:r>
              <a:rPr sz="1300" b="0" i="0">
                <a:solidFill>
                  <a:srgbClr val="1D2330"/>
                </a:solidFill>
                <a:latin typeface="Avenir Next"/>
              </a:rPr>
              <a:t>The prompt says “2–3 pages”. The rubric says “600 words maximum”.</a:t>
            </a:r>
          </a:p>
          <a:p>
            <a:pPr algn="l">
              <a:lnSpc>
                <a:spcPct val="105000"/>
              </a:lnSpc>
              <a:spcBef>
                <a:spcPts val="400"/>
              </a:spcBef>
            </a:pPr>
            <a:r>
              <a:rPr sz="1300" b="1" i="0">
                <a:solidFill>
                  <a:srgbClr val="1D2330"/>
                </a:solidFill>
                <a:latin typeface="Avenir Next"/>
              </a:rPr>
              <a:t>The helper shows both and drafts a question for the professor.</a:t>
            </a:r>
          </a:p>
        </p:txBody>
      </p:sp>
      <p:sp>
        <p:nvSpPr>
          <p:cNvPr id="22" name="TextBox 21"/>
          <p:cNvSpPr txBox="1"/>
          <p:nvPr/>
        </p:nvSpPr>
        <p:spPr>
          <a:xfrm>
            <a:off x="868680" y="5577840"/>
            <a:ext cx="7498079" cy="365760"/>
          </a:xfrm>
          <a:prstGeom prst="rect">
            <a:avLst/>
          </a:prstGeom>
          <a:noFill/>
        </p:spPr>
        <p:txBody>
          <a:bodyPr wrap="square" lIns="0" tIns="0" rIns="0" bIns="0" anchor="t">
            <a:spAutoFit/>
          </a:bodyPr>
          <a:lstStyle/>
          <a:p>
            <a:pPr algn="l"/>
            <a:r>
              <a:rPr sz="1300" b="0" i="1">
                <a:solidFill>
                  <a:srgbClr val="4D4C55"/>
                </a:solidFill>
                <a:latin typeface="Avenir Next"/>
              </a:rPr>
              <a:t>It follows the course AI policy and leaves graded writing to the student.</a:t>
            </a:r>
          </a:p>
        </p:txBody>
      </p:sp>
      <p:sp>
        <p:nvSpPr>
          <p:cNvPr id="23"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24"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Rules the Student Helper follows</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Built into its instructions, so every answer stays within what the professor approved.</a:t>
            </a:r>
          </a:p>
        </p:txBody>
      </p:sp>
      <p:sp>
        <p:nvSpPr>
          <p:cNvPr id="27"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28"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10</a:t>
            </a:r>
          </a:p>
        </p:txBody>
      </p:sp>
      <p:sp>
        <p:nvSpPr>
          <p:cNvPr id="29" name="Rounded Rectangle 28"/>
          <p:cNvSpPr/>
          <p:nvPr/>
        </p:nvSpPr>
        <p:spPr>
          <a:xfrm>
            <a:off x="566928" y="1783080"/>
            <a:ext cx="3593592" cy="1920240"/>
          </a:xfrm>
          <a:prstGeom prst="roundRect">
            <a:avLst>
              <a:gd name="adj" fmla="val 8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768096" y="1984248"/>
            <a:ext cx="438912" cy="438912"/>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Avenir Next"/>
              </a:rPr>
              <a:t>1</a:t>
            </a:r>
          </a:p>
        </p:txBody>
      </p:sp>
      <p:sp>
        <p:nvSpPr>
          <p:cNvPr id="31" name="TextBox 30"/>
          <p:cNvSpPr txBox="1"/>
          <p:nvPr/>
        </p:nvSpPr>
        <p:spPr>
          <a:xfrm>
            <a:off x="1344168" y="1965960"/>
            <a:ext cx="2633472" cy="548640"/>
          </a:xfrm>
          <a:prstGeom prst="rect">
            <a:avLst/>
          </a:prstGeom>
          <a:noFill/>
        </p:spPr>
        <p:txBody>
          <a:bodyPr wrap="square" lIns="27432" tIns="27432" rIns="27432" bIns="27432" anchor="ctr">
            <a:spAutoFit/>
          </a:bodyPr>
          <a:lstStyle/>
          <a:p>
            <a:pPr algn="l">
              <a:spcAft>
                <a:spcPts val="300"/>
              </a:spcAft>
            </a:pPr>
            <a:r>
              <a:rPr sz="1450" b="1">
                <a:solidFill>
                  <a:srgbClr val="003366"/>
                </a:solidFill>
                <a:latin typeface="Avenir Next"/>
              </a:rPr>
              <a:t>Approved answers first</a:t>
            </a:r>
          </a:p>
        </p:txBody>
      </p:sp>
      <p:sp>
        <p:nvSpPr>
          <p:cNvPr id="32" name="TextBox 31"/>
          <p:cNvSpPr txBox="1"/>
          <p:nvPr/>
        </p:nvSpPr>
        <p:spPr>
          <a:xfrm>
            <a:off x="795528" y="2587752"/>
            <a:ext cx="3182112" cy="1051560"/>
          </a:xfrm>
          <a:prstGeom prst="rect">
            <a:avLst/>
          </a:prstGeom>
          <a:noFill/>
        </p:spPr>
        <p:txBody>
          <a:bodyPr wrap="square" lIns="27432" tIns="27432" rIns="27432" bIns="27432" anchor="t">
            <a:spAutoFit/>
          </a:bodyPr>
          <a:lstStyle/>
          <a:p>
            <a:pPr algn="l">
              <a:spcAft>
                <a:spcPts val="300"/>
              </a:spcAft>
            </a:pPr>
            <a:r>
              <a:rPr sz="1200" b="0">
                <a:solidFill>
                  <a:srgbClr val="4D4C55"/>
                </a:solidFill>
                <a:latin typeface="Avenir Next"/>
              </a:rPr>
              <a:t>Checks the professor’s answer bank and course pack, and names the source (A4, G5).</a:t>
            </a:r>
          </a:p>
        </p:txBody>
      </p:sp>
      <p:sp>
        <p:nvSpPr>
          <p:cNvPr id="33" name="Rounded Rectangle 32"/>
          <p:cNvSpPr/>
          <p:nvPr/>
        </p:nvSpPr>
        <p:spPr>
          <a:xfrm>
            <a:off x="4302252" y="1783080"/>
            <a:ext cx="3593592" cy="1920240"/>
          </a:xfrm>
          <a:prstGeom prst="roundRect">
            <a:avLst>
              <a:gd name="adj" fmla="val 8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4503420" y="1984248"/>
            <a:ext cx="438912" cy="438912"/>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Avenir Next"/>
              </a:rPr>
              <a:t>2</a:t>
            </a:r>
          </a:p>
        </p:txBody>
      </p:sp>
      <p:sp>
        <p:nvSpPr>
          <p:cNvPr id="35" name="TextBox 34"/>
          <p:cNvSpPr txBox="1"/>
          <p:nvPr/>
        </p:nvSpPr>
        <p:spPr>
          <a:xfrm>
            <a:off x="5079492" y="1965960"/>
            <a:ext cx="2633472" cy="548640"/>
          </a:xfrm>
          <a:prstGeom prst="rect">
            <a:avLst/>
          </a:prstGeom>
          <a:noFill/>
        </p:spPr>
        <p:txBody>
          <a:bodyPr wrap="square" lIns="27432" tIns="27432" rIns="27432" bIns="27432" anchor="ctr">
            <a:spAutoFit/>
          </a:bodyPr>
          <a:lstStyle/>
          <a:p>
            <a:pPr algn="l">
              <a:spcAft>
                <a:spcPts val="300"/>
              </a:spcAft>
            </a:pPr>
            <a:r>
              <a:rPr sz="1450" b="1">
                <a:solidFill>
                  <a:srgbClr val="003366"/>
                </a:solidFill>
                <a:latin typeface="Avenir Next"/>
              </a:rPr>
              <a:t>Never guesses</a:t>
            </a:r>
          </a:p>
        </p:txBody>
      </p:sp>
      <p:sp>
        <p:nvSpPr>
          <p:cNvPr id="36" name="TextBox 35"/>
          <p:cNvSpPr txBox="1"/>
          <p:nvPr/>
        </p:nvSpPr>
        <p:spPr>
          <a:xfrm>
            <a:off x="4530852" y="2587752"/>
            <a:ext cx="3182112" cy="1051560"/>
          </a:xfrm>
          <a:prstGeom prst="rect">
            <a:avLst/>
          </a:prstGeom>
          <a:noFill/>
        </p:spPr>
        <p:txBody>
          <a:bodyPr wrap="square" lIns="27432" tIns="27432" rIns="27432" bIns="27432" anchor="t">
            <a:spAutoFit/>
          </a:bodyPr>
          <a:lstStyle/>
          <a:p>
            <a:pPr algn="l">
              <a:spcAft>
                <a:spcPts val="300"/>
              </a:spcAft>
            </a:pPr>
            <a:r>
              <a:rPr sz="1200" b="0">
                <a:solidFill>
                  <a:srgbClr val="4D4C55"/>
                </a:solidFill>
                <a:latin typeface="Avenir Next"/>
              </a:rPr>
              <a:t>No answer yet? It says “That’s a new question” and drafts a message for the professor.</a:t>
            </a:r>
          </a:p>
        </p:txBody>
      </p:sp>
      <p:sp>
        <p:nvSpPr>
          <p:cNvPr id="37" name="Rounded Rectangle 36"/>
          <p:cNvSpPr/>
          <p:nvPr/>
        </p:nvSpPr>
        <p:spPr>
          <a:xfrm>
            <a:off x="8037575" y="1783080"/>
            <a:ext cx="3593592" cy="1920240"/>
          </a:xfrm>
          <a:prstGeom prst="roundRect">
            <a:avLst>
              <a:gd name="adj" fmla="val 8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8238744" y="1984248"/>
            <a:ext cx="438912" cy="438912"/>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Avenir Next"/>
              </a:rPr>
              <a:t>3</a:t>
            </a:r>
          </a:p>
        </p:txBody>
      </p:sp>
      <p:sp>
        <p:nvSpPr>
          <p:cNvPr id="39" name="TextBox 38"/>
          <p:cNvSpPr txBox="1"/>
          <p:nvPr/>
        </p:nvSpPr>
        <p:spPr>
          <a:xfrm>
            <a:off x="8814815" y="1965960"/>
            <a:ext cx="2633472" cy="548640"/>
          </a:xfrm>
          <a:prstGeom prst="rect">
            <a:avLst/>
          </a:prstGeom>
          <a:noFill/>
        </p:spPr>
        <p:txBody>
          <a:bodyPr wrap="square" lIns="27432" tIns="27432" rIns="27432" bIns="27432" anchor="ctr">
            <a:spAutoFit/>
          </a:bodyPr>
          <a:lstStyle/>
          <a:p>
            <a:pPr algn="l">
              <a:spcAft>
                <a:spcPts val="300"/>
              </a:spcAft>
            </a:pPr>
            <a:r>
              <a:rPr sz="1450" b="1">
                <a:solidFill>
                  <a:srgbClr val="003366"/>
                </a:solidFill>
                <a:latin typeface="Avenir Next"/>
              </a:rPr>
              <a:t>Newest official update wins</a:t>
            </a:r>
          </a:p>
        </p:txBody>
      </p:sp>
      <p:sp>
        <p:nvSpPr>
          <p:cNvPr id="40" name="TextBox 39"/>
          <p:cNvSpPr txBox="1"/>
          <p:nvPr/>
        </p:nvSpPr>
        <p:spPr>
          <a:xfrm>
            <a:off x="8266175" y="2587752"/>
            <a:ext cx="3182112" cy="1051560"/>
          </a:xfrm>
          <a:prstGeom prst="rect">
            <a:avLst/>
          </a:prstGeom>
          <a:noFill/>
        </p:spPr>
        <p:txBody>
          <a:bodyPr wrap="square" lIns="27432" tIns="27432" rIns="27432" bIns="27432" anchor="t">
            <a:spAutoFit/>
          </a:bodyPr>
          <a:lstStyle/>
          <a:p>
            <a:pPr algn="l">
              <a:spcAft>
                <a:spcPts val="300"/>
              </a:spcAft>
            </a:pPr>
            <a:r>
              <a:rPr sz="1200" b="0">
                <a:solidFill>
                  <a:srgbClr val="4D4C55"/>
                </a:solidFill>
                <a:latin typeface="Avenir Next"/>
              </a:rPr>
              <a:t>A posted announcement beats an older answer. If two instructions disagree, it shows both and asks.</a:t>
            </a:r>
          </a:p>
        </p:txBody>
      </p:sp>
      <p:sp>
        <p:nvSpPr>
          <p:cNvPr id="41" name="Rounded Rectangle 40"/>
          <p:cNvSpPr/>
          <p:nvPr/>
        </p:nvSpPr>
        <p:spPr>
          <a:xfrm>
            <a:off x="566928" y="3867912"/>
            <a:ext cx="3593592" cy="1920240"/>
          </a:xfrm>
          <a:prstGeom prst="roundRect">
            <a:avLst>
              <a:gd name="adj" fmla="val 8000"/>
            </a:avLst>
          </a:prstGeom>
          <a:solidFill>
            <a:srgbClr val="FBF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768096" y="4069080"/>
            <a:ext cx="438912" cy="438912"/>
          </a:xfrm>
          <a:prstGeom prst="ellipse">
            <a:avLst/>
          </a:prstGeom>
          <a:solidFill>
            <a:srgbClr val="A864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Avenir Next"/>
              </a:rPr>
              <a:t>4</a:t>
            </a:r>
          </a:p>
        </p:txBody>
      </p:sp>
      <p:sp>
        <p:nvSpPr>
          <p:cNvPr id="43" name="TextBox 42"/>
          <p:cNvSpPr txBox="1"/>
          <p:nvPr/>
        </p:nvSpPr>
        <p:spPr>
          <a:xfrm>
            <a:off x="1344168" y="4050792"/>
            <a:ext cx="2633472" cy="548640"/>
          </a:xfrm>
          <a:prstGeom prst="rect">
            <a:avLst/>
          </a:prstGeom>
          <a:noFill/>
        </p:spPr>
        <p:txBody>
          <a:bodyPr wrap="square" lIns="27432" tIns="27432" rIns="27432" bIns="27432" anchor="ctr">
            <a:spAutoFit/>
          </a:bodyPr>
          <a:lstStyle/>
          <a:p>
            <a:pPr algn="l">
              <a:spcAft>
                <a:spcPts val="300"/>
              </a:spcAft>
            </a:pPr>
            <a:r>
              <a:rPr sz="1450" b="1">
                <a:solidFill>
                  <a:srgbClr val="A86400"/>
                </a:solidFill>
                <a:latin typeface="Avenir Next"/>
              </a:rPr>
              <a:t>Course AI policy</a:t>
            </a:r>
          </a:p>
        </p:txBody>
      </p:sp>
      <p:sp>
        <p:nvSpPr>
          <p:cNvPr id="44" name="TextBox 43"/>
          <p:cNvSpPr txBox="1"/>
          <p:nvPr/>
        </p:nvSpPr>
        <p:spPr>
          <a:xfrm>
            <a:off x="795528" y="4672584"/>
            <a:ext cx="3182112" cy="1051560"/>
          </a:xfrm>
          <a:prstGeom prst="rect">
            <a:avLst/>
          </a:prstGeom>
          <a:noFill/>
        </p:spPr>
        <p:txBody>
          <a:bodyPr wrap="square" lIns="27432" tIns="27432" rIns="27432" bIns="27432" anchor="t">
            <a:spAutoFit/>
          </a:bodyPr>
          <a:lstStyle/>
          <a:p>
            <a:pPr algn="l">
              <a:spcAft>
                <a:spcPts val="300"/>
              </a:spcAft>
            </a:pPr>
            <a:r>
              <a:rPr sz="1200" b="0">
                <a:solidFill>
                  <a:srgbClr val="4D4C55"/>
                </a:solidFill>
                <a:latin typeface="Avenir Next"/>
              </a:rPr>
              <a:t>Explains, makes checklists and gives feedback on the student’s own draft. Never writes graded work.</a:t>
            </a:r>
          </a:p>
        </p:txBody>
      </p:sp>
      <p:sp>
        <p:nvSpPr>
          <p:cNvPr id="45" name="Rounded Rectangle 44"/>
          <p:cNvSpPr/>
          <p:nvPr/>
        </p:nvSpPr>
        <p:spPr>
          <a:xfrm>
            <a:off x="4302252" y="3867912"/>
            <a:ext cx="3593592" cy="1920240"/>
          </a:xfrm>
          <a:prstGeom prst="roundRect">
            <a:avLst>
              <a:gd name="adj" fmla="val 8000"/>
            </a:avLst>
          </a:prstGeom>
          <a:solidFill>
            <a:srgbClr val="FBF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4503420" y="4069080"/>
            <a:ext cx="438912" cy="438912"/>
          </a:xfrm>
          <a:prstGeom prst="ellipse">
            <a:avLst/>
          </a:prstGeom>
          <a:solidFill>
            <a:srgbClr val="A864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Avenir Next"/>
              </a:rPr>
              <a:t>5</a:t>
            </a:r>
          </a:p>
        </p:txBody>
      </p:sp>
      <p:sp>
        <p:nvSpPr>
          <p:cNvPr id="47" name="TextBox 46"/>
          <p:cNvSpPr txBox="1"/>
          <p:nvPr/>
        </p:nvSpPr>
        <p:spPr>
          <a:xfrm>
            <a:off x="5079492" y="4050792"/>
            <a:ext cx="2633472" cy="548640"/>
          </a:xfrm>
          <a:prstGeom prst="rect">
            <a:avLst/>
          </a:prstGeom>
          <a:noFill/>
        </p:spPr>
        <p:txBody>
          <a:bodyPr wrap="square" lIns="27432" tIns="27432" rIns="27432" bIns="27432" anchor="ctr">
            <a:spAutoFit/>
          </a:bodyPr>
          <a:lstStyle/>
          <a:p>
            <a:pPr algn="l">
              <a:spcAft>
                <a:spcPts val="300"/>
              </a:spcAft>
            </a:pPr>
            <a:r>
              <a:rPr sz="1450" b="1">
                <a:solidFill>
                  <a:srgbClr val="A86400"/>
                </a:solidFill>
                <a:latin typeface="Avenir Next"/>
              </a:rPr>
              <a:t>Only the professor’s links</a:t>
            </a:r>
          </a:p>
        </p:txBody>
      </p:sp>
      <p:sp>
        <p:nvSpPr>
          <p:cNvPr id="48" name="TextBox 47"/>
          <p:cNvSpPr txBox="1"/>
          <p:nvPr/>
        </p:nvSpPr>
        <p:spPr>
          <a:xfrm>
            <a:off x="4530852" y="4672584"/>
            <a:ext cx="3182112" cy="1051560"/>
          </a:xfrm>
          <a:prstGeom prst="rect">
            <a:avLst/>
          </a:prstGeom>
          <a:noFill/>
        </p:spPr>
        <p:txBody>
          <a:bodyPr wrap="square" lIns="27432" tIns="27432" rIns="27432" bIns="27432" anchor="t">
            <a:spAutoFit/>
          </a:bodyPr>
          <a:lstStyle/>
          <a:p>
            <a:pPr algn="l">
              <a:spcAft>
                <a:spcPts val="300"/>
              </a:spcAft>
            </a:pPr>
            <a:r>
              <a:rPr sz="1200" b="0">
                <a:solidFill>
                  <a:srgbClr val="4D4C55"/>
                </a:solidFill>
                <a:latin typeface="Avenir Next"/>
              </a:rPr>
              <a:t>Gives a reading’s link exactly as posted. Never invents or “fixes” a link.</a:t>
            </a:r>
          </a:p>
        </p:txBody>
      </p:sp>
      <p:sp>
        <p:nvSpPr>
          <p:cNvPr id="49" name="Rounded Rectangle 48"/>
          <p:cNvSpPr/>
          <p:nvPr/>
        </p:nvSpPr>
        <p:spPr>
          <a:xfrm>
            <a:off x="8037575" y="3867912"/>
            <a:ext cx="3593592" cy="1920240"/>
          </a:xfrm>
          <a:prstGeom prst="roundRect">
            <a:avLst>
              <a:gd name="adj" fmla="val 8000"/>
            </a:avLst>
          </a:prstGeom>
          <a:solidFill>
            <a:srgbClr val="FBF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8238744" y="4069080"/>
            <a:ext cx="438912" cy="438912"/>
          </a:xfrm>
          <a:prstGeom prst="ellipse">
            <a:avLst/>
          </a:prstGeom>
          <a:solidFill>
            <a:srgbClr val="A864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Avenir Next"/>
              </a:rPr>
              <a:t>6</a:t>
            </a:r>
          </a:p>
        </p:txBody>
      </p:sp>
      <p:sp>
        <p:nvSpPr>
          <p:cNvPr id="51" name="TextBox 50"/>
          <p:cNvSpPr txBox="1"/>
          <p:nvPr/>
        </p:nvSpPr>
        <p:spPr>
          <a:xfrm>
            <a:off x="8814815" y="4050792"/>
            <a:ext cx="2633472" cy="548640"/>
          </a:xfrm>
          <a:prstGeom prst="rect">
            <a:avLst/>
          </a:prstGeom>
          <a:noFill/>
        </p:spPr>
        <p:txBody>
          <a:bodyPr wrap="square" lIns="27432" tIns="27432" rIns="27432" bIns="27432" anchor="ctr">
            <a:spAutoFit/>
          </a:bodyPr>
          <a:lstStyle/>
          <a:p>
            <a:pPr algn="l">
              <a:spcAft>
                <a:spcPts val="300"/>
              </a:spcAft>
            </a:pPr>
            <a:r>
              <a:rPr sz="1450" b="1">
                <a:solidFill>
                  <a:srgbClr val="A86400"/>
                </a:solidFill>
                <a:latin typeface="Avenir Next"/>
              </a:rPr>
              <a:t>Private and hands-off</a:t>
            </a:r>
          </a:p>
        </p:txBody>
      </p:sp>
      <p:sp>
        <p:nvSpPr>
          <p:cNvPr id="52" name="TextBox 51"/>
          <p:cNvSpPr txBox="1"/>
          <p:nvPr/>
        </p:nvSpPr>
        <p:spPr>
          <a:xfrm>
            <a:off x="8266175" y="4672584"/>
            <a:ext cx="3182112" cy="1051560"/>
          </a:xfrm>
          <a:prstGeom prst="rect">
            <a:avLst/>
          </a:prstGeom>
          <a:noFill/>
        </p:spPr>
        <p:txBody>
          <a:bodyPr wrap="square" lIns="27432" tIns="27432" rIns="27432" bIns="27432" anchor="t">
            <a:spAutoFit/>
          </a:bodyPr>
          <a:lstStyle/>
          <a:p>
            <a:pPr algn="l">
              <a:spcAft>
                <a:spcPts val="300"/>
              </a:spcAft>
            </a:pPr>
            <a:r>
              <a:rPr sz="1200" b="0">
                <a:solidFill>
                  <a:srgbClr val="4D4C55"/>
                </a:solidFill>
                <a:latin typeface="Avenir Next"/>
              </a:rPr>
              <a:t>Never asks for grades, passwords or health details. It drafts; the student sends.</a:t>
            </a:r>
          </a:p>
        </p:txBody>
      </p:sp>
      <p:sp>
        <p:nvSpPr>
          <p:cNvPr id="53" name="TextBox 52"/>
          <p:cNvSpPr txBox="1"/>
          <p:nvPr/>
        </p:nvSpPr>
        <p:spPr>
          <a:xfrm>
            <a:off x="566928" y="6144768"/>
            <a:ext cx="11064240" cy="274320"/>
          </a:xfrm>
          <a:prstGeom prst="rect">
            <a:avLst/>
          </a:prstGeom>
          <a:noFill/>
        </p:spPr>
        <p:txBody>
          <a:bodyPr wrap="square" lIns="27432" tIns="27432" rIns="27432" bIns="27432" anchor="t">
            <a:spAutoFit/>
          </a:bodyPr>
          <a:lstStyle/>
          <a:p>
            <a:pPr algn="l">
              <a:spcAft>
                <a:spcPts val="300"/>
              </a:spcAft>
            </a:pPr>
            <a:r>
              <a:rPr sz="1050" b="0">
                <a:solidFill>
                  <a:srgbClr val="6B6A73"/>
                </a:solidFill>
                <a:latin typeface="Avenir Next"/>
              </a:rPr>
              <a:t>Rules 1–3 keep answers accurate. Rules 4–6 keep them honest and private.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When students can’t find the reading</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Assignments often say “read an article” without a clear link or Canvas location.</a:t>
            </a:r>
          </a:p>
        </p:txBody>
      </p:sp>
      <p:sp>
        <p:nvSpPr>
          <p:cNvPr id="4" name="Oval 3"/>
          <p:cNvSpPr/>
          <p:nvPr/>
        </p:nvSpPr>
        <p:spPr>
          <a:xfrm>
            <a:off x="841248" y="1874519"/>
            <a:ext cx="329184" cy="329184"/>
          </a:xfrm>
          <a:prstGeom prst="ellipse">
            <a:avLst/>
          </a:prstGeom>
          <a:solidFill>
            <a:srgbClr val="126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 Same Side Corner Rectangle 4"/>
          <p:cNvSpPr/>
          <p:nvPr/>
        </p:nvSpPr>
        <p:spPr>
          <a:xfrm>
            <a:off x="685800" y="2240279"/>
            <a:ext cx="640080" cy="384048"/>
          </a:xfrm>
          <a:prstGeom prst="round2SameRect">
            <a:avLst/>
          </a:prstGeom>
          <a:solidFill>
            <a:srgbClr val="126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ular Callout 5"/>
          <p:cNvSpPr/>
          <p:nvPr/>
        </p:nvSpPr>
        <p:spPr>
          <a:xfrm>
            <a:off x="1463040" y="1783080"/>
            <a:ext cx="2788920" cy="868680"/>
          </a:xfrm>
          <a:prstGeom prst="wedgeRoundRectCallout">
            <a:avLst/>
          </a:prstGeom>
          <a:solidFill>
            <a:srgbClr val="FFFFFF"/>
          </a:solidFill>
          <a:ln w="15875">
            <a:solidFill>
              <a:srgbClr val="126BD9"/>
            </a:solidFill>
          </a:ln>
          <a:effectLst/>
        </p:spPr>
        <p:style>
          <a:lnRef idx="1">
            <a:schemeClr val="accent1"/>
          </a:lnRef>
          <a:fillRef idx="3">
            <a:schemeClr val="accent1"/>
          </a:fillRef>
          <a:effectRef idx="2">
            <a:schemeClr val="accent1"/>
          </a:effectRef>
          <a:fontRef idx="minor">
            <a:schemeClr val="lt1"/>
          </a:fontRef>
        </p:style>
        <p:txBody>
          <a:bodyPr wrap="square" lIns="128016" rIns="128016" rtlCol="0" anchor="ctr"/>
          <a:lstStyle/>
          <a:p>
            <a:pPr algn="l"/>
            <a:r>
              <a:rPr sz="1300" b="1" i="0">
                <a:solidFill>
                  <a:srgbClr val="1D2330"/>
                </a:solidFill>
                <a:latin typeface="Avenir Next"/>
              </a:rPr>
              <a:t>“Where can I find the reading for the memo?”</a:t>
            </a:r>
          </a:p>
        </p:txBody>
      </p:sp>
      <p:cxnSp>
        <p:nvCxnSpPr>
          <p:cNvPr id="7" name="Connector 6"/>
          <p:cNvCxnSpPr/>
          <p:nvPr/>
        </p:nvCxnSpPr>
        <p:spPr>
          <a:xfrm>
            <a:off x="2834640" y="2697480"/>
            <a:ext cx="0" cy="320040"/>
          </a:xfrm>
          <a:prstGeom prst="line">
            <a:avLst/>
          </a:prstGeom>
          <a:ln w="25400">
            <a:solidFill>
              <a:srgbClr val="126BD9"/>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1463040" y="3063240"/>
            <a:ext cx="2788920" cy="1097280"/>
          </a:xfrm>
          <a:prstGeom prst="roundRect">
            <a:avLst>
              <a:gd name="adj" fmla="val 10000"/>
            </a:avLst>
          </a:prstGeom>
          <a:solidFill>
            <a:srgbClr val="126BD9"/>
          </a:solidFill>
          <a:ln>
            <a:noFill/>
          </a:ln>
          <a:effectLst/>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r>
              <a:rPr sz="1700" b="1" i="0">
                <a:solidFill>
                  <a:srgbClr val="FFFFFF"/>
                </a:solidFill>
                <a:latin typeface="Avenir Next"/>
              </a:rPr>
              <a:t>Student Helper</a:t>
            </a:r>
          </a:p>
          <a:p>
            <a:pPr algn="l"/>
            <a:r>
              <a:rPr sz="1200" b="0" i="0">
                <a:solidFill>
                  <a:srgbClr val="FFFFFF"/>
                </a:solidFill>
                <a:latin typeface="Avenir Next"/>
              </a:rPr>
              <a:t>checks the course pack: readings, prompt, announcements</a:t>
            </a:r>
          </a:p>
        </p:txBody>
      </p:sp>
      <p:cxnSp>
        <p:nvCxnSpPr>
          <p:cNvPr id="9" name="Connector 8"/>
          <p:cNvCxnSpPr/>
          <p:nvPr/>
        </p:nvCxnSpPr>
        <p:spPr>
          <a:xfrm flipV="1">
            <a:off x="4279392" y="2331720"/>
            <a:ext cx="521208" cy="1051560"/>
          </a:xfrm>
          <a:prstGeom prst="line">
            <a:avLst/>
          </a:prstGeom>
          <a:ln w="25400">
            <a:solidFill>
              <a:srgbClr val="1E7B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46320" y="1691640"/>
            <a:ext cx="6784848" cy="1234440"/>
          </a:xfrm>
          <a:prstGeom prst="roundRect">
            <a:avLst>
              <a:gd name="adj" fmla="val 6000"/>
            </a:avLst>
          </a:prstGeom>
          <a:solidFill>
            <a:srgbClr val="E8F4EC"/>
          </a:solidFill>
          <a:ln w="15875">
            <a:solidFill>
              <a:srgbClr val="1E7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029200" y="1810512"/>
            <a:ext cx="1920240" cy="274320"/>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100" b="1" i="0">
                <a:solidFill>
                  <a:srgbClr val="FFFFFF"/>
                </a:solidFill>
                <a:latin typeface="Avenir Next"/>
              </a:rPr>
              <a:t>INSTRUCTOR GAVE IT</a:t>
            </a:r>
          </a:p>
        </p:txBody>
      </p:sp>
      <p:sp>
        <p:nvSpPr>
          <p:cNvPr id="12" name="TextBox 11"/>
          <p:cNvSpPr txBox="1"/>
          <p:nvPr/>
        </p:nvSpPr>
        <p:spPr>
          <a:xfrm>
            <a:off x="5029200" y="2157984"/>
            <a:ext cx="6400800" cy="1005840"/>
          </a:xfrm>
          <a:prstGeom prst="rect">
            <a:avLst/>
          </a:prstGeom>
          <a:noFill/>
        </p:spPr>
        <p:txBody>
          <a:bodyPr wrap="square" lIns="0" tIns="0" rIns="0" bIns="0" anchor="t">
            <a:spAutoFit/>
          </a:bodyPr>
          <a:lstStyle/>
          <a:p>
            <a:pPr algn="l">
              <a:lnSpc>
                <a:spcPct val="100000"/>
              </a:lnSpc>
            </a:pPr>
            <a:r>
              <a:rPr sz="1400" b="1" i="0">
                <a:solidFill>
                  <a:srgbClr val="003366"/>
                </a:solidFill>
                <a:latin typeface="Avenir Next"/>
              </a:rPr>
              <a:t>Exact title, Canvas location and the link as the instructor posted it</a:t>
            </a:r>
          </a:p>
          <a:p>
            <a:pPr algn="l">
              <a:lnSpc>
                <a:spcPct val="100000"/>
              </a:lnSpc>
              <a:spcBef>
                <a:spcPts val="300"/>
              </a:spcBef>
            </a:pPr>
            <a:r>
              <a:rPr sz="1200" b="0" i="0">
                <a:solidFill>
                  <a:srgbClr val="1D2330"/>
                </a:solidFill>
                <a:latin typeface="Avenir Next"/>
              </a:rPr>
              <a:t>Reading 1 · Modules → Week 1 → Readings · openstax.org … /2-1-overview-of-managerial-decision-making</a:t>
            </a:r>
          </a:p>
        </p:txBody>
      </p:sp>
      <p:cxnSp>
        <p:nvCxnSpPr>
          <p:cNvPr id="13" name="Connector 12"/>
          <p:cNvCxnSpPr/>
          <p:nvPr/>
        </p:nvCxnSpPr>
        <p:spPr>
          <a:xfrm>
            <a:off x="4279392" y="3840480"/>
            <a:ext cx="521208" cy="91440"/>
          </a:xfrm>
          <a:prstGeom prst="line">
            <a:avLst/>
          </a:prstGeom>
          <a:ln w="25400">
            <a:solidFill>
              <a:srgbClr val="A864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846320" y="3291840"/>
            <a:ext cx="6784848" cy="1234440"/>
          </a:xfrm>
          <a:prstGeom prst="roundRect">
            <a:avLst>
              <a:gd name="adj" fmla="val 6000"/>
            </a:avLst>
          </a:prstGeom>
          <a:solidFill>
            <a:srgbClr val="FBF2E2"/>
          </a:solidFill>
          <a:ln w="15875">
            <a:solidFill>
              <a:srgbClr val="A86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029200" y="3410712"/>
            <a:ext cx="1737360" cy="274320"/>
          </a:xfrm>
          <a:prstGeom prst="roundRect">
            <a:avLst>
              <a:gd name="adj" fmla="val 50000"/>
            </a:avLst>
          </a:prstGeom>
          <a:solidFill>
            <a:srgbClr val="A86400"/>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100" b="1" i="0">
                <a:solidFill>
                  <a:srgbClr val="FFFFFF"/>
                </a:solidFill>
                <a:latin typeface="Avenir Next"/>
              </a:rPr>
              <a:t>NO SOURCE GIVEN</a:t>
            </a:r>
          </a:p>
        </p:txBody>
      </p:sp>
      <p:sp>
        <p:nvSpPr>
          <p:cNvPr id="16" name="TextBox 15"/>
          <p:cNvSpPr txBox="1"/>
          <p:nvPr/>
        </p:nvSpPr>
        <p:spPr>
          <a:xfrm>
            <a:off x="5029200" y="3758184"/>
            <a:ext cx="6400800" cy="1005840"/>
          </a:xfrm>
          <a:prstGeom prst="rect">
            <a:avLst/>
          </a:prstGeom>
          <a:noFill/>
        </p:spPr>
        <p:txBody>
          <a:bodyPr wrap="square" lIns="0" tIns="0" rIns="0" bIns="0" anchor="t">
            <a:spAutoFit/>
          </a:bodyPr>
          <a:lstStyle/>
          <a:p>
            <a:pPr algn="l">
              <a:lnSpc>
                <a:spcPct val="100000"/>
              </a:lnSpc>
            </a:pPr>
            <a:r>
              <a:rPr sz="1400" b="1" i="0">
                <a:solidFill>
                  <a:srgbClr val="003366"/>
                </a:solidFill>
                <a:latin typeface="Avenir Next"/>
              </a:rPr>
              <a:t>Says so, points to FAU Libraries (library.fau.edu), drafts a question</a:t>
            </a:r>
          </a:p>
          <a:p>
            <a:pPr algn="l">
              <a:lnSpc>
                <a:spcPct val="100000"/>
              </a:lnSpc>
              <a:spcBef>
                <a:spcPts val="300"/>
              </a:spcBef>
            </a:pPr>
            <a:r>
              <a:rPr sz="1200" b="0" i="0">
                <a:solidFill>
                  <a:srgbClr val="1D2330"/>
                </a:solidFill>
                <a:latin typeface="Avenir Next"/>
              </a:rPr>
              <a:t>“New question for the course FAQ: where to find the outside article”</a:t>
            </a:r>
          </a:p>
        </p:txBody>
      </p:sp>
      <p:sp>
        <p:nvSpPr>
          <p:cNvPr id="17" name="Rounded Rectangle 16"/>
          <p:cNvSpPr/>
          <p:nvPr/>
        </p:nvSpPr>
        <p:spPr>
          <a:xfrm>
            <a:off x="566928" y="4389120"/>
            <a:ext cx="3685032" cy="1051560"/>
          </a:xfrm>
          <a:prstGeom prst="roundRect">
            <a:avLst>
              <a:gd name="adj" fmla="val 6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4480560"/>
            <a:ext cx="3337560" cy="914400"/>
          </a:xfrm>
          <a:prstGeom prst="rect">
            <a:avLst/>
          </a:prstGeom>
          <a:noFill/>
        </p:spPr>
        <p:txBody>
          <a:bodyPr wrap="square" lIns="0" tIns="0" rIns="0" bIns="0" anchor="t">
            <a:spAutoFit/>
          </a:bodyPr>
          <a:lstStyle/>
          <a:p>
            <a:pPr algn="l">
              <a:lnSpc>
                <a:spcPct val="100000"/>
              </a:lnSpc>
            </a:pPr>
            <a:r>
              <a:rPr sz="1400" b="1" i="0">
                <a:solidFill>
                  <a:srgbClr val="FFFFFF"/>
                </a:solidFill>
                <a:latin typeface="Avenir Next"/>
              </a:rPr>
              <a:t>Instructor Desk: readings check</a:t>
            </a:r>
          </a:p>
          <a:p>
            <a:pPr algn="l">
              <a:lnSpc>
                <a:spcPct val="100000"/>
              </a:lnSpc>
              <a:spcBef>
                <a:spcPts val="300"/>
              </a:spcBef>
            </a:pPr>
            <a:r>
              <a:rPr sz="1200" b="0" i="0">
                <a:solidFill>
                  <a:srgbClr val="D5E0EC"/>
                </a:solidFill>
                <a:latin typeface="Avenir Next"/>
              </a:rPr>
              <a:t>Flags readings with no title, location or link, and lists every link for the professor to click once.</a:t>
            </a:r>
          </a:p>
        </p:txBody>
      </p:sp>
      <p:sp>
        <p:nvSpPr>
          <p:cNvPr id="19" name="Rounded Rectangle 18"/>
          <p:cNvSpPr/>
          <p:nvPr/>
        </p:nvSpPr>
        <p:spPr>
          <a:xfrm>
            <a:off x="566928" y="5715000"/>
            <a:ext cx="11064240" cy="457200"/>
          </a:xfrm>
          <a:prstGeom prst="roundRect">
            <a:avLst>
              <a:gd name="adj" fmla="val 30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CC0000"/>
                </a:solidFill>
                <a:latin typeface="Avenir Next"/>
              </a:rPr>
              <a:t>It never invents or “fixes” a link. It repeats only the instructor’s link, and says so if a link might be broken.</a:t>
            </a:r>
          </a:p>
        </p:txBody>
      </p:sp>
      <p:sp>
        <p:nvSpPr>
          <p:cNvPr id="20"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21"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How approved answers reach the next student</a:t>
            </a:r>
          </a:p>
        </p:txBody>
      </p:sp>
      <p:sp>
        <p:nvSpPr>
          <p:cNvPr id="3" name="Rounded Rectangle 2"/>
          <p:cNvSpPr/>
          <p:nvPr/>
        </p:nvSpPr>
        <p:spPr>
          <a:xfrm>
            <a:off x="566928" y="1280160"/>
            <a:ext cx="4041648" cy="1417320"/>
          </a:xfrm>
          <a:prstGeom prst="roundRect">
            <a:avLst>
              <a:gd name="adj" fmla="val 8000"/>
            </a:avLst>
          </a:prstGeom>
          <a:solidFill>
            <a:srgbClr val="FBFAF7"/>
          </a:solidFill>
          <a:ln w="22225">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49808" y="1463039"/>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400" b="1" i="0">
                <a:solidFill>
                  <a:srgbClr val="FFFFFF"/>
                </a:solidFill>
                <a:latin typeface="Avenir Next"/>
              </a:rPr>
              <a:t>01</a:t>
            </a:r>
          </a:p>
        </p:txBody>
      </p:sp>
      <p:sp>
        <p:nvSpPr>
          <p:cNvPr id="5" name="TextBox 4"/>
          <p:cNvSpPr txBox="1"/>
          <p:nvPr/>
        </p:nvSpPr>
        <p:spPr>
          <a:xfrm>
            <a:off x="1389888" y="1417319"/>
            <a:ext cx="3063240" cy="123444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The student asks a new question</a:t>
            </a:r>
          </a:p>
          <a:p>
            <a:pPr algn="l">
              <a:lnSpc>
                <a:spcPct val="105000"/>
              </a:lnSpc>
              <a:spcBef>
                <a:spcPts val="300"/>
              </a:spcBef>
            </a:pPr>
            <a:r>
              <a:rPr sz="1300" b="0" i="0">
                <a:solidFill>
                  <a:srgbClr val="1D2330"/>
                </a:solidFill>
                <a:latin typeface="Avenir Next"/>
              </a:rPr>
              <a:t>The helper drafts a message for the professor instead of inventing an answer.</a:t>
            </a:r>
          </a:p>
        </p:txBody>
      </p:sp>
      <p:sp>
        <p:nvSpPr>
          <p:cNvPr id="6" name="Rounded Rectangle 5"/>
          <p:cNvSpPr/>
          <p:nvPr/>
        </p:nvSpPr>
        <p:spPr>
          <a:xfrm>
            <a:off x="7589520" y="1280160"/>
            <a:ext cx="4041648" cy="1417320"/>
          </a:xfrm>
          <a:prstGeom prst="roundRect">
            <a:avLst>
              <a:gd name="adj" fmla="val 8000"/>
            </a:avLst>
          </a:prstGeom>
          <a:solidFill>
            <a:srgbClr val="FBFAF7"/>
          </a:solidFill>
          <a:ln w="22225">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0" y="1463039"/>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400" b="1" i="0">
                <a:solidFill>
                  <a:srgbClr val="FFFFFF"/>
                </a:solidFill>
                <a:latin typeface="Avenir Next"/>
              </a:rPr>
              <a:t>02</a:t>
            </a:r>
          </a:p>
        </p:txBody>
      </p:sp>
      <p:sp>
        <p:nvSpPr>
          <p:cNvPr id="8" name="TextBox 7"/>
          <p:cNvSpPr txBox="1"/>
          <p:nvPr/>
        </p:nvSpPr>
        <p:spPr>
          <a:xfrm>
            <a:off x="8412480" y="1417319"/>
            <a:ext cx="3063240" cy="123444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The professor answers once</a:t>
            </a:r>
          </a:p>
          <a:p>
            <a:pPr algn="l">
              <a:lnSpc>
                <a:spcPct val="105000"/>
              </a:lnSpc>
              <a:spcBef>
                <a:spcPts val="300"/>
              </a:spcBef>
            </a:pPr>
            <a:r>
              <a:rPr sz="1300" b="0" i="0">
                <a:solidFill>
                  <a:srgbClr val="1D2330"/>
                </a:solidFill>
                <a:latin typeface="Avenir Next"/>
              </a:rPr>
              <a:t>Instructor Desk adds the approved response to the answer bank, with a source ID.</a:t>
            </a:r>
          </a:p>
        </p:txBody>
      </p:sp>
      <p:sp>
        <p:nvSpPr>
          <p:cNvPr id="9" name="Rounded Rectangle 8"/>
          <p:cNvSpPr/>
          <p:nvPr/>
        </p:nvSpPr>
        <p:spPr>
          <a:xfrm>
            <a:off x="7589520" y="4526280"/>
            <a:ext cx="4041648" cy="1417320"/>
          </a:xfrm>
          <a:prstGeom prst="roundRect">
            <a:avLst>
              <a:gd name="adj" fmla="val 8000"/>
            </a:avLst>
          </a:prstGeom>
          <a:solidFill>
            <a:srgbClr val="FFFFFF"/>
          </a:solidFill>
          <a:ln w="22225">
            <a:solidFill>
              <a:srgbClr val="A864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772400" y="4709160"/>
            <a:ext cx="502920" cy="502920"/>
          </a:xfrm>
          <a:prstGeom prst="ellipse">
            <a:avLst/>
          </a:prstGeom>
          <a:solidFill>
            <a:srgbClr val="A86400"/>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400" b="1" i="0">
                <a:solidFill>
                  <a:srgbClr val="FFFFFF"/>
                </a:solidFill>
                <a:latin typeface="Avenir Next"/>
              </a:rPr>
              <a:t>03</a:t>
            </a:r>
          </a:p>
        </p:txBody>
      </p:sp>
      <p:sp>
        <p:nvSpPr>
          <p:cNvPr id="11" name="TextBox 10"/>
          <p:cNvSpPr txBox="1"/>
          <p:nvPr/>
        </p:nvSpPr>
        <p:spPr>
          <a:xfrm>
            <a:off x="8412480" y="4663440"/>
            <a:ext cx="3063240" cy="123444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The professor replaces the bank file</a:t>
            </a:r>
          </a:p>
          <a:p>
            <a:pPr algn="l">
              <a:lnSpc>
                <a:spcPct val="105000"/>
              </a:lnSpc>
              <a:spcBef>
                <a:spcPts val="300"/>
              </a:spcBef>
            </a:pPr>
            <a:r>
              <a:rPr sz="1300" b="0" i="0">
                <a:solidFill>
                  <a:srgbClr val="1D2330"/>
                </a:solidFill>
                <a:latin typeface="Avenir Next"/>
              </a:rPr>
              <a:t>This is a manual step in the current prototype.</a:t>
            </a:r>
          </a:p>
        </p:txBody>
      </p:sp>
      <p:sp>
        <p:nvSpPr>
          <p:cNvPr id="12" name="Rounded Rectangle 11"/>
          <p:cNvSpPr/>
          <p:nvPr/>
        </p:nvSpPr>
        <p:spPr>
          <a:xfrm>
            <a:off x="9692640" y="4361688"/>
            <a:ext cx="1737360" cy="274320"/>
          </a:xfrm>
          <a:prstGeom prst="roundRect">
            <a:avLst>
              <a:gd name="adj" fmla="val 50000"/>
            </a:avLst>
          </a:prstGeom>
          <a:solidFill>
            <a:srgbClr val="A86400"/>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100" b="1" i="0">
                <a:solidFill>
                  <a:srgbClr val="FFFFFF"/>
                </a:solidFill>
                <a:latin typeface="Avenir Next"/>
              </a:rPr>
              <a:t>MANUAL TODAY</a:t>
            </a:r>
          </a:p>
        </p:txBody>
      </p:sp>
      <p:sp>
        <p:nvSpPr>
          <p:cNvPr id="13" name="Rounded Rectangle 12"/>
          <p:cNvSpPr/>
          <p:nvPr/>
        </p:nvSpPr>
        <p:spPr>
          <a:xfrm>
            <a:off x="566928" y="4526280"/>
            <a:ext cx="4041648" cy="1417320"/>
          </a:xfrm>
          <a:prstGeom prst="roundRect">
            <a:avLst>
              <a:gd name="adj" fmla="val 8000"/>
            </a:avLst>
          </a:prstGeom>
          <a:solidFill>
            <a:srgbClr val="FBFAF7"/>
          </a:solidFill>
          <a:ln w="22225">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49808" y="4709160"/>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400" b="1" i="0">
                <a:solidFill>
                  <a:srgbClr val="FFFFFF"/>
                </a:solidFill>
                <a:latin typeface="Avenir Next"/>
              </a:rPr>
              <a:t>04</a:t>
            </a:r>
          </a:p>
        </p:txBody>
      </p:sp>
      <p:sp>
        <p:nvSpPr>
          <p:cNvPr id="15" name="TextBox 14"/>
          <p:cNvSpPr txBox="1"/>
          <p:nvPr/>
        </p:nvSpPr>
        <p:spPr>
          <a:xfrm>
            <a:off x="1389888" y="4663440"/>
            <a:ext cx="3063240" cy="123444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The next student receives the approved answer</a:t>
            </a:r>
          </a:p>
          <a:p>
            <a:pPr algn="l">
              <a:lnSpc>
                <a:spcPct val="105000"/>
              </a:lnSpc>
              <a:spcBef>
                <a:spcPts val="300"/>
              </a:spcBef>
            </a:pPr>
            <a:r>
              <a:rPr sz="1300" b="0" i="0">
                <a:solidFill>
                  <a:srgbClr val="1D2330"/>
                </a:solidFill>
                <a:latin typeface="Avenir Next"/>
              </a:rPr>
              <a:t>Student Helper matches the question’s meaning and cites the source ID.</a:t>
            </a:r>
          </a:p>
        </p:txBody>
      </p:sp>
      <p:cxnSp>
        <p:nvCxnSpPr>
          <p:cNvPr id="16" name="Connector 15"/>
          <p:cNvCxnSpPr/>
          <p:nvPr/>
        </p:nvCxnSpPr>
        <p:spPr>
          <a:xfrm>
            <a:off x="4645152" y="1984248"/>
            <a:ext cx="2916936" cy="0"/>
          </a:xfrm>
          <a:prstGeom prst="line">
            <a:avLst/>
          </a:prstGeom>
          <a:ln w="28575">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601200" y="2724912"/>
            <a:ext cx="0" cy="1773936"/>
          </a:xfrm>
          <a:prstGeom prst="line">
            <a:avLst/>
          </a:prstGeom>
          <a:ln w="28575">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4645152" y="5230368"/>
            <a:ext cx="2916936" cy="0"/>
          </a:xfrm>
          <a:prstGeom prst="line">
            <a:avLst/>
          </a:prstGeom>
          <a:ln w="28575">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Can 18"/>
          <p:cNvSpPr/>
          <p:nvPr/>
        </p:nvSpPr>
        <p:spPr>
          <a:xfrm>
            <a:off x="5120640" y="2514600"/>
            <a:ext cx="1965960" cy="1783080"/>
          </a:xfrm>
          <a:prstGeom prst="can">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600" b="1" i="0">
                <a:solidFill>
                  <a:srgbClr val="FFFFFF"/>
                </a:solidFill>
                <a:latin typeface="Avenir Next"/>
              </a:rPr>
              <a:t>Answer bank</a:t>
            </a:r>
          </a:p>
          <a:p>
            <a:pPr algn="ctr"/>
            <a:r>
              <a:rPr sz="1200" b="0" i="0">
                <a:solidFill>
                  <a:srgbClr val="D5E0EC"/>
                </a:solidFill>
                <a:latin typeface="Avenir Next"/>
              </a:rPr>
              <a:t>A1–A11 · G1–G22</a:t>
            </a:r>
          </a:p>
        </p:txBody>
      </p:sp>
      <p:sp>
        <p:nvSpPr>
          <p:cNvPr id="20" name="TextBox 19"/>
          <p:cNvSpPr txBox="1"/>
          <p:nvPr/>
        </p:nvSpPr>
        <p:spPr>
          <a:xfrm>
            <a:off x="566928" y="2971800"/>
            <a:ext cx="4297680" cy="1097280"/>
          </a:xfrm>
          <a:prstGeom prst="rect">
            <a:avLst/>
          </a:prstGeom>
          <a:noFill/>
        </p:spPr>
        <p:txBody>
          <a:bodyPr wrap="square" lIns="0" tIns="0" rIns="0" bIns="0" anchor="ctr">
            <a:spAutoFit/>
          </a:bodyPr>
          <a:lstStyle/>
          <a:p>
            <a:pPr algn="l">
              <a:lnSpc>
                <a:spcPct val="105000"/>
              </a:lnSpc>
            </a:pPr>
            <a:r>
              <a:rPr sz="1500" b="0" i="0">
                <a:solidFill>
                  <a:srgbClr val="4D4C55"/>
                </a:solidFill>
                <a:latin typeface="Avenir Next"/>
              </a:rPr>
              <a:t>The answer bank is a file containing the professor’s approved questions and answers.</a:t>
            </a:r>
          </a:p>
        </p:txBody>
      </p:sp>
      <p:cxnSp>
        <p:nvCxnSpPr>
          <p:cNvPr id="21" name="Connector 20"/>
          <p:cNvCxnSpPr/>
          <p:nvPr/>
        </p:nvCxnSpPr>
        <p:spPr>
          <a:xfrm flipV="1">
            <a:off x="7095744" y="2724912"/>
            <a:ext cx="768096" cy="292608"/>
          </a:xfrm>
          <a:prstGeom prst="line">
            <a:avLst/>
          </a:prstGeom>
          <a:ln w="15875">
            <a:solidFill>
              <a:srgbClr val="8A93A3"/>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3291840" y="3886200"/>
            <a:ext cx="1810512" cy="612648"/>
          </a:xfrm>
          <a:prstGeom prst="line">
            <a:avLst/>
          </a:prstGeom>
          <a:ln w="15875">
            <a:solidFill>
              <a:srgbClr val="8A93A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3"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24"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Approved sources guide every answer</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A source ID lets the student or professor check the response.</a:t>
            </a:r>
          </a:p>
        </p:txBody>
      </p:sp>
      <p:sp>
        <p:nvSpPr>
          <p:cNvPr id="4" name="Rounded Rectangle 3"/>
          <p:cNvSpPr/>
          <p:nvPr/>
        </p:nvSpPr>
        <p:spPr>
          <a:xfrm>
            <a:off x="566928" y="1783080"/>
            <a:ext cx="3520440" cy="214884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95528" y="1965960"/>
            <a:ext cx="566928" cy="566928"/>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2000" b="1" i="0">
                <a:solidFill>
                  <a:srgbClr val="FFFFFF"/>
                </a:solidFill>
                <a:latin typeface="Avenir Next"/>
              </a:rPr>
              <a:t>A</a:t>
            </a:r>
          </a:p>
        </p:txBody>
      </p:sp>
      <p:sp>
        <p:nvSpPr>
          <p:cNvPr id="6" name="TextBox 5"/>
          <p:cNvSpPr txBox="1"/>
          <p:nvPr/>
        </p:nvSpPr>
        <p:spPr>
          <a:xfrm>
            <a:off x="1481328" y="2011680"/>
            <a:ext cx="2468880" cy="502920"/>
          </a:xfrm>
          <a:prstGeom prst="rect">
            <a:avLst/>
          </a:prstGeom>
          <a:noFill/>
        </p:spPr>
        <p:txBody>
          <a:bodyPr wrap="square" lIns="0" tIns="0" rIns="0" bIns="0" anchor="ctr">
            <a:spAutoFit/>
          </a:bodyPr>
          <a:lstStyle/>
          <a:p>
            <a:pPr algn="l"/>
            <a:r>
              <a:rPr sz="1600" b="1" i="0">
                <a:solidFill>
                  <a:srgbClr val="003366"/>
                </a:solidFill>
                <a:latin typeface="Avenir Next"/>
              </a:rPr>
              <a:t>Current course answer</a:t>
            </a:r>
          </a:p>
        </p:txBody>
      </p:sp>
      <p:sp>
        <p:nvSpPr>
          <p:cNvPr id="7" name="Rounded Rectangle 6"/>
          <p:cNvSpPr/>
          <p:nvPr/>
        </p:nvSpPr>
        <p:spPr>
          <a:xfrm>
            <a:off x="795528" y="2697480"/>
            <a:ext cx="3063240" cy="502920"/>
          </a:xfrm>
          <a:prstGeom prst="roundRect">
            <a:avLst>
              <a:gd name="adj" fmla="val 20000"/>
            </a:avLst>
          </a:prstGeom>
          <a:solidFill>
            <a:srgbClr val="FFFFFF"/>
          </a:solidFill>
          <a:ln w="15875">
            <a:solidFill>
              <a:srgbClr val="00336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1" i="0">
                <a:solidFill>
                  <a:srgbClr val="003366"/>
                </a:solidFill>
                <a:latin typeface="Avenir Next"/>
              </a:rPr>
              <a:t>A4: the final stays on Nov 6 at 10:00 am</a:t>
            </a:r>
          </a:p>
        </p:txBody>
      </p:sp>
      <p:sp>
        <p:nvSpPr>
          <p:cNvPr id="8" name="TextBox 7"/>
          <p:cNvSpPr txBox="1"/>
          <p:nvPr/>
        </p:nvSpPr>
        <p:spPr>
          <a:xfrm>
            <a:off x="795528" y="3310128"/>
            <a:ext cx="3063240" cy="548640"/>
          </a:xfrm>
          <a:prstGeom prst="rect">
            <a:avLst/>
          </a:prstGeom>
          <a:noFill/>
        </p:spPr>
        <p:txBody>
          <a:bodyPr wrap="square" lIns="0" tIns="0" rIns="0" bIns="0" anchor="t">
            <a:spAutoFit/>
          </a:bodyPr>
          <a:lstStyle/>
          <a:p>
            <a:pPr algn="l"/>
            <a:r>
              <a:rPr sz="1300" b="0" i="0">
                <a:solidFill>
                  <a:srgbClr val="1D2330"/>
                </a:solidFill>
                <a:latin typeface="Avenir Next"/>
              </a:rPr>
              <a:t>Use the current approved date or decision</a:t>
            </a:r>
          </a:p>
        </p:txBody>
      </p:sp>
      <p:sp>
        <p:nvSpPr>
          <p:cNvPr id="9" name="Rounded Rectangle 8"/>
          <p:cNvSpPr/>
          <p:nvPr/>
        </p:nvSpPr>
        <p:spPr>
          <a:xfrm>
            <a:off x="4315968" y="1783080"/>
            <a:ext cx="3520440" cy="214884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544568" y="1965960"/>
            <a:ext cx="566928" cy="566928"/>
          </a:xfrm>
          <a:prstGeom prst="ellipse">
            <a:avLst/>
          </a:prstGeom>
          <a:solidFill>
            <a:srgbClr val="126BD9"/>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2000" b="1" i="0">
                <a:solidFill>
                  <a:srgbClr val="FFFFFF"/>
                </a:solidFill>
                <a:latin typeface="Avenir Next"/>
              </a:rPr>
              <a:t>A</a:t>
            </a:r>
          </a:p>
        </p:txBody>
      </p:sp>
      <p:sp>
        <p:nvSpPr>
          <p:cNvPr id="11" name="TextBox 10"/>
          <p:cNvSpPr txBox="1"/>
          <p:nvPr/>
        </p:nvSpPr>
        <p:spPr>
          <a:xfrm>
            <a:off x="5230368" y="2011680"/>
            <a:ext cx="2468880" cy="502920"/>
          </a:xfrm>
          <a:prstGeom prst="rect">
            <a:avLst/>
          </a:prstGeom>
          <a:noFill/>
        </p:spPr>
        <p:txBody>
          <a:bodyPr wrap="square" lIns="0" tIns="0" rIns="0" bIns="0" anchor="ctr">
            <a:spAutoFit/>
          </a:bodyPr>
          <a:lstStyle/>
          <a:p>
            <a:pPr algn="l"/>
            <a:r>
              <a:rPr sz="1600" b="1" i="0">
                <a:solidFill>
                  <a:srgbClr val="003366"/>
                </a:solidFill>
                <a:latin typeface="Avenir Next"/>
              </a:rPr>
              <a:t>Reviewed earlier answer</a:t>
            </a:r>
          </a:p>
        </p:txBody>
      </p:sp>
      <p:sp>
        <p:nvSpPr>
          <p:cNvPr id="12" name="Rounded Rectangle 11"/>
          <p:cNvSpPr/>
          <p:nvPr/>
        </p:nvSpPr>
        <p:spPr>
          <a:xfrm>
            <a:off x="4544568" y="2697480"/>
            <a:ext cx="3063240" cy="502920"/>
          </a:xfrm>
          <a:prstGeom prst="roundRect">
            <a:avLst>
              <a:gd name="adj" fmla="val 20000"/>
            </a:avLst>
          </a:prstGeom>
          <a:solidFill>
            <a:srgbClr val="FFFFFF"/>
          </a:solidFill>
          <a:ln w="15875">
            <a:solidFill>
              <a:srgbClr val="126BD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1" i="0">
                <a:solidFill>
                  <a:srgbClr val="126BD9"/>
                </a:solidFill>
                <a:latin typeface="Avenir Next"/>
              </a:rPr>
              <a:t>A8: the memo is individual work</a:t>
            </a:r>
          </a:p>
        </p:txBody>
      </p:sp>
      <p:sp>
        <p:nvSpPr>
          <p:cNvPr id="13" name="TextBox 12"/>
          <p:cNvSpPr txBox="1"/>
          <p:nvPr/>
        </p:nvSpPr>
        <p:spPr>
          <a:xfrm>
            <a:off x="4544568" y="3310128"/>
            <a:ext cx="3063240" cy="548640"/>
          </a:xfrm>
          <a:prstGeom prst="rect">
            <a:avLst/>
          </a:prstGeom>
          <a:noFill/>
        </p:spPr>
        <p:txBody>
          <a:bodyPr wrap="square" lIns="0" tIns="0" rIns="0" bIns="0" anchor="t">
            <a:spAutoFit/>
          </a:bodyPr>
          <a:lstStyle/>
          <a:p>
            <a:pPr algn="l"/>
            <a:r>
              <a:rPr sz="1300" b="0" i="0">
                <a:solidFill>
                  <a:srgbClr val="1D2330"/>
                </a:solidFill>
                <a:latin typeface="Avenir Next"/>
              </a:rPr>
              <a:t>Reuse only after semester review</a:t>
            </a:r>
          </a:p>
        </p:txBody>
      </p:sp>
      <p:sp>
        <p:nvSpPr>
          <p:cNvPr id="14" name="Rounded Rectangle 13"/>
          <p:cNvSpPr/>
          <p:nvPr/>
        </p:nvSpPr>
        <p:spPr>
          <a:xfrm>
            <a:off x="8065007" y="1783080"/>
            <a:ext cx="3520440" cy="214884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293607" y="1965960"/>
            <a:ext cx="566928" cy="566928"/>
          </a:xfrm>
          <a:prstGeom prst="ellipse">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2000" b="1" i="0">
                <a:solidFill>
                  <a:srgbClr val="FFFFFF"/>
                </a:solidFill>
                <a:latin typeface="Avenir Next"/>
              </a:rPr>
              <a:t>G</a:t>
            </a:r>
          </a:p>
        </p:txBody>
      </p:sp>
      <p:sp>
        <p:nvSpPr>
          <p:cNvPr id="16" name="TextBox 15"/>
          <p:cNvSpPr txBox="1"/>
          <p:nvPr/>
        </p:nvSpPr>
        <p:spPr>
          <a:xfrm>
            <a:off x="8979407" y="2011680"/>
            <a:ext cx="2468880" cy="502920"/>
          </a:xfrm>
          <a:prstGeom prst="rect">
            <a:avLst/>
          </a:prstGeom>
          <a:noFill/>
        </p:spPr>
        <p:txBody>
          <a:bodyPr wrap="square" lIns="0" tIns="0" rIns="0" bIns="0" anchor="ctr">
            <a:spAutoFit/>
          </a:bodyPr>
          <a:lstStyle/>
          <a:p>
            <a:pPr algn="l"/>
            <a:r>
              <a:rPr sz="1600" b="1" i="0">
                <a:solidFill>
                  <a:srgbClr val="003366"/>
                </a:solidFill>
                <a:latin typeface="Avenir Next"/>
              </a:rPr>
              <a:t>General assignment rule</a:t>
            </a:r>
          </a:p>
        </p:txBody>
      </p:sp>
      <p:sp>
        <p:nvSpPr>
          <p:cNvPr id="17" name="Rounded Rectangle 16"/>
          <p:cNvSpPr/>
          <p:nvPr/>
        </p:nvSpPr>
        <p:spPr>
          <a:xfrm>
            <a:off x="8293607" y="2697480"/>
            <a:ext cx="3063240" cy="502920"/>
          </a:xfrm>
          <a:prstGeom prst="roundRect">
            <a:avLst>
              <a:gd name="adj" fmla="val 20000"/>
            </a:avLst>
          </a:prstGeom>
          <a:solidFill>
            <a:srgbClr val="FFFFFF"/>
          </a:solidFill>
          <a:ln w="15875">
            <a:solidFill>
              <a:srgbClr val="1E7B4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1" i="0">
                <a:solidFill>
                  <a:srgbClr val="1E7B45"/>
                </a:solidFill>
                <a:latin typeface="Avenir Next"/>
              </a:rPr>
              <a:t>G5: where code excerpts belong</a:t>
            </a:r>
          </a:p>
        </p:txBody>
      </p:sp>
      <p:sp>
        <p:nvSpPr>
          <p:cNvPr id="18" name="TextBox 17"/>
          <p:cNvSpPr txBox="1"/>
          <p:nvPr/>
        </p:nvSpPr>
        <p:spPr>
          <a:xfrm>
            <a:off x="8293607" y="3310128"/>
            <a:ext cx="3063240" cy="548640"/>
          </a:xfrm>
          <a:prstGeom prst="rect">
            <a:avLst/>
          </a:prstGeom>
          <a:noFill/>
        </p:spPr>
        <p:txBody>
          <a:bodyPr wrap="square" lIns="0" tIns="0" rIns="0" bIns="0" anchor="t">
            <a:spAutoFit/>
          </a:bodyPr>
          <a:lstStyle/>
          <a:p>
            <a:pPr algn="l"/>
            <a:r>
              <a:rPr sz="1300" b="0" i="0">
                <a:solidFill>
                  <a:srgbClr val="1D2330"/>
                </a:solidFill>
                <a:latin typeface="Avenir Next"/>
              </a:rPr>
              <a:t>Apply unless this assignment says otherwise</a:t>
            </a:r>
          </a:p>
        </p:txBody>
      </p:sp>
      <p:sp>
        <p:nvSpPr>
          <p:cNvPr id="19" name="TextBox 18"/>
          <p:cNvSpPr txBox="1"/>
          <p:nvPr/>
        </p:nvSpPr>
        <p:spPr>
          <a:xfrm>
            <a:off x="566928" y="4114800"/>
            <a:ext cx="5486400" cy="365760"/>
          </a:xfrm>
          <a:prstGeom prst="rect">
            <a:avLst/>
          </a:prstGeom>
          <a:noFill/>
        </p:spPr>
        <p:txBody>
          <a:bodyPr wrap="square" lIns="0" tIns="0" rIns="0" bIns="0" anchor="t">
            <a:spAutoFit/>
          </a:bodyPr>
          <a:lstStyle/>
          <a:p>
            <a:pPr algn="l"/>
            <a:r>
              <a:rPr sz="1600" b="1" i="0">
                <a:solidFill>
                  <a:srgbClr val="003366"/>
                </a:solidFill>
                <a:latin typeface="Avenir Next"/>
              </a:rPr>
              <a:t>Semester review before reuse</a:t>
            </a:r>
          </a:p>
        </p:txBody>
      </p:sp>
      <p:sp>
        <p:nvSpPr>
          <p:cNvPr id="20" name="Rounded Rectangle 19"/>
          <p:cNvSpPr/>
          <p:nvPr/>
        </p:nvSpPr>
        <p:spPr>
          <a:xfrm>
            <a:off x="566928" y="4553712"/>
            <a:ext cx="2606040" cy="347472"/>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300" b="1" i="0">
                <a:solidFill>
                  <a:srgbClr val="FFFFFF"/>
                </a:solidFill>
                <a:latin typeface="Avenir Next"/>
              </a:rPr>
              <a:t>Keep or update</a:t>
            </a:r>
          </a:p>
        </p:txBody>
      </p:sp>
      <p:sp>
        <p:nvSpPr>
          <p:cNvPr id="21" name="TextBox 20"/>
          <p:cNvSpPr txBox="1"/>
          <p:nvPr/>
        </p:nvSpPr>
        <p:spPr>
          <a:xfrm>
            <a:off x="566928" y="4956048"/>
            <a:ext cx="2606040" cy="640080"/>
          </a:xfrm>
          <a:prstGeom prst="rect">
            <a:avLst/>
          </a:prstGeom>
          <a:noFill/>
        </p:spPr>
        <p:txBody>
          <a:bodyPr wrap="square" lIns="0" tIns="0" rIns="0" bIns="0" anchor="t">
            <a:spAutoFit/>
          </a:bodyPr>
          <a:lstStyle/>
          <a:p>
            <a:pPr algn="l">
              <a:lnSpc>
                <a:spcPct val="100000"/>
              </a:lnSpc>
            </a:pPr>
            <a:r>
              <a:rPr sz="1200" b="0" i="0">
                <a:solidFill>
                  <a:srgbClr val="1D2330"/>
                </a:solidFill>
                <a:latin typeface="Avenir Next"/>
              </a:rPr>
              <a:t>Still valid, or revised from current course information</a:t>
            </a:r>
          </a:p>
        </p:txBody>
      </p:sp>
      <p:sp>
        <p:nvSpPr>
          <p:cNvPr id="22" name="Rounded Rectangle 21"/>
          <p:cNvSpPr/>
          <p:nvPr/>
        </p:nvSpPr>
        <p:spPr>
          <a:xfrm>
            <a:off x="3364992" y="4553712"/>
            <a:ext cx="2606040" cy="347472"/>
          </a:xfrm>
          <a:prstGeom prst="roundRect">
            <a:avLst>
              <a:gd name="adj" fmla="val 50000"/>
            </a:avLst>
          </a:prstGeom>
          <a:solidFill>
            <a:srgbClr val="A86400"/>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300" b="1" i="0">
                <a:solidFill>
                  <a:srgbClr val="FFFFFF"/>
                </a:solidFill>
                <a:latin typeface="Avenir Next"/>
              </a:rPr>
              <a:t>Needs decision</a:t>
            </a:r>
          </a:p>
        </p:txBody>
      </p:sp>
      <p:sp>
        <p:nvSpPr>
          <p:cNvPr id="23" name="TextBox 22"/>
          <p:cNvSpPr txBox="1"/>
          <p:nvPr/>
        </p:nvSpPr>
        <p:spPr>
          <a:xfrm>
            <a:off x="3364992" y="4956048"/>
            <a:ext cx="2606040" cy="640080"/>
          </a:xfrm>
          <a:prstGeom prst="rect">
            <a:avLst/>
          </a:prstGeom>
          <a:noFill/>
        </p:spPr>
        <p:txBody>
          <a:bodyPr wrap="square" lIns="0" tIns="0" rIns="0" bIns="0" anchor="t">
            <a:spAutoFit/>
          </a:bodyPr>
          <a:lstStyle/>
          <a:p>
            <a:pPr algn="l">
              <a:lnSpc>
                <a:spcPct val="100000"/>
              </a:lnSpc>
            </a:pPr>
            <a:r>
              <a:rPr sz="1200" b="0" i="0">
                <a:solidFill>
                  <a:srgbClr val="1D2330"/>
                </a:solidFill>
                <a:latin typeface="Avenir Next"/>
              </a:rPr>
              <a:t>Current information is missing or conflicts</a:t>
            </a:r>
          </a:p>
        </p:txBody>
      </p:sp>
      <p:sp>
        <p:nvSpPr>
          <p:cNvPr id="24" name="Rounded Rectangle 23"/>
          <p:cNvSpPr/>
          <p:nvPr/>
        </p:nvSpPr>
        <p:spPr>
          <a:xfrm>
            <a:off x="6163056" y="4553712"/>
            <a:ext cx="2606040" cy="347472"/>
          </a:xfrm>
          <a:prstGeom prst="roundRect">
            <a:avLst>
              <a:gd name="adj" fmla="val 50000"/>
            </a:avLst>
          </a:prstGeom>
          <a:solidFill>
            <a:srgbClr val="4D4C5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300" b="1" i="0">
                <a:solidFill>
                  <a:srgbClr val="FFFFFF"/>
                </a:solidFill>
                <a:latin typeface="Avenir Next"/>
              </a:rPr>
              <a:t>Retire</a:t>
            </a:r>
          </a:p>
        </p:txBody>
      </p:sp>
      <p:sp>
        <p:nvSpPr>
          <p:cNvPr id="25" name="TextBox 24"/>
          <p:cNvSpPr txBox="1"/>
          <p:nvPr/>
        </p:nvSpPr>
        <p:spPr>
          <a:xfrm>
            <a:off x="6163056" y="4956048"/>
            <a:ext cx="2606040" cy="640080"/>
          </a:xfrm>
          <a:prstGeom prst="rect">
            <a:avLst/>
          </a:prstGeom>
          <a:noFill/>
        </p:spPr>
        <p:txBody>
          <a:bodyPr wrap="square" lIns="0" tIns="0" rIns="0" bIns="0" anchor="t">
            <a:spAutoFit/>
          </a:bodyPr>
          <a:lstStyle/>
          <a:p>
            <a:pPr algn="l">
              <a:lnSpc>
                <a:spcPct val="100000"/>
              </a:lnSpc>
            </a:pPr>
            <a:r>
              <a:rPr sz="1200" b="0" i="0">
                <a:solidFill>
                  <a:srgbClr val="1D2330"/>
                </a:solidFill>
                <a:latin typeface="Avenir Next"/>
              </a:rPr>
              <a:t>An expired date or an answer that no longer applies</a:t>
            </a:r>
          </a:p>
        </p:txBody>
      </p:sp>
      <p:sp>
        <p:nvSpPr>
          <p:cNvPr id="26" name="Rounded Rectangle 25"/>
          <p:cNvSpPr/>
          <p:nvPr/>
        </p:nvSpPr>
        <p:spPr>
          <a:xfrm>
            <a:off x="8961119" y="4553712"/>
            <a:ext cx="2606040" cy="347472"/>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300" b="1" i="0">
                <a:solidFill>
                  <a:srgbClr val="FFFFFF"/>
                </a:solidFill>
                <a:latin typeface="Avenir Next"/>
              </a:rPr>
              <a:t>Personal</a:t>
            </a:r>
          </a:p>
        </p:txBody>
      </p:sp>
      <p:sp>
        <p:nvSpPr>
          <p:cNvPr id="27" name="TextBox 26"/>
          <p:cNvSpPr txBox="1"/>
          <p:nvPr/>
        </p:nvSpPr>
        <p:spPr>
          <a:xfrm>
            <a:off x="8961119" y="4956048"/>
            <a:ext cx="2606040" cy="640080"/>
          </a:xfrm>
          <a:prstGeom prst="rect">
            <a:avLst/>
          </a:prstGeom>
          <a:noFill/>
        </p:spPr>
        <p:txBody>
          <a:bodyPr wrap="square" lIns="0" tIns="0" rIns="0" bIns="0" anchor="t">
            <a:spAutoFit/>
          </a:bodyPr>
          <a:lstStyle/>
          <a:p>
            <a:pPr algn="l">
              <a:lnSpc>
                <a:spcPct val="100000"/>
              </a:lnSpc>
            </a:pPr>
            <a:r>
              <a:rPr sz="1200" b="0" i="0">
                <a:solidFill>
                  <a:srgbClr val="1D2330"/>
                </a:solidFill>
                <a:latin typeface="Avenir Next"/>
              </a:rPr>
              <a:t>Grades, health details and extensions stay out of the bank</a:t>
            </a:r>
          </a:p>
        </p:txBody>
      </p:sp>
      <p:sp>
        <p:nvSpPr>
          <p:cNvPr id="28" name="Rounded Rectangle 27"/>
          <p:cNvSpPr/>
          <p:nvPr/>
        </p:nvSpPr>
        <p:spPr>
          <a:xfrm>
            <a:off x="566928" y="5623560"/>
            <a:ext cx="11064240" cy="566928"/>
          </a:xfrm>
          <a:prstGeom prst="roundRect">
            <a:avLst>
              <a:gd name="adj" fmla="val 20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l"/>
            <a:r>
              <a:rPr sz="1300" b="1" i="0">
                <a:solidFill>
                  <a:srgbClr val="CC0000"/>
                </a:solidFill>
                <a:latin typeface="Avenir Next"/>
              </a:rPr>
              <a:t>When instructions disagree: </a:t>
            </a:r>
            <a:r>
              <a:rPr sz="1300" b="0" i="0">
                <a:solidFill>
                  <a:srgbClr val="CC0000"/>
                </a:solidFill>
                <a:latin typeface="Avenir Next"/>
              </a:rPr>
              <a:t>use the current official update over an older answer. If the prompt and rubric still conflict, show both and ask the professor.</a:t>
            </a:r>
          </a:p>
        </p:txBody>
      </p:sp>
      <p:sp>
        <p:nvSpPr>
          <p:cNvPr id="29"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30"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Live demonstration</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First the revised schedule. Then the student’s assignment question.</a:t>
            </a:r>
          </a:p>
        </p:txBody>
      </p:sp>
      <p:sp>
        <p:nvSpPr>
          <p:cNvPr id="4" name="Rounded Rectangle 3"/>
          <p:cNvSpPr/>
          <p:nvPr/>
        </p:nvSpPr>
        <p:spPr>
          <a:xfrm>
            <a:off x="566928" y="1783080"/>
            <a:ext cx="11064240" cy="1600200"/>
          </a:xfrm>
          <a:prstGeom prst="roundRect">
            <a:avLst>
              <a:gd name="adj" fmla="val 6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3520440"/>
            <a:ext cx="11064240" cy="160020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783080"/>
            <a:ext cx="1645920" cy="1600200"/>
          </a:xfrm>
          <a:prstGeom prst="rect">
            <a:avLst/>
          </a:prstGeom>
          <a:noFill/>
        </p:spPr>
        <p:txBody>
          <a:bodyPr wrap="square" lIns="0" tIns="0" rIns="0" bIns="0" anchor="ctr">
            <a:spAutoFit/>
          </a:bodyPr>
          <a:lstStyle/>
          <a:p>
            <a:pPr algn="l"/>
            <a:r>
              <a:rPr sz="1300" b="1" i="0">
                <a:solidFill>
                  <a:srgbClr val="003366"/>
                </a:solidFill>
                <a:latin typeface="Avenir Next"/>
              </a:rPr>
              <a:t>INSTRUCTOR</a:t>
            </a:r>
          </a:p>
          <a:p>
            <a:pPr algn="l"/>
            <a:r>
              <a:rPr sz="1300" b="1" i="0">
                <a:solidFill>
                  <a:srgbClr val="003366"/>
                </a:solidFill>
                <a:latin typeface="Avenir Next"/>
              </a:rPr>
              <a:t>DESK</a:t>
            </a:r>
          </a:p>
        </p:txBody>
      </p:sp>
      <p:sp>
        <p:nvSpPr>
          <p:cNvPr id="7" name="TextBox 6"/>
          <p:cNvSpPr txBox="1"/>
          <p:nvPr/>
        </p:nvSpPr>
        <p:spPr>
          <a:xfrm>
            <a:off x="777240" y="3520440"/>
            <a:ext cx="1645920" cy="1600200"/>
          </a:xfrm>
          <a:prstGeom prst="rect">
            <a:avLst/>
          </a:prstGeom>
          <a:noFill/>
        </p:spPr>
        <p:txBody>
          <a:bodyPr wrap="square" lIns="0" tIns="0" rIns="0" bIns="0" anchor="ctr">
            <a:spAutoFit/>
          </a:bodyPr>
          <a:lstStyle/>
          <a:p>
            <a:pPr algn="l"/>
            <a:r>
              <a:rPr sz="1300" b="1" i="0">
                <a:solidFill>
                  <a:srgbClr val="003366"/>
                </a:solidFill>
                <a:latin typeface="Avenir Next"/>
              </a:rPr>
              <a:t>STUDENT</a:t>
            </a:r>
          </a:p>
          <a:p>
            <a:pPr algn="l"/>
            <a:r>
              <a:rPr sz="1300" b="1" i="0">
                <a:solidFill>
                  <a:srgbClr val="003366"/>
                </a:solidFill>
                <a:latin typeface="Avenir Next"/>
              </a:rPr>
              <a:t>HELPER</a:t>
            </a:r>
          </a:p>
        </p:txBody>
      </p:sp>
      <p:sp>
        <p:nvSpPr>
          <p:cNvPr id="8" name="Oval 7"/>
          <p:cNvSpPr/>
          <p:nvPr/>
        </p:nvSpPr>
        <p:spPr>
          <a:xfrm>
            <a:off x="2514600" y="1947672"/>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400" b="1" i="0">
                <a:solidFill>
                  <a:srgbClr val="FFFFFF"/>
                </a:solidFill>
                <a:latin typeface="Avenir Next"/>
              </a:rPr>
              <a:t>01</a:t>
            </a:r>
          </a:p>
        </p:txBody>
      </p:sp>
      <p:sp>
        <p:nvSpPr>
          <p:cNvPr id="9" name="TextBox 8"/>
          <p:cNvSpPr txBox="1"/>
          <p:nvPr/>
        </p:nvSpPr>
        <p:spPr>
          <a:xfrm>
            <a:off x="3136392" y="1874519"/>
            <a:ext cx="2240280" cy="146304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Extend the closure</a:t>
            </a:r>
          </a:p>
          <a:p>
            <a:pPr algn="l">
              <a:lnSpc>
                <a:spcPct val="105000"/>
              </a:lnSpc>
              <a:spcBef>
                <a:spcPts val="300"/>
              </a:spcBef>
            </a:pPr>
            <a:r>
              <a:rPr sz="1300" b="0" i="0">
                <a:solidFill>
                  <a:srgbClr val="1D2330"/>
                </a:solidFill>
                <a:latin typeface="Avenir Next"/>
              </a:rPr>
              <a:t>Ask Instructor Desk to recheck the course after the closure reaches Friday.</a:t>
            </a:r>
          </a:p>
        </p:txBody>
      </p:sp>
      <p:sp>
        <p:nvSpPr>
          <p:cNvPr id="10" name="Oval 9"/>
          <p:cNvSpPr/>
          <p:nvPr/>
        </p:nvSpPr>
        <p:spPr>
          <a:xfrm>
            <a:off x="5669280" y="1947672"/>
            <a:ext cx="502920" cy="502920"/>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400" b="1" i="0">
                <a:solidFill>
                  <a:srgbClr val="FFFFFF"/>
                </a:solidFill>
                <a:latin typeface="Avenir Next"/>
              </a:rPr>
              <a:t>02</a:t>
            </a:r>
          </a:p>
        </p:txBody>
      </p:sp>
      <p:sp>
        <p:nvSpPr>
          <p:cNvPr id="11" name="TextBox 10"/>
          <p:cNvSpPr txBox="1"/>
          <p:nvPr/>
        </p:nvSpPr>
        <p:spPr>
          <a:xfrm>
            <a:off x="6291072" y="1874519"/>
            <a:ext cx="4572000" cy="146304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Inspect the domino effect</a:t>
            </a:r>
          </a:p>
          <a:p>
            <a:pPr algn="l">
              <a:lnSpc>
                <a:spcPct val="105000"/>
              </a:lnSpc>
              <a:spcBef>
                <a:spcPts val="300"/>
              </a:spcBef>
            </a:pPr>
            <a:r>
              <a:rPr sz="1300" b="0" i="0">
                <a:solidFill>
                  <a:srgbClr val="1D2330"/>
                </a:solidFill>
                <a:latin typeface="Avenir Next"/>
              </a:rPr>
              <a:t>Show the moved lab and memo, the PASS/FAIL calculations, and the unchanged final.</a:t>
            </a:r>
          </a:p>
        </p:txBody>
      </p:sp>
      <p:sp>
        <p:nvSpPr>
          <p:cNvPr id="12" name="Oval 11"/>
          <p:cNvSpPr/>
          <p:nvPr/>
        </p:nvSpPr>
        <p:spPr>
          <a:xfrm>
            <a:off x="5669280" y="3685032"/>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400" b="1" i="0">
                <a:solidFill>
                  <a:srgbClr val="FFFFFF"/>
                </a:solidFill>
                <a:latin typeface="Avenir Next"/>
              </a:rPr>
              <a:t>03</a:t>
            </a:r>
          </a:p>
        </p:txBody>
      </p:sp>
      <p:sp>
        <p:nvSpPr>
          <p:cNvPr id="13" name="TextBox 12"/>
          <p:cNvSpPr txBox="1"/>
          <p:nvPr/>
        </p:nvSpPr>
        <p:spPr>
          <a:xfrm>
            <a:off x="6291072" y="3611880"/>
            <a:ext cx="4572000" cy="146304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Ask Student Helper a practical question</a:t>
            </a:r>
          </a:p>
          <a:p>
            <a:pPr algn="l">
              <a:lnSpc>
                <a:spcPct val="105000"/>
              </a:lnSpc>
              <a:spcBef>
                <a:spcPts val="300"/>
              </a:spcBef>
            </a:pPr>
            <a:r>
              <a:rPr sz="1300" b="0" i="0">
                <a:solidFill>
                  <a:srgbClr val="1D2330"/>
                </a:solidFill>
                <a:latin typeface="Avenir Next"/>
              </a:rPr>
              <a:t>“Do I paste my Python code into the memo?” The answer cites approved rule G5.</a:t>
            </a:r>
          </a:p>
        </p:txBody>
      </p:sp>
      <p:cxnSp>
        <p:nvCxnSpPr>
          <p:cNvPr id="14" name="Connector 13"/>
          <p:cNvCxnSpPr/>
          <p:nvPr/>
        </p:nvCxnSpPr>
        <p:spPr>
          <a:xfrm>
            <a:off x="5440680" y="2157984"/>
            <a:ext cx="182880" cy="0"/>
          </a:xfrm>
          <a:prstGeom prst="line">
            <a:avLst/>
          </a:prstGeom>
          <a:ln w="28575">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920740" y="2468880"/>
            <a:ext cx="0" cy="1170432"/>
          </a:xfrm>
          <a:prstGeom prst="line">
            <a:avLst/>
          </a:prstGeom>
          <a:ln w="25400">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66928" y="5349240"/>
            <a:ext cx="11064240" cy="566928"/>
          </a:xfrm>
          <a:prstGeom prst="roundRect">
            <a:avLst>
              <a:gd name="adj" fmla="val 25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600" b="1" i="0">
                <a:solidFill>
                  <a:srgbClr val="FFFFFF"/>
                </a:solidFill>
                <a:latin typeface="Avenir Next"/>
              </a:rPr>
              <a:t>Every schedule change remains a draft for the professor to approve.</a:t>
            </a:r>
          </a:p>
        </p:txBody>
      </p:sp>
      <p:sp>
        <p:nvSpPr>
          <p:cNvPr id="17"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18"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What the prototype tests show</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Team testing in owlONE on October 16–17, 2026, using the fictional DEMO-101 course.</a:t>
            </a:r>
          </a:p>
        </p:txBody>
      </p:sp>
      <p:sp>
        <p:nvSpPr>
          <p:cNvPr id="4" name="TextBox 3"/>
          <p:cNvSpPr txBox="1"/>
          <p:nvPr/>
        </p:nvSpPr>
        <p:spPr>
          <a:xfrm>
            <a:off x="566928" y="1783080"/>
            <a:ext cx="2194560" cy="1005840"/>
          </a:xfrm>
          <a:prstGeom prst="rect">
            <a:avLst/>
          </a:prstGeom>
          <a:noFill/>
        </p:spPr>
        <p:txBody>
          <a:bodyPr wrap="square" lIns="0" tIns="0" rIns="0" bIns="0" anchor="t">
            <a:spAutoFit/>
          </a:bodyPr>
          <a:lstStyle/>
          <a:p>
            <a:pPr algn="l"/>
            <a:r>
              <a:rPr sz="6600" b="1" i="0">
                <a:solidFill>
                  <a:srgbClr val="1E7B45"/>
                </a:solidFill>
                <a:latin typeface="Avenir Next"/>
              </a:rPr>
              <a:t>31</a:t>
            </a:r>
          </a:p>
        </p:txBody>
      </p:sp>
      <p:sp>
        <p:nvSpPr>
          <p:cNvPr id="5" name="TextBox 4"/>
          <p:cNvSpPr txBox="1"/>
          <p:nvPr/>
        </p:nvSpPr>
        <p:spPr>
          <a:xfrm>
            <a:off x="566928" y="2788920"/>
            <a:ext cx="2194560" cy="320040"/>
          </a:xfrm>
          <a:prstGeom prst="rect">
            <a:avLst/>
          </a:prstGeom>
          <a:noFill/>
        </p:spPr>
        <p:txBody>
          <a:bodyPr wrap="square" lIns="0" tIns="0" rIns="0" bIns="0" anchor="t">
            <a:spAutoFit/>
          </a:bodyPr>
          <a:lstStyle/>
          <a:p>
            <a:pPr algn="l"/>
            <a:r>
              <a:rPr sz="1400" b="1" i="0">
                <a:solidFill>
                  <a:srgbClr val="1E7B45"/>
                </a:solidFill>
                <a:latin typeface="Avenir Next"/>
              </a:rPr>
              <a:t>PASS</a:t>
            </a:r>
          </a:p>
        </p:txBody>
      </p:sp>
      <p:sp>
        <p:nvSpPr>
          <p:cNvPr id="6" name="TextBox 5"/>
          <p:cNvSpPr txBox="1"/>
          <p:nvPr/>
        </p:nvSpPr>
        <p:spPr>
          <a:xfrm>
            <a:off x="2944368" y="1783080"/>
            <a:ext cx="2194560" cy="1005840"/>
          </a:xfrm>
          <a:prstGeom prst="rect">
            <a:avLst/>
          </a:prstGeom>
          <a:noFill/>
        </p:spPr>
        <p:txBody>
          <a:bodyPr wrap="square" lIns="0" tIns="0" rIns="0" bIns="0" anchor="t">
            <a:spAutoFit/>
          </a:bodyPr>
          <a:lstStyle/>
          <a:p>
            <a:pPr algn="l"/>
            <a:r>
              <a:rPr sz="6600" b="1" i="0">
                <a:solidFill>
                  <a:srgbClr val="A86400"/>
                </a:solidFill>
                <a:latin typeface="Avenir Next"/>
              </a:rPr>
              <a:t>2</a:t>
            </a:r>
          </a:p>
        </p:txBody>
      </p:sp>
      <p:sp>
        <p:nvSpPr>
          <p:cNvPr id="7" name="TextBox 6"/>
          <p:cNvSpPr txBox="1"/>
          <p:nvPr/>
        </p:nvSpPr>
        <p:spPr>
          <a:xfrm>
            <a:off x="2944368" y="2788920"/>
            <a:ext cx="2194560" cy="320040"/>
          </a:xfrm>
          <a:prstGeom prst="rect">
            <a:avLst/>
          </a:prstGeom>
          <a:noFill/>
        </p:spPr>
        <p:txBody>
          <a:bodyPr wrap="square" lIns="0" tIns="0" rIns="0" bIns="0" anchor="t">
            <a:spAutoFit/>
          </a:bodyPr>
          <a:lstStyle/>
          <a:p>
            <a:pPr algn="l"/>
            <a:r>
              <a:rPr sz="1400" b="1" i="0">
                <a:solidFill>
                  <a:srgbClr val="A86400"/>
                </a:solidFill>
                <a:latin typeface="Avenir Next"/>
              </a:rPr>
              <a:t>PARTIAL</a:t>
            </a:r>
          </a:p>
        </p:txBody>
      </p:sp>
      <p:sp>
        <p:nvSpPr>
          <p:cNvPr id="8" name="TextBox 7"/>
          <p:cNvSpPr txBox="1"/>
          <p:nvPr/>
        </p:nvSpPr>
        <p:spPr>
          <a:xfrm>
            <a:off x="5321808" y="1783080"/>
            <a:ext cx="2194560" cy="1005840"/>
          </a:xfrm>
          <a:prstGeom prst="rect">
            <a:avLst/>
          </a:prstGeom>
          <a:noFill/>
        </p:spPr>
        <p:txBody>
          <a:bodyPr wrap="square" lIns="0" tIns="0" rIns="0" bIns="0" anchor="t">
            <a:spAutoFit/>
          </a:bodyPr>
          <a:lstStyle/>
          <a:p>
            <a:pPr algn="l"/>
            <a:r>
              <a:rPr sz="6600" b="1" i="0">
                <a:solidFill>
                  <a:srgbClr val="4D4C55"/>
                </a:solidFill>
                <a:latin typeface="Avenir Next"/>
              </a:rPr>
              <a:t>0</a:t>
            </a:r>
          </a:p>
        </p:txBody>
      </p:sp>
      <p:sp>
        <p:nvSpPr>
          <p:cNvPr id="9" name="TextBox 8"/>
          <p:cNvSpPr txBox="1"/>
          <p:nvPr/>
        </p:nvSpPr>
        <p:spPr>
          <a:xfrm>
            <a:off x="5321808" y="2788920"/>
            <a:ext cx="2194560" cy="320040"/>
          </a:xfrm>
          <a:prstGeom prst="rect">
            <a:avLst/>
          </a:prstGeom>
          <a:noFill/>
        </p:spPr>
        <p:txBody>
          <a:bodyPr wrap="square" lIns="0" tIns="0" rIns="0" bIns="0" anchor="t">
            <a:spAutoFit/>
          </a:bodyPr>
          <a:lstStyle/>
          <a:p>
            <a:pPr algn="l"/>
            <a:r>
              <a:rPr sz="1400" b="1" i="0">
                <a:solidFill>
                  <a:srgbClr val="4D4C55"/>
                </a:solidFill>
                <a:latin typeface="Avenir Next"/>
              </a:rPr>
              <a:t>FAIL</a:t>
            </a:r>
          </a:p>
        </p:txBody>
      </p:sp>
      <p:sp>
        <p:nvSpPr>
          <p:cNvPr id="10" name="Rectangle 9"/>
          <p:cNvSpPr/>
          <p:nvPr/>
        </p:nvSpPr>
        <p:spPr>
          <a:xfrm>
            <a:off x="566928" y="3246120"/>
            <a:ext cx="6528261" cy="219456"/>
          </a:xfrm>
          <a:prstGeom prst="rect">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095189" y="3246120"/>
            <a:ext cx="421178" cy="219456"/>
          </a:xfrm>
          <a:prstGeom prst="rect">
            <a:avLst/>
          </a:prstGeom>
          <a:solidFill>
            <a:srgbClr val="A86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6928" y="3611880"/>
            <a:ext cx="7040880" cy="731520"/>
          </a:xfrm>
          <a:prstGeom prst="rect">
            <a:avLst/>
          </a:prstGeom>
          <a:noFill/>
        </p:spPr>
        <p:txBody>
          <a:bodyPr wrap="square" lIns="0" tIns="0" rIns="0" bIns="0" anchor="t">
            <a:spAutoFit/>
          </a:bodyPr>
          <a:lstStyle/>
          <a:p>
            <a:pPr algn="l"/>
            <a:r>
              <a:rPr sz="1600" b="1" i="0">
                <a:solidFill>
                  <a:srgbClr val="003366"/>
                </a:solidFill>
                <a:latin typeface="Avenir Next"/>
              </a:rPr>
              <a:t>33 checks in the main test report (Oct 16), plus 7 of 7 assignment-rule questions passed. Oct 17: 3 of 3 new reading tests passed.</a:t>
            </a:r>
          </a:p>
        </p:txBody>
      </p:sp>
      <p:sp>
        <p:nvSpPr>
          <p:cNvPr id="13" name="Rounded Rectangle 12"/>
          <p:cNvSpPr/>
          <p:nvPr/>
        </p:nvSpPr>
        <p:spPr>
          <a:xfrm>
            <a:off x="8001000" y="1783080"/>
            <a:ext cx="3630168" cy="237744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0" y="1874519"/>
            <a:ext cx="3200400" cy="320040"/>
          </a:xfrm>
          <a:prstGeom prst="rect">
            <a:avLst/>
          </a:prstGeom>
          <a:noFill/>
        </p:spPr>
        <p:txBody>
          <a:bodyPr wrap="square" lIns="0" tIns="0" rIns="0" bIns="0" anchor="t">
            <a:spAutoFit/>
          </a:bodyPr>
          <a:lstStyle/>
          <a:p>
            <a:pPr algn="l"/>
            <a:r>
              <a:rPr sz="1300" b="1" i="0">
                <a:solidFill>
                  <a:srgbClr val="4D4C55"/>
                </a:solidFill>
                <a:latin typeface="Avenir Next"/>
              </a:rPr>
              <a:t>Assignment-rule questions</a:t>
            </a:r>
          </a:p>
        </p:txBody>
      </p:sp>
      <p:sp>
        <p:nvSpPr>
          <p:cNvPr id="15" name="TextBox 14"/>
          <p:cNvSpPr txBox="1"/>
          <p:nvPr/>
        </p:nvSpPr>
        <p:spPr>
          <a:xfrm>
            <a:off x="8229600" y="2194560"/>
            <a:ext cx="3200400" cy="914400"/>
          </a:xfrm>
          <a:prstGeom prst="rect">
            <a:avLst/>
          </a:prstGeom>
          <a:noFill/>
        </p:spPr>
        <p:txBody>
          <a:bodyPr wrap="square" lIns="0" tIns="0" rIns="0" bIns="0" anchor="t">
            <a:spAutoFit/>
          </a:bodyPr>
          <a:lstStyle/>
          <a:p>
            <a:pPr algn="l"/>
            <a:r>
              <a:rPr sz="5400" b="1" i="0">
                <a:solidFill>
                  <a:srgbClr val="003366"/>
                </a:solidFill>
                <a:latin typeface="Avenir Next"/>
              </a:rPr>
              <a:t>7 / 7</a:t>
            </a:r>
          </a:p>
        </p:txBody>
      </p:sp>
      <p:sp>
        <p:nvSpPr>
          <p:cNvPr id="16" name="Oval 15"/>
          <p:cNvSpPr/>
          <p:nvPr/>
        </p:nvSpPr>
        <p:spPr>
          <a:xfrm>
            <a:off x="8247888" y="3337560"/>
            <a:ext cx="347472" cy="347472"/>
          </a:xfrm>
          <a:prstGeom prst="ellipse">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200" b="1" i="0">
                <a:solidFill>
                  <a:srgbClr val="FFFFFF"/>
                </a:solidFill>
                <a:latin typeface="Avenir Next"/>
              </a:rPr>
              <a:t>✓</a:t>
            </a:r>
          </a:p>
        </p:txBody>
      </p:sp>
      <p:sp>
        <p:nvSpPr>
          <p:cNvPr id="17" name="Oval 16"/>
          <p:cNvSpPr/>
          <p:nvPr/>
        </p:nvSpPr>
        <p:spPr>
          <a:xfrm>
            <a:off x="8686800" y="3337560"/>
            <a:ext cx="347472" cy="347472"/>
          </a:xfrm>
          <a:prstGeom prst="ellipse">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200" b="1" i="0">
                <a:solidFill>
                  <a:srgbClr val="FFFFFF"/>
                </a:solidFill>
                <a:latin typeface="Avenir Next"/>
              </a:rPr>
              <a:t>✓</a:t>
            </a:r>
          </a:p>
        </p:txBody>
      </p:sp>
      <p:sp>
        <p:nvSpPr>
          <p:cNvPr id="18" name="Oval 17"/>
          <p:cNvSpPr/>
          <p:nvPr/>
        </p:nvSpPr>
        <p:spPr>
          <a:xfrm>
            <a:off x="9125712" y="3337560"/>
            <a:ext cx="347472" cy="347472"/>
          </a:xfrm>
          <a:prstGeom prst="ellipse">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200" b="1" i="0">
                <a:solidFill>
                  <a:srgbClr val="FFFFFF"/>
                </a:solidFill>
                <a:latin typeface="Avenir Next"/>
              </a:rPr>
              <a:t>✓</a:t>
            </a:r>
          </a:p>
        </p:txBody>
      </p:sp>
      <p:sp>
        <p:nvSpPr>
          <p:cNvPr id="19" name="Oval 18"/>
          <p:cNvSpPr/>
          <p:nvPr/>
        </p:nvSpPr>
        <p:spPr>
          <a:xfrm>
            <a:off x="9564624" y="3337560"/>
            <a:ext cx="347472" cy="347472"/>
          </a:xfrm>
          <a:prstGeom prst="ellipse">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200" b="1" i="0">
                <a:solidFill>
                  <a:srgbClr val="FFFFFF"/>
                </a:solidFill>
                <a:latin typeface="Avenir Next"/>
              </a:rPr>
              <a:t>✓</a:t>
            </a:r>
          </a:p>
        </p:txBody>
      </p:sp>
      <p:sp>
        <p:nvSpPr>
          <p:cNvPr id="20" name="Oval 19"/>
          <p:cNvSpPr/>
          <p:nvPr/>
        </p:nvSpPr>
        <p:spPr>
          <a:xfrm>
            <a:off x="10003536" y="3337560"/>
            <a:ext cx="347472" cy="347472"/>
          </a:xfrm>
          <a:prstGeom prst="ellipse">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200" b="1" i="0">
                <a:solidFill>
                  <a:srgbClr val="FFFFFF"/>
                </a:solidFill>
                <a:latin typeface="Avenir Next"/>
              </a:rPr>
              <a:t>✓</a:t>
            </a:r>
          </a:p>
        </p:txBody>
      </p:sp>
      <p:sp>
        <p:nvSpPr>
          <p:cNvPr id="21" name="Oval 20"/>
          <p:cNvSpPr/>
          <p:nvPr/>
        </p:nvSpPr>
        <p:spPr>
          <a:xfrm>
            <a:off x="10442448" y="3337560"/>
            <a:ext cx="347472" cy="347472"/>
          </a:xfrm>
          <a:prstGeom prst="ellipse">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200" b="1" i="0">
                <a:solidFill>
                  <a:srgbClr val="FFFFFF"/>
                </a:solidFill>
                <a:latin typeface="Avenir Next"/>
              </a:rPr>
              <a:t>✓</a:t>
            </a:r>
          </a:p>
        </p:txBody>
      </p:sp>
      <p:sp>
        <p:nvSpPr>
          <p:cNvPr id="22" name="Oval 21"/>
          <p:cNvSpPr/>
          <p:nvPr/>
        </p:nvSpPr>
        <p:spPr>
          <a:xfrm>
            <a:off x="10881359" y="3337560"/>
            <a:ext cx="347472" cy="347472"/>
          </a:xfrm>
          <a:prstGeom prst="ellipse">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200" b="1" i="0">
                <a:solidFill>
                  <a:srgbClr val="FFFFFF"/>
                </a:solidFill>
                <a:latin typeface="Avenir Next"/>
              </a:rPr>
              <a:t>✓</a:t>
            </a:r>
          </a:p>
        </p:txBody>
      </p:sp>
      <p:sp>
        <p:nvSpPr>
          <p:cNvPr id="23" name="Rounded Rectangle 22"/>
          <p:cNvSpPr/>
          <p:nvPr/>
        </p:nvSpPr>
        <p:spPr>
          <a:xfrm>
            <a:off x="566928" y="4389120"/>
            <a:ext cx="5486400" cy="1325880"/>
          </a:xfrm>
          <a:prstGeom prst="roundRect">
            <a:avLst>
              <a:gd name="adj" fmla="val 6000"/>
            </a:avLst>
          </a:prstGeom>
          <a:solidFill>
            <a:srgbClr val="FBF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60" y="4526280"/>
            <a:ext cx="5029200" cy="1371600"/>
          </a:xfrm>
          <a:prstGeom prst="rect">
            <a:avLst/>
          </a:prstGeom>
          <a:noFill/>
        </p:spPr>
        <p:txBody>
          <a:bodyPr wrap="square" lIns="0" tIns="0" rIns="0" bIns="0" anchor="t">
            <a:spAutoFit/>
          </a:bodyPr>
          <a:lstStyle/>
          <a:p>
            <a:pPr algn="l">
              <a:lnSpc>
                <a:spcPct val="105000"/>
              </a:lnSpc>
            </a:pPr>
            <a:r>
              <a:rPr sz="1700" b="1" i="0">
                <a:solidFill>
                  <a:srgbClr val="A86400"/>
                </a:solidFill>
                <a:latin typeface="Avenir Next"/>
              </a:rPr>
              <a:t>Two issues remain</a:t>
            </a:r>
          </a:p>
          <a:p>
            <a:pPr algn="l">
              <a:lnSpc>
                <a:spcPct val="105000"/>
              </a:lnSpc>
              <a:spcBef>
                <a:spcPts val="600"/>
              </a:spcBef>
            </a:pPr>
            <a:r>
              <a:rPr sz="1400" b="0" i="0">
                <a:solidFill>
                  <a:srgbClr val="1D2330"/>
                </a:solidFill>
                <a:latin typeface="Avenir Next"/>
              </a:rPr>
              <a:t>The semester review asked for unnecessary decisions on two answers. An invalid date still led to a conditional plan.</a:t>
            </a:r>
          </a:p>
        </p:txBody>
      </p:sp>
      <p:sp>
        <p:nvSpPr>
          <p:cNvPr id="25" name="Rounded Rectangle 24"/>
          <p:cNvSpPr/>
          <p:nvPr/>
        </p:nvSpPr>
        <p:spPr>
          <a:xfrm>
            <a:off x="6190488" y="4389120"/>
            <a:ext cx="5440680" cy="1325880"/>
          </a:xfrm>
          <a:prstGeom prst="roundRect">
            <a:avLst>
              <a:gd name="adj" fmla="val 6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46520" y="4526280"/>
            <a:ext cx="4983480" cy="1371600"/>
          </a:xfrm>
          <a:prstGeom prst="rect">
            <a:avLst/>
          </a:prstGeom>
          <a:noFill/>
        </p:spPr>
        <p:txBody>
          <a:bodyPr wrap="square" lIns="0" tIns="0" rIns="0" bIns="0" anchor="t">
            <a:spAutoFit/>
          </a:bodyPr>
          <a:lstStyle/>
          <a:p>
            <a:pPr algn="l">
              <a:lnSpc>
                <a:spcPct val="105000"/>
              </a:lnSpc>
            </a:pPr>
            <a:r>
              <a:rPr sz="1700" b="1" i="0">
                <a:solidFill>
                  <a:srgbClr val="003366"/>
                </a:solidFill>
                <a:latin typeface="Avenir Next"/>
              </a:rPr>
              <a:t>Testing changed the instructions</a:t>
            </a:r>
          </a:p>
          <a:p>
            <a:pPr algn="l">
              <a:lnSpc>
                <a:spcPct val="105000"/>
              </a:lnSpc>
              <a:spcBef>
                <a:spcPts val="600"/>
              </a:spcBef>
            </a:pPr>
            <a:r>
              <a:rPr sz="1400" b="0" i="0">
                <a:solidFill>
                  <a:srgbClr val="1D2330"/>
                </a:solidFill>
                <a:latin typeface="Avenir Next"/>
              </a:rPr>
              <a:t>Time calculations now use the local time zone. A new-question tagging issue passed both follow-up tests after a fix.</a:t>
            </a:r>
          </a:p>
        </p:txBody>
      </p:sp>
      <p:sp>
        <p:nvSpPr>
          <p:cNvPr id="27"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28"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Tested on a real FAU syllabus</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DEMO-202 Graduate Data Analytics, Fall 2026. Tested live in owlONE on October 17, 2026.</a:t>
            </a:r>
          </a:p>
        </p:txBody>
      </p:sp>
      <p:sp>
        <p:nvSpPr>
          <p:cNvPr id="27"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28"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16</a:t>
            </a:r>
          </a:p>
        </p:txBody>
      </p:sp>
      <p:sp>
        <p:nvSpPr>
          <p:cNvPr id="29" name="Rounded Rectangle 28"/>
          <p:cNvSpPr/>
          <p:nvPr/>
        </p:nvSpPr>
        <p:spPr>
          <a:xfrm>
            <a:off x="566928" y="1783080"/>
            <a:ext cx="3520440" cy="3931920"/>
          </a:xfrm>
          <a:prstGeom prst="roundRect">
            <a:avLst>
              <a:gd name="adj" fmla="val 8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777240" y="1874519"/>
            <a:ext cx="3108960" cy="320040"/>
          </a:xfrm>
          <a:prstGeom prst="rect">
            <a:avLst/>
          </a:prstGeom>
          <a:noFill/>
        </p:spPr>
        <p:txBody>
          <a:bodyPr wrap="square" lIns="36576" tIns="36576" rIns="36576" bIns="36576" anchor="t">
            <a:spAutoFit/>
          </a:bodyPr>
          <a:lstStyle/>
          <a:p>
            <a:pPr algn="l"/>
            <a:r>
              <a:rPr sz="1300" b="1" i="0">
                <a:solidFill>
                  <a:srgbClr val="4D4C55"/>
                </a:solidFill>
                <a:latin typeface="Avenir Next"/>
              </a:rPr>
              <a:t>Live tests on the real course</a:t>
            </a:r>
          </a:p>
        </p:txBody>
      </p:sp>
      <p:sp>
        <p:nvSpPr>
          <p:cNvPr id="31" name="TextBox 30"/>
          <p:cNvSpPr txBox="1"/>
          <p:nvPr/>
        </p:nvSpPr>
        <p:spPr>
          <a:xfrm>
            <a:off x="777240" y="2194560"/>
            <a:ext cx="3108960" cy="914400"/>
          </a:xfrm>
          <a:prstGeom prst="rect">
            <a:avLst/>
          </a:prstGeom>
          <a:noFill/>
        </p:spPr>
        <p:txBody>
          <a:bodyPr wrap="square" lIns="36576" tIns="36576" rIns="36576" bIns="36576" anchor="t">
            <a:spAutoFit/>
          </a:bodyPr>
          <a:lstStyle/>
          <a:p>
            <a:pPr algn="l"/>
            <a:r>
              <a:rPr sz="5400" b="1" i="0">
                <a:solidFill>
                  <a:srgbClr val="1E7B45"/>
                </a:solidFill>
                <a:latin typeface="Avenir Next"/>
              </a:rPr>
              <a:t>17 / 17</a:t>
            </a:r>
          </a:p>
        </p:txBody>
      </p:sp>
      <p:sp>
        <p:nvSpPr>
          <p:cNvPr id="32" name="TextBox 31"/>
          <p:cNvSpPr txBox="1"/>
          <p:nvPr/>
        </p:nvSpPr>
        <p:spPr>
          <a:xfrm>
            <a:off x="777240" y="3063240"/>
            <a:ext cx="3108960" cy="320040"/>
          </a:xfrm>
          <a:prstGeom prst="rect">
            <a:avLst/>
          </a:prstGeom>
          <a:noFill/>
        </p:spPr>
        <p:txBody>
          <a:bodyPr wrap="square" lIns="36576" tIns="36576" rIns="36576" bIns="36576" anchor="t">
            <a:spAutoFit/>
          </a:bodyPr>
          <a:lstStyle/>
          <a:p>
            <a:pPr algn="l"/>
            <a:r>
              <a:rPr sz="1400" b="1" i="0">
                <a:solidFill>
                  <a:srgbClr val="1E7B45"/>
                </a:solidFill>
                <a:latin typeface="Avenir Next"/>
              </a:rPr>
              <a:t>PASSED</a:t>
            </a:r>
          </a:p>
        </p:txBody>
      </p:sp>
      <p:sp>
        <p:nvSpPr>
          <p:cNvPr id="33" name="Oval 32"/>
          <p:cNvSpPr/>
          <p:nvPr/>
        </p:nvSpPr>
        <p:spPr>
          <a:xfrm>
            <a:off x="804672" y="3621024"/>
            <a:ext cx="347472" cy="347472"/>
          </a:xfrm>
          <a:prstGeom prst="ellipse">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Avenir Next"/>
              </a:rPr>
              <a:t>✓</a:t>
            </a:r>
          </a:p>
        </p:txBody>
      </p:sp>
      <p:sp>
        <p:nvSpPr>
          <p:cNvPr id="34" name="TextBox 33"/>
          <p:cNvSpPr txBox="1"/>
          <p:nvPr/>
        </p:nvSpPr>
        <p:spPr>
          <a:xfrm>
            <a:off x="1261872" y="3566160"/>
            <a:ext cx="1737360" cy="457200"/>
          </a:xfrm>
          <a:prstGeom prst="rect">
            <a:avLst/>
          </a:prstGeom>
          <a:noFill/>
        </p:spPr>
        <p:txBody>
          <a:bodyPr wrap="square" lIns="36576" tIns="36576" rIns="36576" bIns="36576" anchor="ctr">
            <a:spAutoFit/>
          </a:bodyPr>
          <a:lstStyle/>
          <a:p>
            <a:pPr algn="l"/>
            <a:r>
              <a:rPr sz="1500" b="1" i="0">
                <a:solidFill>
                  <a:srgbClr val="003366"/>
                </a:solidFill>
                <a:latin typeface="Avenir Next"/>
              </a:rPr>
              <a:t>Instructor Desk</a:t>
            </a:r>
          </a:p>
        </p:txBody>
      </p:sp>
      <p:sp>
        <p:nvSpPr>
          <p:cNvPr id="35" name="TextBox 34"/>
          <p:cNvSpPr txBox="1"/>
          <p:nvPr/>
        </p:nvSpPr>
        <p:spPr>
          <a:xfrm>
            <a:off x="2926080" y="3566160"/>
            <a:ext cx="1005840" cy="457200"/>
          </a:xfrm>
          <a:prstGeom prst="rect">
            <a:avLst/>
          </a:prstGeom>
          <a:noFill/>
        </p:spPr>
        <p:txBody>
          <a:bodyPr wrap="square" lIns="36576" tIns="36576" rIns="36576" bIns="36576" anchor="ctr">
            <a:spAutoFit/>
          </a:bodyPr>
          <a:lstStyle/>
          <a:p>
            <a:pPr algn="r"/>
            <a:r>
              <a:rPr sz="1500" b="1" i="0">
                <a:solidFill>
                  <a:srgbClr val="1E7B45"/>
                </a:solidFill>
                <a:latin typeface="Avenir Next"/>
              </a:rPr>
              <a:t>5 / 5</a:t>
            </a:r>
          </a:p>
        </p:txBody>
      </p:sp>
      <p:sp>
        <p:nvSpPr>
          <p:cNvPr id="36" name="Oval 35"/>
          <p:cNvSpPr/>
          <p:nvPr/>
        </p:nvSpPr>
        <p:spPr>
          <a:xfrm>
            <a:off x="804672" y="4187951"/>
            <a:ext cx="347472" cy="347472"/>
          </a:xfrm>
          <a:prstGeom prst="ellipse">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Avenir Next"/>
              </a:rPr>
              <a:t>✓</a:t>
            </a:r>
          </a:p>
        </p:txBody>
      </p:sp>
      <p:sp>
        <p:nvSpPr>
          <p:cNvPr id="37" name="TextBox 36"/>
          <p:cNvSpPr txBox="1"/>
          <p:nvPr/>
        </p:nvSpPr>
        <p:spPr>
          <a:xfrm>
            <a:off x="1261872" y="4133087"/>
            <a:ext cx="1737360" cy="457200"/>
          </a:xfrm>
          <a:prstGeom prst="rect">
            <a:avLst/>
          </a:prstGeom>
          <a:noFill/>
        </p:spPr>
        <p:txBody>
          <a:bodyPr wrap="square" lIns="36576" tIns="36576" rIns="36576" bIns="36576" anchor="ctr">
            <a:spAutoFit/>
          </a:bodyPr>
          <a:lstStyle/>
          <a:p>
            <a:pPr algn="l"/>
            <a:r>
              <a:rPr sz="1500" b="1" i="0">
                <a:solidFill>
                  <a:srgbClr val="003366"/>
                </a:solidFill>
                <a:latin typeface="Avenir Next"/>
              </a:rPr>
              <a:t>Student Helper</a:t>
            </a:r>
          </a:p>
        </p:txBody>
      </p:sp>
      <p:sp>
        <p:nvSpPr>
          <p:cNvPr id="38" name="TextBox 37"/>
          <p:cNvSpPr txBox="1"/>
          <p:nvPr/>
        </p:nvSpPr>
        <p:spPr>
          <a:xfrm>
            <a:off x="2926080" y="4133087"/>
            <a:ext cx="1005840" cy="457200"/>
          </a:xfrm>
          <a:prstGeom prst="rect">
            <a:avLst/>
          </a:prstGeom>
          <a:noFill/>
        </p:spPr>
        <p:txBody>
          <a:bodyPr wrap="square" lIns="36576" tIns="36576" rIns="36576" bIns="36576" anchor="ctr">
            <a:spAutoFit/>
          </a:bodyPr>
          <a:lstStyle/>
          <a:p>
            <a:pPr algn="r"/>
            <a:r>
              <a:rPr sz="1500" b="1" i="0">
                <a:solidFill>
                  <a:srgbClr val="1E7B45"/>
                </a:solidFill>
                <a:latin typeface="Avenir Next"/>
              </a:rPr>
              <a:t>12 / 12</a:t>
            </a:r>
          </a:p>
        </p:txBody>
      </p:sp>
      <p:sp>
        <p:nvSpPr>
          <p:cNvPr id="39" name="TextBox 38"/>
          <p:cNvSpPr txBox="1"/>
          <p:nvPr/>
        </p:nvSpPr>
        <p:spPr>
          <a:xfrm>
            <a:off x="777240" y="4754880"/>
            <a:ext cx="3154680" cy="868680"/>
          </a:xfrm>
          <a:prstGeom prst="rect">
            <a:avLst/>
          </a:prstGeom>
          <a:noFill/>
        </p:spPr>
        <p:txBody>
          <a:bodyPr wrap="square" lIns="36576" tIns="36576" rIns="36576" bIns="36576" anchor="t">
            <a:spAutoFit/>
          </a:bodyPr>
          <a:lstStyle/>
          <a:p>
            <a:pPr algn="l"/>
            <a:r>
              <a:rPr sz="1150" b="0" i="0">
                <a:solidFill>
                  <a:srgbClr val="4D4C55"/>
                </a:solidFill>
                <a:latin typeface="Avenir Next"/>
              </a:rPr>
              <a:t>A separate test agent read the real syllabus. The two demo agents were not changed.</a:t>
            </a:r>
          </a:p>
        </p:txBody>
      </p:sp>
      <p:sp>
        <p:nvSpPr>
          <p:cNvPr id="40" name="TextBox 39"/>
          <p:cNvSpPr txBox="1"/>
          <p:nvPr/>
        </p:nvSpPr>
        <p:spPr>
          <a:xfrm>
            <a:off x="4343400" y="1783080"/>
            <a:ext cx="7315200" cy="292608"/>
          </a:xfrm>
          <a:prstGeom prst="rect">
            <a:avLst/>
          </a:prstGeom>
          <a:noFill/>
        </p:spPr>
        <p:txBody>
          <a:bodyPr wrap="square" lIns="36576" tIns="36576" rIns="36576" bIns="36576" anchor="t">
            <a:spAutoFit/>
          </a:bodyPr>
          <a:lstStyle/>
          <a:p>
            <a:pPr algn="l"/>
            <a:r>
              <a:rPr sz="1200" b="1" i="0">
                <a:solidFill>
                  <a:srgbClr val="4D4C55"/>
                </a:solidFill>
                <a:latin typeface="Avenir Next"/>
              </a:rPr>
              <a:t>THE DOMINO ON THE REAL COURSE</a:t>
            </a:r>
          </a:p>
        </p:txBody>
      </p:sp>
      <p:sp>
        <p:nvSpPr>
          <p:cNvPr id="41" name="Rounded Rectangle 40"/>
          <p:cNvSpPr/>
          <p:nvPr/>
        </p:nvSpPr>
        <p:spPr>
          <a:xfrm>
            <a:off x="4343400" y="2121408"/>
            <a:ext cx="1627632" cy="1188720"/>
          </a:xfrm>
          <a:prstGeom prst="roundRect">
            <a:avLst>
              <a:gd name="adj" fmla="val 8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4389120" y="2167127"/>
            <a:ext cx="1536192" cy="1097280"/>
          </a:xfrm>
          <a:prstGeom prst="rect">
            <a:avLst/>
          </a:prstGeom>
          <a:noFill/>
        </p:spPr>
        <p:txBody>
          <a:bodyPr wrap="square" lIns="36576" tIns="36576" rIns="36576" bIns="36576" anchor="ctr">
            <a:spAutoFit/>
          </a:bodyPr>
          <a:lstStyle/>
          <a:p>
            <a:pPr algn="ctr"/>
            <a:r>
              <a:rPr sz="1250" b="1" i="0">
                <a:solidFill>
                  <a:srgbClr val="FFFFFF"/>
                </a:solidFill>
                <a:latin typeface="Avenir Next"/>
              </a:rPr>
              <a:t>Thu Nov 5</a:t>
            </a:r>
          </a:p>
          <a:p>
            <a:pPr algn="ctr"/>
            <a:r>
              <a:rPr sz="1250" b="1" i="0">
                <a:solidFill>
                  <a:srgbClr val="FFFFFF"/>
                </a:solidFill>
                <a:latin typeface="Avenir Next"/>
              </a:rPr>
              <a:t>Campus closed</a:t>
            </a:r>
          </a:p>
          <a:p>
            <a:pPr algn="ctr"/>
            <a:r>
              <a:rPr sz="1100" b="0" i="0">
                <a:solidFill>
                  <a:srgbClr val="FFFFFF"/>
                </a:solidFill>
                <a:latin typeface="Avenir Next"/>
              </a:rPr>
              <a:t>(simulated notice)</a:t>
            </a:r>
          </a:p>
        </p:txBody>
      </p:sp>
      <p:sp>
        <p:nvSpPr>
          <p:cNvPr id="43" name="Right Arrow 42"/>
          <p:cNvSpPr/>
          <p:nvPr/>
        </p:nvSpPr>
        <p:spPr>
          <a:xfrm>
            <a:off x="6007608" y="2615184"/>
            <a:ext cx="192023" cy="201168"/>
          </a:xfrm>
          <a:prstGeom prst="rightArrow">
            <a:avLst/>
          </a:prstGeom>
          <a:solidFill>
            <a:srgbClr val="8A8F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6236208" y="2121408"/>
            <a:ext cx="1627632" cy="1188720"/>
          </a:xfrm>
          <a:prstGeom prst="roundRect">
            <a:avLst>
              <a:gd name="adj" fmla="val 8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6281928" y="2167127"/>
            <a:ext cx="1536192" cy="1097280"/>
          </a:xfrm>
          <a:prstGeom prst="rect">
            <a:avLst/>
          </a:prstGeom>
          <a:noFill/>
        </p:spPr>
        <p:txBody>
          <a:bodyPr wrap="square" lIns="36576" tIns="36576" rIns="36576" bIns="36576" anchor="ctr">
            <a:spAutoFit/>
          </a:bodyPr>
          <a:lstStyle/>
          <a:p>
            <a:pPr algn="ctr"/>
            <a:r>
              <a:rPr sz="1250" b="1" i="0">
                <a:solidFill>
                  <a:srgbClr val="003366"/>
                </a:solidFill>
                <a:latin typeface="Avenir Next"/>
              </a:rPr>
              <a:t>Lecture #17 moves</a:t>
            </a:r>
          </a:p>
          <a:p>
            <a:pPr algn="ctr"/>
            <a:r>
              <a:rPr sz="1250" b="1" i="0">
                <a:solidFill>
                  <a:srgbClr val="003366"/>
                </a:solidFill>
                <a:latin typeface="Avenir Next"/>
              </a:rPr>
              <a:t>to Mon Nov 9</a:t>
            </a:r>
          </a:p>
          <a:p>
            <a:pPr algn="ctr"/>
            <a:r>
              <a:rPr sz="1100" b="0" i="0">
                <a:solidFill>
                  <a:srgbClr val="003366"/>
                </a:solidFill>
                <a:latin typeface="Avenir Next"/>
              </a:rPr>
              <a:t>Project Part 3 announced</a:t>
            </a:r>
          </a:p>
        </p:txBody>
      </p:sp>
      <p:sp>
        <p:nvSpPr>
          <p:cNvPr id="46" name="Right Arrow 45"/>
          <p:cNvSpPr/>
          <p:nvPr/>
        </p:nvSpPr>
        <p:spPr>
          <a:xfrm>
            <a:off x="7900415" y="2615184"/>
            <a:ext cx="192023" cy="201168"/>
          </a:xfrm>
          <a:prstGeom prst="rightArrow">
            <a:avLst/>
          </a:prstGeom>
          <a:solidFill>
            <a:srgbClr val="8A8F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8129016" y="2121408"/>
            <a:ext cx="1627632" cy="1188720"/>
          </a:xfrm>
          <a:prstGeom prst="roundRect">
            <a:avLst>
              <a:gd name="adj" fmla="val 8000"/>
            </a:avLst>
          </a:prstGeom>
          <a:solidFill>
            <a:srgbClr val="FCECEA"/>
          </a:solidFill>
          <a:ln w="1270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8174736" y="2167127"/>
            <a:ext cx="1536192" cy="1097280"/>
          </a:xfrm>
          <a:prstGeom prst="rect">
            <a:avLst/>
          </a:prstGeom>
          <a:noFill/>
        </p:spPr>
        <p:txBody>
          <a:bodyPr wrap="square" lIns="36576" tIns="36576" rIns="36576" bIns="36576" anchor="ctr">
            <a:spAutoFit/>
          </a:bodyPr>
          <a:lstStyle/>
          <a:p>
            <a:pPr algn="ctr"/>
            <a:r>
              <a:rPr sz="1250" b="1" i="0">
                <a:solidFill>
                  <a:srgbClr val="B3261E"/>
                </a:solidFill>
                <a:latin typeface="Avenir Next"/>
              </a:rPr>
              <a:t>Due Thu Nov 19?</a:t>
            </a:r>
          </a:p>
          <a:p>
            <a:pPr algn="ctr"/>
            <a:r>
              <a:rPr sz="1500" b="1" i="0">
                <a:solidFill>
                  <a:srgbClr val="B3261E"/>
                </a:solidFill>
                <a:latin typeface="Avenir Next"/>
              </a:rPr>
              <a:t>250 h 9 m</a:t>
            </a:r>
          </a:p>
          <a:p>
            <a:pPr algn="ctr"/>
            <a:r>
              <a:rPr sz="1100" b="1" i="0">
                <a:solidFill>
                  <a:srgbClr val="B3261E"/>
                </a:solidFill>
                <a:latin typeface="Avenir Next"/>
              </a:rPr>
              <a:t>needs 336 h · FAIL</a:t>
            </a:r>
          </a:p>
        </p:txBody>
      </p:sp>
      <p:sp>
        <p:nvSpPr>
          <p:cNvPr id="49" name="Right Arrow 48"/>
          <p:cNvSpPr/>
          <p:nvPr/>
        </p:nvSpPr>
        <p:spPr>
          <a:xfrm>
            <a:off x="9793224" y="2615184"/>
            <a:ext cx="192023" cy="201168"/>
          </a:xfrm>
          <a:prstGeom prst="rightArrow">
            <a:avLst/>
          </a:prstGeom>
          <a:solidFill>
            <a:srgbClr val="8A8F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p:cNvSpPr/>
          <p:nvPr/>
        </p:nvSpPr>
        <p:spPr>
          <a:xfrm>
            <a:off x="10021824" y="2121408"/>
            <a:ext cx="1627632" cy="1188720"/>
          </a:xfrm>
          <a:prstGeom prst="roundRect">
            <a:avLst>
              <a:gd name="adj" fmla="val 8000"/>
            </a:avLst>
          </a:prstGeom>
          <a:solidFill>
            <a:srgbClr val="E8F3EC"/>
          </a:solidFill>
          <a:ln w="12700">
            <a:solidFill>
              <a:srgbClr val="1E7B4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10067544" y="2167127"/>
            <a:ext cx="1536192" cy="1097280"/>
          </a:xfrm>
          <a:prstGeom prst="rect">
            <a:avLst/>
          </a:prstGeom>
          <a:noFill/>
        </p:spPr>
        <p:txBody>
          <a:bodyPr wrap="square" lIns="36576" tIns="36576" rIns="36576" bIns="36576" anchor="ctr">
            <a:spAutoFit/>
          </a:bodyPr>
          <a:lstStyle/>
          <a:p>
            <a:pPr algn="ctr"/>
            <a:r>
              <a:rPr sz="1250" b="1" i="0">
                <a:solidFill>
                  <a:srgbClr val="1E7B45"/>
                </a:solidFill>
                <a:latin typeface="Avenir Next"/>
              </a:rPr>
              <a:t>Due Mon Nov 23</a:t>
            </a:r>
          </a:p>
          <a:p>
            <a:pPr algn="ctr"/>
            <a:r>
              <a:rPr sz="1500" b="1" i="0">
                <a:solidFill>
                  <a:srgbClr val="1E7B45"/>
                </a:solidFill>
                <a:latin typeface="Avenir Next"/>
              </a:rPr>
              <a:t>346 h 9 m</a:t>
            </a:r>
          </a:p>
          <a:p>
            <a:pPr algn="ctr"/>
            <a:r>
              <a:rPr sz="1100" b="1" i="0">
                <a:solidFill>
                  <a:srgbClr val="1E7B45"/>
                </a:solidFill>
                <a:latin typeface="Avenir Next"/>
              </a:rPr>
              <a:t>PASS</a:t>
            </a:r>
          </a:p>
        </p:txBody>
      </p:sp>
      <p:sp>
        <p:nvSpPr>
          <p:cNvPr id="52" name="TextBox 51"/>
          <p:cNvSpPr txBox="1"/>
          <p:nvPr/>
        </p:nvSpPr>
        <p:spPr>
          <a:xfrm>
            <a:off x="4343400" y="3383280"/>
            <a:ext cx="7287768" cy="502920"/>
          </a:xfrm>
          <a:prstGeom prst="rect">
            <a:avLst/>
          </a:prstGeom>
          <a:noFill/>
        </p:spPr>
        <p:txBody>
          <a:bodyPr wrap="square" lIns="36576" tIns="36576" rIns="36576" bIns="36576" anchor="t">
            <a:spAutoFit/>
          </a:bodyPr>
          <a:lstStyle/>
          <a:p>
            <a:pPr algn="l"/>
            <a:r>
              <a:rPr sz="1200" b="0" i="0">
                <a:solidFill>
                  <a:srgbClr val="4D4C55"/>
                </a:solidFill>
                <a:latin typeface="Avenir Next"/>
              </a:rPr>
              <a:t>Rule: Project Part 3 is due at least 14 days (336 h) after it is announced. Calculated with code. A draft for the professor; Quiz 4 stays fixed.</a:t>
            </a:r>
          </a:p>
        </p:txBody>
      </p:sp>
      <p:sp>
        <p:nvSpPr>
          <p:cNvPr id="53" name="Rounded Rectangle 52"/>
          <p:cNvSpPr/>
          <p:nvPr/>
        </p:nvSpPr>
        <p:spPr>
          <a:xfrm>
            <a:off x="4343400" y="4023360"/>
            <a:ext cx="2313432" cy="1691640"/>
          </a:xfrm>
          <a:prstGeom prst="roundRect">
            <a:avLst>
              <a:gd name="adj" fmla="val 8000"/>
            </a:avLst>
          </a:prstGeom>
          <a:solidFill>
            <a:srgbClr val="FBF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4480560" y="4114800"/>
            <a:ext cx="2039112" cy="1554480"/>
          </a:xfrm>
          <a:prstGeom prst="rect">
            <a:avLst/>
          </a:prstGeom>
          <a:noFill/>
        </p:spPr>
        <p:txBody>
          <a:bodyPr wrap="square" lIns="36576" tIns="36576" rIns="36576" bIns="36576" anchor="t">
            <a:spAutoFit/>
          </a:bodyPr>
          <a:lstStyle/>
          <a:p>
            <a:pPr algn="l"/>
            <a:r>
              <a:rPr sz="1350" b="1" i="0">
                <a:solidFill>
                  <a:srgbClr val="A86400"/>
                </a:solidFill>
                <a:latin typeface="Avenir Next"/>
              </a:rPr>
              <a:t>Follows this course's AI ban</a:t>
            </a:r>
          </a:p>
          <a:p>
            <a:pPr algn="l"/>
            <a:r>
              <a:rPr sz="1150" b="0" i="0">
                <a:solidFill>
                  <a:srgbClr val="4D4C55"/>
                </a:solidFill>
                <a:latin typeface="Avenir Next"/>
              </a:rPr>
              <a:t>Refused even brainstorming with ChatGPT. DEMO-101 allowed it.</a:t>
            </a:r>
          </a:p>
        </p:txBody>
      </p:sp>
      <p:sp>
        <p:nvSpPr>
          <p:cNvPr id="55" name="Rounded Rectangle 54"/>
          <p:cNvSpPr/>
          <p:nvPr/>
        </p:nvSpPr>
        <p:spPr>
          <a:xfrm>
            <a:off x="6830568" y="4023360"/>
            <a:ext cx="2313432" cy="1691640"/>
          </a:xfrm>
          <a:prstGeom prst="roundRect">
            <a:avLst>
              <a:gd name="adj" fmla="val 8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Box 55"/>
          <p:cNvSpPr txBox="1"/>
          <p:nvPr/>
        </p:nvSpPr>
        <p:spPr>
          <a:xfrm>
            <a:off x="6967728" y="4114800"/>
            <a:ext cx="2039112" cy="1554480"/>
          </a:xfrm>
          <a:prstGeom prst="rect">
            <a:avLst/>
          </a:prstGeom>
          <a:noFill/>
        </p:spPr>
        <p:txBody>
          <a:bodyPr wrap="square" lIns="36576" tIns="36576" rIns="36576" bIns="36576" anchor="t">
            <a:spAutoFit/>
          </a:bodyPr>
          <a:lstStyle/>
          <a:p>
            <a:pPr algn="l"/>
            <a:r>
              <a:rPr sz="1350" b="1" i="0">
                <a:solidFill>
                  <a:srgbClr val="003366"/>
                </a:solidFill>
                <a:latin typeface="Avenir Next"/>
              </a:rPr>
              <a:t>Exact link, never invented</a:t>
            </a:r>
          </a:p>
          <a:p>
            <a:pPr algn="l"/>
            <a:r>
              <a:rPr sz="1150" b="0" i="0">
                <a:solidFill>
                  <a:srgbClr val="4D4C55"/>
                </a:solidFill>
                <a:latin typeface="Avenir Next"/>
              </a:rPr>
              <a:t>Textbook: dmml.asu.edu/smm/, exactly as the syllabus gives it.</a:t>
            </a:r>
          </a:p>
        </p:txBody>
      </p:sp>
      <p:sp>
        <p:nvSpPr>
          <p:cNvPr id="57" name="Rounded Rectangle 56"/>
          <p:cNvSpPr/>
          <p:nvPr/>
        </p:nvSpPr>
        <p:spPr>
          <a:xfrm>
            <a:off x="9317736" y="4023360"/>
            <a:ext cx="2313432" cy="1691640"/>
          </a:xfrm>
          <a:prstGeom prst="roundRect">
            <a:avLst>
              <a:gd name="adj" fmla="val 8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TextBox 57"/>
          <p:cNvSpPr txBox="1"/>
          <p:nvPr/>
        </p:nvSpPr>
        <p:spPr>
          <a:xfrm>
            <a:off x="9454896" y="4114800"/>
            <a:ext cx="2039112" cy="1554480"/>
          </a:xfrm>
          <a:prstGeom prst="rect">
            <a:avLst/>
          </a:prstGeom>
          <a:noFill/>
        </p:spPr>
        <p:txBody>
          <a:bodyPr wrap="square" lIns="36576" tIns="36576" rIns="36576" bIns="36576" anchor="t">
            <a:spAutoFit/>
          </a:bodyPr>
          <a:lstStyle/>
          <a:p>
            <a:pPr algn="l"/>
            <a:r>
              <a:rPr sz="1350" b="1" i="0">
                <a:solidFill>
                  <a:srgbClr val="003366"/>
                </a:solidFill>
                <a:latin typeface="Avenir Next"/>
              </a:rPr>
              <a:t>Asked once, answered for all</a:t>
            </a:r>
          </a:p>
          <a:p>
            <a:pPr algn="l"/>
            <a:r>
              <a:rPr sz="1150" b="0" i="0">
                <a:solidFill>
                  <a:srgbClr val="4D4C55"/>
                </a:solidFill>
                <a:latin typeface="Avenir Next"/>
              </a:rPr>
              <a:t>Project Part 4 date: new question → professor answers → A6 for the next student.</a:t>
            </a:r>
          </a:p>
        </p:txBody>
      </p:sp>
      <p:sp>
        <p:nvSpPr>
          <p:cNvPr id="59" name="TextBox 58"/>
          <p:cNvSpPr txBox="1"/>
          <p:nvPr/>
        </p:nvSpPr>
        <p:spPr>
          <a:xfrm>
            <a:off x="566928" y="5870448"/>
            <a:ext cx="11064240" cy="411480"/>
          </a:xfrm>
          <a:prstGeom prst="rect">
            <a:avLst/>
          </a:prstGeom>
          <a:noFill/>
        </p:spPr>
        <p:txBody>
          <a:bodyPr wrap="square" lIns="36576" tIns="36576" rIns="36576" bIns="36576" anchor="t">
            <a:spAutoFit/>
          </a:bodyPr>
          <a:lstStyle/>
          <a:p>
            <a:pPr algn="l"/>
            <a:r>
              <a:rPr sz="1100" b="0" i="1">
                <a:solidFill>
                  <a:srgbClr val="6B6A73"/>
                </a:solidFill>
                <a:latin typeface="Avenir Next"/>
              </a:rPr>
              <a:t>Real syllabus text. The closure, exact class days and approved answers are team test values, not the instructor's.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The rules we tested on DEMO-202</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Left: the real syllabus. Right: the values our team set, because the syllabus lists weeks, not days.</a:t>
            </a:r>
          </a:p>
        </p:txBody>
      </p:sp>
      <p:sp>
        <p:nvSpPr>
          <p:cNvPr id="27"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28"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17</a:t>
            </a:r>
          </a:p>
        </p:txBody>
      </p:sp>
      <p:sp>
        <p:nvSpPr>
          <p:cNvPr id="29" name="Rounded Rectangle 28"/>
          <p:cNvSpPr/>
          <p:nvPr/>
        </p:nvSpPr>
        <p:spPr>
          <a:xfrm>
            <a:off x="566928" y="1755648"/>
            <a:ext cx="5349240" cy="4297680"/>
          </a:xfrm>
          <a:prstGeom prst="roundRect">
            <a:avLst>
              <a:gd name="adj" fmla="val 5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7240" y="1874519"/>
            <a:ext cx="4983480" cy="4114800"/>
          </a:xfrm>
          <a:prstGeom prst="rect">
            <a:avLst/>
          </a:prstGeom>
          <a:noFill/>
        </p:spPr>
        <p:txBody>
          <a:bodyPr wrap="square" lIns="27432" tIns="27432" rIns="27432" bIns="27432" anchor="t">
            <a:spAutoFit/>
          </a:bodyPr>
          <a:lstStyle/>
          <a:p>
            <a:pPr>
              <a:spcAft>
                <a:spcPts val="600"/>
              </a:spcAft>
            </a:pPr>
            <a:r>
              <a:rPr sz="1150" b="1">
                <a:solidFill>
                  <a:srgbClr val="4D4C55"/>
                </a:solidFill>
                <a:latin typeface="Avenir Next"/>
              </a:rPr>
              <a:t>FROM THE REAL SYLLABUS</a:t>
            </a:r>
          </a:p>
          <a:p>
            <a:pPr>
              <a:spcAft>
                <a:spcPts val="0"/>
              </a:spcAft>
            </a:pPr>
            <a:r>
              <a:rPr sz="1350" b="1">
                <a:solidFill>
                  <a:srgbClr val="003366"/>
                </a:solidFill>
                <a:latin typeface="Avenir Next"/>
              </a:rPr>
              <a:t>No final exam</a:t>
            </a:r>
          </a:p>
          <a:p>
            <a:pPr>
              <a:spcAft>
                <a:spcPts val="600"/>
              </a:spcAft>
            </a:pPr>
            <a:r>
              <a:rPr sz="1150" b="0">
                <a:solidFill>
                  <a:srgbClr val="4D4C55"/>
                </a:solidFill>
                <a:latin typeface="Avenir Next"/>
              </a:rPr>
              <a:t>A 4-part project (60%) and 4 quizzes (40%).</a:t>
            </a:r>
          </a:p>
          <a:p>
            <a:pPr>
              <a:spcAft>
                <a:spcPts val="0"/>
              </a:spcAft>
            </a:pPr>
            <a:r>
              <a:rPr sz="1350" b="1">
                <a:solidFill>
                  <a:srgbClr val="003366"/>
                </a:solidFill>
                <a:latin typeface="Avenir Next"/>
              </a:rPr>
              <a:t>Quizzes in person, on set dates</a:t>
            </a:r>
          </a:p>
          <a:p>
            <a:pPr>
              <a:spcAft>
                <a:spcPts val="600"/>
              </a:spcAft>
            </a:pPr>
            <a:r>
              <a:rPr sz="1150" b="0">
                <a:solidFill>
                  <a:srgbClr val="4D4C55"/>
                </a:solidFill>
                <a:latin typeface="Avenir Next"/>
              </a:rPr>
              <a:t>“No exceptions”, yet one missed quiz can be made up in the last class.</a:t>
            </a:r>
          </a:p>
          <a:p>
            <a:pPr>
              <a:spcAft>
                <a:spcPts val="0"/>
              </a:spcAft>
            </a:pPr>
            <a:r>
              <a:rPr sz="1350" b="1">
                <a:solidFill>
                  <a:srgbClr val="003366"/>
                </a:solidFill>
                <a:latin typeface="Avenir Next"/>
              </a:rPr>
              <a:t>Late work</a:t>
            </a:r>
          </a:p>
          <a:p>
            <a:pPr>
              <a:spcAft>
                <a:spcPts val="600"/>
              </a:spcAft>
            </a:pPr>
            <a:r>
              <a:rPr sz="1150" b="0">
                <a:solidFill>
                  <a:srgbClr val="4D4C55"/>
                </a:solidFill>
                <a:latin typeface="Avenir Next"/>
              </a:rPr>
              <a:t>−10% within 24 h, −20% within 48 h, not accepted after 48 h.</a:t>
            </a:r>
          </a:p>
          <a:p>
            <a:pPr>
              <a:spcAft>
                <a:spcPts val="0"/>
              </a:spcAft>
            </a:pPr>
            <a:r>
              <a:rPr sz="1350" b="1">
                <a:solidFill>
                  <a:srgbClr val="003366"/>
                </a:solidFill>
                <a:latin typeface="Avenir Next"/>
              </a:rPr>
              <a:t>AI banned for all assigned work</a:t>
            </a:r>
          </a:p>
          <a:p>
            <a:pPr>
              <a:spcAft>
                <a:spcPts val="600"/>
              </a:spcAft>
            </a:pPr>
            <a:r>
              <a:rPr sz="1150" b="0">
                <a:solidFill>
                  <a:srgbClr val="4D4C55"/>
                </a:solidFill>
                <a:latin typeface="Avenir Next"/>
              </a:rPr>
              <a:t>Suspected AI work gets a 0 and an F in the course.</a:t>
            </a:r>
          </a:p>
          <a:p>
            <a:pPr>
              <a:spcAft>
                <a:spcPts val="0"/>
              </a:spcAft>
            </a:pPr>
            <a:r>
              <a:rPr sz="1350" b="1">
                <a:solidFill>
                  <a:srgbClr val="003366"/>
                </a:solidFill>
                <a:latin typeface="Avenir Next"/>
              </a:rPr>
              <a:t>Recording</a:t>
            </a:r>
          </a:p>
          <a:p>
            <a:pPr>
              <a:spcAft>
                <a:spcPts val="600"/>
              </a:spcAft>
            </a:pPr>
            <a:r>
              <a:rPr sz="1150" b="0">
                <a:solidFill>
                  <a:srgbClr val="4D4C55"/>
                </a:solidFill>
                <a:latin typeface="Avenir Next"/>
              </a:rPr>
              <a:t>Lectures yes, for personal use. Presentations no.</a:t>
            </a:r>
          </a:p>
          <a:p>
            <a:pPr>
              <a:spcAft>
                <a:spcPts val="0"/>
              </a:spcAft>
            </a:pPr>
            <a:r>
              <a:rPr sz="1350" b="1">
                <a:solidFill>
                  <a:srgbClr val="003366"/>
                </a:solidFill>
                <a:latin typeface="Avenir Next"/>
              </a:rPr>
              <a:t>Schedule by week only</a:t>
            </a:r>
          </a:p>
          <a:p>
            <a:pPr>
              <a:spcAft>
                <a:spcPts val="0"/>
              </a:spcAft>
            </a:pPr>
            <a:r>
              <a:rPr sz="1150" b="0">
                <a:solidFill>
                  <a:srgbClr val="4D4C55"/>
                </a:solidFill>
                <a:latin typeface="Avenir Next"/>
              </a:rPr>
              <a:t>Tue/Thu 12:30–1:50 pm, “subject to change”, no exact quiz days.</a:t>
            </a:r>
          </a:p>
        </p:txBody>
      </p:sp>
      <p:sp>
        <p:nvSpPr>
          <p:cNvPr id="31" name="TextBox 30"/>
          <p:cNvSpPr txBox="1"/>
          <p:nvPr/>
        </p:nvSpPr>
        <p:spPr>
          <a:xfrm>
            <a:off x="6144768" y="1755648"/>
            <a:ext cx="5486400" cy="274320"/>
          </a:xfrm>
          <a:prstGeom prst="rect">
            <a:avLst/>
          </a:prstGeom>
          <a:noFill/>
        </p:spPr>
        <p:txBody>
          <a:bodyPr wrap="square" lIns="27432" tIns="27432" rIns="27432" bIns="27432" anchor="t">
            <a:spAutoFit/>
          </a:bodyPr>
          <a:lstStyle/>
          <a:p>
            <a:pPr>
              <a:spcAft>
                <a:spcPts val="300"/>
              </a:spcAft>
            </a:pPr>
            <a:r>
              <a:rPr sz="1150" b="1">
                <a:solidFill>
                  <a:srgbClr val="4D4C55"/>
                </a:solidFill>
                <a:latin typeface="Avenir Next"/>
              </a:rPr>
              <a:t>WHAT OUR TEAM SET FOR TESTING</a:t>
            </a:r>
          </a:p>
        </p:txBody>
      </p:sp>
      <p:sp>
        <p:nvSpPr>
          <p:cNvPr id="32" name="Rounded Rectangle 31"/>
          <p:cNvSpPr/>
          <p:nvPr/>
        </p:nvSpPr>
        <p:spPr>
          <a:xfrm>
            <a:off x="6099048" y="2057400"/>
            <a:ext cx="5532120" cy="1280160"/>
          </a:xfrm>
          <a:prstGeom prst="roundRect">
            <a:avLst>
              <a:gd name="adj" fmla="val 5000"/>
            </a:avLst>
          </a:prstGeom>
          <a:solidFill>
            <a:srgbClr val="FBF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81928" y="2130552"/>
            <a:ext cx="5212080" cy="1170431"/>
          </a:xfrm>
          <a:prstGeom prst="rect">
            <a:avLst/>
          </a:prstGeom>
          <a:noFill/>
        </p:spPr>
        <p:txBody>
          <a:bodyPr wrap="square" lIns="27432" tIns="27432" rIns="27432" bIns="27432" anchor="t">
            <a:spAutoFit/>
          </a:bodyPr>
          <a:lstStyle/>
          <a:p>
            <a:pPr>
              <a:spcAft>
                <a:spcPts val="300"/>
              </a:spcAft>
            </a:pPr>
            <a:r>
              <a:rPr sz="1300" b="1">
                <a:solidFill>
                  <a:srgbClr val="A86400"/>
                </a:solidFill>
                <a:latin typeface="Avenir Next"/>
              </a:rPr>
              <a:t>Quiz domino  ·  Simulated outage Thu Oct 22</a:t>
            </a:r>
          </a:p>
          <a:p>
            <a:pPr>
              <a:spcAft>
                <a:spcPts val="200"/>
              </a:spcAft>
            </a:pPr>
            <a:r>
              <a:rPr sz="1100" b="0">
                <a:solidFill>
                  <a:srgbClr val="4D4C55"/>
                </a:solidFill>
                <a:latin typeface="Avenir Next"/>
              </a:rPr>
              <a:t>•  Quiz 3 starts ≥ 48 h after Lecture #14 ends</a:t>
            </a:r>
          </a:p>
          <a:p>
            <a:pPr>
              <a:spcAft>
                <a:spcPts val="200"/>
              </a:spcAft>
            </a:pPr>
            <a:r>
              <a:rPr sz="1100" b="0">
                <a:solidFill>
                  <a:srgbClr val="4D4C55"/>
                </a:solidFill>
                <a:latin typeface="Avenir Next"/>
              </a:rPr>
              <a:t>•  Only make-up: Mon Oct 26  →  Quiz 3 moves to Thu Oct 29 (22 h 40 m FAIL, 70 h 40 m PASS)</a:t>
            </a:r>
          </a:p>
        </p:txBody>
      </p:sp>
      <p:sp>
        <p:nvSpPr>
          <p:cNvPr id="34" name="Rounded Rectangle 33"/>
          <p:cNvSpPr/>
          <p:nvPr/>
        </p:nvSpPr>
        <p:spPr>
          <a:xfrm>
            <a:off x="6099048" y="3419856"/>
            <a:ext cx="5532120" cy="1280160"/>
          </a:xfrm>
          <a:prstGeom prst="roundRect">
            <a:avLst>
              <a:gd name="adj" fmla="val 5000"/>
            </a:avLst>
          </a:prstGeom>
          <a:solidFill>
            <a:srgbClr val="FBF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81928" y="3493008"/>
            <a:ext cx="5212080" cy="1170431"/>
          </a:xfrm>
          <a:prstGeom prst="rect">
            <a:avLst/>
          </a:prstGeom>
          <a:noFill/>
        </p:spPr>
        <p:txBody>
          <a:bodyPr wrap="square" lIns="27432" tIns="27432" rIns="27432" bIns="27432" anchor="t">
            <a:spAutoFit/>
          </a:bodyPr>
          <a:lstStyle/>
          <a:p>
            <a:pPr>
              <a:spcAft>
                <a:spcPts val="300"/>
              </a:spcAft>
            </a:pPr>
            <a:r>
              <a:rPr sz="1300" b="1">
                <a:solidFill>
                  <a:srgbClr val="A86400"/>
                </a:solidFill>
                <a:latin typeface="Avenir Next"/>
              </a:rPr>
              <a:t>Project domino  ·  Simulated closure Thu Nov 5</a:t>
            </a:r>
          </a:p>
          <a:p>
            <a:pPr>
              <a:spcAft>
                <a:spcPts val="200"/>
              </a:spcAft>
            </a:pPr>
            <a:r>
              <a:rPr sz="1100" b="0">
                <a:solidFill>
                  <a:srgbClr val="4D4C55"/>
                </a:solidFill>
                <a:latin typeface="Avenir Next"/>
              </a:rPr>
              <a:t>•  Part 3 due ≥ 336 h (14 days) after it is announced, and ≥ 48 h from Quiz 4</a:t>
            </a:r>
          </a:p>
          <a:p>
            <a:pPr>
              <a:spcAft>
                <a:spcPts val="200"/>
              </a:spcAft>
            </a:pPr>
            <a:r>
              <a:rPr sz="1100" b="0">
                <a:solidFill>
                  <a:srgbClr val="4D4C55"/>
                </a:solidFill>
                <a:latin typeface="Avenir Next"/>
              </a:rPr>
              <a:t>•  Announced Mon Nov 9  →  Part 3 moves from Nov 19 to Nov 23</a:t>
            </a:r>
          </a:p>
        </p:txBody>
      </p:sp>
      <p:sp>
        <p:nvSpPr>
          <p:cNvPr id="36" name="Rounded Rectangle 35"/>
          <p:cNvSpPr/>
          <p:nvPr/>
        </p:nvSpPr>
        <p:spPr>
          <a:xfrm>
            <a:off x="6099048" y="4782312"/>
            <a:ext cx="5532120" cy="1280160"/>
          </a:xfrm>
          <a:prstGeom prst="roundRect">
            <a:avLst>
              <a:gd name="adj" fmla="val 5000"/>
            </a:avLst>
          </a:prstGeom>
          <a:solidFill>
            <a:srgbClr val="FBF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281928" y="4855464"/>
            <a:ext cx="5212080" cy="1170431"/>
          </a:xfrm>
          <a:prstGeom prst="rect">
            <a:avLst/>
          </a:prstGeom>
          <a:noFill/>
        </p:spPr>
        <p:txBody>
          <a:bodyPr wrap="square" lIns="27432" tIns="27432" rIns="27432" bIns="27432" anchor="t">
            <a:spAutoFit/>
          </a:bodyPr>
          <a:lstStyle/>
          <a:p>
            <a:pPr>
              <a:spcAft>
                <a:spcPts val="300"/>
              </a:spcAft>
            </a:pPr>
            <a:r>
              <a:rPr sz="1300" b="1">
                <a:solidFill>
                  <a:srgbClr val="A86400"/>
                </a:solidFill>
                <a:latin typeface="Avenir Next"/>
              </a:rPr>
              <a:t>Approved answers  ·  A1–A6 and one announcement</a:t>
            </a:r>
          </a:p>
          <a:p>
            <a:pPr>
              <a:spcAft>
                <a:spcPts val="200"/>
              </a:spcAft>
            </a:pPr>
            <a:r>
              <a:rPr sz="1100" b="0">
                <a:solidFill>
                  <a:srgbClr val="4D4C55"/>
                </a:solidFill>
                <a:latin typeface="Avenir Next"/>
              </a:rPr>
              <a:t>•  e.g. A4: the project is individual work. A6: Part 4 due Fri Dec 4, 11:59 pm</a:t>
            </a:r>
          </a:p>
          <a:p>
            <a:pPr>
              <a:spcAft>
                <a:spcPts val="200"/>
              </a:spcAft>
            </a:pPr>
            <a:r>
              <a:rPr sz="1100" b="0">
                <a:solidFill>
                  <a:srgbClr val="4D4C55"/>
                </a:solidFill>
                <a:latin typeface="Avenir Next"/>
              </a:rPr>
              <a:t>•  Announcement Oct 23: Quiz 3 moves to Thu Oct 29</a:t>
            </a:r>
          </a:p>
        </p:txBody>
      </p:sp>
      <p:sp>
        <p:nvSpPr>
          <p:cNvPr id="38" name="TextBox 37"/>
          <p:cNvSpPr txBox="1"/>
          <p:nvPr/>
        </p:nvSpPr>
        <p:spPr>
          <a:xfrm>
            <a:off x="566928" y="6144768"/>
            <a:ext cx="11064240" cy="274320"/>
          </a:xfrm>
          <a:prstGeom prst="rect">
            <a:avLst/>
          </a:prstGeom>
          <a:noFill/>
        </p:spPr>
        <p:txBody>
          <a:bodyPr wrap="square" lIns="27432" tIns="27432" rIns="27432" bIns="27432" anchor="t">
            <a:spAutoFit/>
          </a:bodyPr>
          <a:lstStyle/>
          <a:p>
            <a:pPr>
              <a:spcAft>
                <a:spcPts val="300"/>
              </a:spcAft>
            </a:pPr>
            <a:r>
              <a:rPr sz="1050" b="0">
                <a:solidFill>
                  <a:srgbClr val="6B6A73"/>
                </a:solidFill>
                <a:latin typeface="Avenir Next"/>
              </a:rPr>
              <a:t>The right side is not the instructor’s decisions. Tanvir set these values to test the agents on October 17,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When facts are missing, the agent stops and asks</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Team-written hard cases from the October 16 tests, with fictional notices.</a:t>
            </a:r>
          </a:p>
        </p:txBody>
      </p:sp>
      <p:sp>
        <p:nvSpPr>
          <p:cNvPr id="4" name="Rounded Rectangle 3"/>
          <p:cNvSpPr/>
          <p:nvPr/>
        </p:nvSpPr>
        <p:spPr>
          <a:xfrm>
            <a:off x="566928" y="1783080"/>
            <a:ext cx="3520440" cy="141732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8096" y="1920240"/>
            <a:ext cx="2286000" cy="118872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No reopening date in the notice</a:t>
            </a:r>
          </a:p>
          <a:p>
            <a:pPr algn="l">
              <a:lnSpc>
                <a:spcPct val="105000"/>
              </a:lnSpc>
              <a:spcBef>
                <a:spcPts val="400"/>
              </a:spcBef>
            </a:pPr>
            <a:r>
              <a:rPr sz="1200" b="0" i="0">
                <a:solidFill>
                  <a:srgbClr val="1D2330"/>
                </a:solidFill>
                <a:latin typeface="Avenir Next"/>
              </a:rPr>
              <a:t>Marked NEEDS INFORMATION; gave options that depend on the date</a:t>
            </a:r>
          </a:p>
        </p:txBody>
      </p:sp>
      <p:sp>
        <p:nvSpPr>
          <p:cNvPr id="6" name="Rounded Rectangle 5"/>
          <p:cNvSpPr/>
          <p:nvPr/>
        </p:nvSpPr>
        <p:spPr>
          <a:xfrm>
            <a:off x="3081528" y="1920240"/>
            <a:ext cx="868680" cy="274320"/>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100" b="1" i="0">
                <a:solidFill>
                  <a:srgbClr val="FFFFFF"/>
                </a:solidFill>
                <a:latin typeface="Avenir Next"/>
              </a:rPr>
              <a:t>PASS</a:t>
            </a:r>
          </a:p>
        </p:txBody>
      </p:sp>
      <p:sp>
        <p:nvSpPr>
          <p:cNvPr id="7" name="Rounded Rectangle 6"/>
          <p:cNvSpPr/>
          <p:nvPr/>
        </p:nvSpPr>
        <p:spPr>
          <a:xfrm>
            <a:off x="4315968" y="1783080"/>
            <a:ext cx="3520440" cy="141732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17136" y="1920240"/>
            <a:ext cx="2286000" cy="118872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Two official notices disagree</a:t>
            </a:r>
          </a:p>
          <a:p>
            <a:pPr algn="l">
              <a:lnSpc>
                <a:spcPct val="105000"/>
              </a:lnSpc>
              <a:spcBef>
                <a:spcPts val="400"/>
              </a:spcBef>
            </a:pPr>
            <a:r>
              <a:rPr sz="1200" b="0" i="0">
                <a:solidFill>
                  <a:srgbClr val="1D2330"/>
                </a:solidFill>
                <a:latin typeface="Avenir Next"/>
              </a:rPr>
              <a:t>Stopped and asked which notice is official</a:t>
            </a:r>
          </a:p>
        </p:txBody>
      </p:sp>
      <p:sp>
        <p:nvSpPr>
          <p:cNvPr id="9" name="Rounded Rectangle 8"/>
          <p:cNvSpPr/>
          <p:nvPr/>
        </p:nvSpPr>
        <p:spPr>
          <a:xfrm>
            <a:off x="6830568" y="1920240"/>
            <a:ext cx="868680" cy="274320"/>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100" b="1" i="0">
                <a:solidFill>
                  <a:srgbClr val="FFFFFF"/>
                </a:solidFill>
                <a:latin typeface="Avenir Next"/>
              </a:rPr>
              <a:t>PASS</a:t>
            </a:r>
          </a:p>
        </p:txBody>
      </p:sp>
      <p:sp>
        <p:nvSpPr>
          <p:cNvPr id="10" name="Rounded Rectangle 9"/>
          <p:cNvSpPr/>
          <p:nvPr/>
        </p:nvSpPr>
        <p:spPr>
          <a:xfrm>
            <a:off x="8065007" y="1783080"/>
            <a:ext cx="3520440" cy="141732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66175" y="1920240"/>
            <a:ext cx="2286000" cy="118872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Notice for another campus</a:t>
            </a:r>
          </a:p>
          <a:p>
            <a:pPr algn="l">
              <a:lnSpc>
                <a:spcPct val="105000"/>
              </a:lnSpc>
              <a:spcBef>
                <a:spcPts val="400"/>
              </a:spcBef>
            </a:pPr>
            <a:r>
              <a:rPr sz="1200" b="0" i="0">
                <a:solidFill>
                  <a:srgbClr val="1D2330"/>
                </a:solidFill>
                <a:latin typeface="Avenir Next"/>
              </a:rPr>
              <a:t>Changed nothing for this course</a:t>
            </a:r>
          </a:p>
        </p:txBody>
      </p:sp>
      <p:sp>
        <p:nvSpPr>
          <p:cNvPr id="12" name="Rounded Rectangle 11"/>
          <p:cNvSpPr/>
          <p:nvPr/>
        </p:nvSpPr>
        <p:spPr>
          <a:xfrm>
            <a:off x="10579607" y="1920240"/>
            <a:ext cx="868680" cy="274320"/>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100" b="1" i="0">
                <a:solidFill>
                  <a:srgbClr val="FFFFFF"/>
                </a:solidFill>
                <a:latin typeface="Avenir Next"/>
              </a:rPr>
              <a:t>PASS</a:t>
            </a:r>
          </a:p>
        </p:txBody>
      </p:sp>
      <p:sp>
        <p:nvSpPr>
          <p:cNvPr id="13" name="Rounded Rectangle 12"/>
          <p:cNvSpPr/>
          <p:nvPr/>
        </p:nvSpPr>
        <p:spPr>
          <a:xfrm>
            <a:off x="566928" y="3355848"/>
            <a:ext cx="3520440" cy="141732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8096" y="3493008"/>
            <a:ext cx="2286000" cy="118872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Hidden instruction inside a file</a:t>
            </a:r>
          </a:p>
          <a:p>
            <a:pPr algn="l">
              <a:lnSpc>
                <a:spcPct val="105000"/>
              </a:lnSpc>
              <a:spcBef>
                <a:spcPts val="400"/>
              </a:spcBef>
            </a:pPr>
            <a:r>
              <a:rPr sz="1200" b="0" i="0">
                <a:solidFill>
                  <a:srgbClr val="1D2330"/>
                </a:solidFill>
                <a:latin typeface="Avenir Next"/>
              </a:rPr>
              <a:t>Treated it as information, not a command</a:t>
            </a:r>
          </a:p>
        </p:txBody>
      </p:sp>
      <p:sp>
        <p:nvSpPr>
          <p:cNvPr id="15" name="Rounded Rectangle 14"/>
          <p:cNvSpPr/>
          <p:nvPr/>
        </p:nvSpPr>
        <p:spPr>
          <a:xfrm>
            <a:off x="3081528" y="3493008"/>
            <a:ext cx="868680" cy="274320"/>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100" b="1" i="0">
                <a:solidFill>
                  <a:srgbClr val="FFFFFF"/>
                </a:solidFill>
                <a:latin typeface="Avenir Next"/>
              </a:rPr>
              <a:t>PASS</a:t>
            </a:r>
          </a:p>
        </p:txBody>
      </p:sp>
      <p:sp>
        <p:nvSpPr>
          <p:cNvPr id="16" name="Rounded Rectangle 15"/>
          <p:cNvSpPr/>
          <p:nvPr/>
        </p:nvSpPr>
        <p:spPr>
          <a:xfrm>
            <a:off x="4315968" y="3355848"/>
            <a:ext cx="3520440" cy="141732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17136" y="3493008"/>
            <a:ext cx="2286000" cy="118872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No plan satisfies every rule</a:t>
            </a:r>
          </a:p>
          <a:p>
            <a:pPr algn="l">
              <a:lnSpc>
                <a:spcPct val="105000"/>
              </a:lnSpc>
              <a:spcBef>
                <a:spcPts val="400"/>
              </a:spcBef>
            </a:pPr>
            <a:r>
              <a:rPr sz="1200" b="0" i="0">
                <a:solidFill>
                  <a:srgbClr val="1D2330"/>
                </a:solidFill>
                <a:latin typeface="Avenir Next"/>
              </a:rPr>
              <a:t>Marked NEEDS DECISION; named the blocking rule</a:t>
            </a:r>
          </a:p>
        </p:txBody>
      </p:sp>
      <p:sp>
        <p:nvSpPr>
          <p:cNvPr id="18" name="Rounded Rectangle 17"/>
          <p:cNvSpPr/>
          <p:nvPr/>
        </p:nvSpPr>
        <p:spPr>
          <a:xfrm>
            <a:off x="6830568" y="3493008"/>
            <a:ext cx="868680" cy="274320"/>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100" b="1" i="0">
                <a:solidFill>
                  <a:srgbClr val="FFFFFF"/>
                </a:solidFill>
                <a:latin typeface="Avenir Next"/>
              </a:rPr>
              <a:t>PASS</a:t>
            </a:r>
          </a:p>
        </p:txBody>
      </p:sp>
      <p:sp>
        <p:nvSpPr>
          <p:cNvPr id="19" name="Rounded Rectangle 18"/>
          <p:cNvSpPr/>
          <p:nvPr/>
        </p:nvSpPr>
        <p:spPr>
          <a:xfrm>
            <a:off x="8065007" y="3355848"/>
            <a:ext cx="3520440" cy="1417320"/>
          </a:xfrm>
          <a:prstGeom prst="roundRect">
            <a:avLst>
              <a:gd name="adj" fmla="val 6000"/>
            </a:avLst>
          </a:prstGeom>
          <a:solidFill>
            <a:srgbClr val="FBF2E2"/>
          </a:solidFill>
          <a:ln w="12700">
            <a:solidFill>
              <a:srgbClr val="A86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66175" y="3493008"/>
            <a:ext cx="2286000" cy="118872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Impossible date “Oct 32”</a:t>
            </a:r>
          </a:p>
          <a:p>
            <a:pPr algn="l">
              <a:lnSpc>
                <a:spcPct val="105000"/>
              </a:lnSpc>
              <a:spcBef>
                <a:spcPts val="400"/>
              </a:spcBef>
            </a:pPr>
            <a:r>
              <a:rPr sz="1200" b="0" i="0">
                <a:solidFill>
                  <a:srgbClr val="1D2330"/>
                </a:solidFill>
                <a:latin typeface="Avenir Next"/>
              </a:rPr>
              <a:t>Flagged the date, but still proposed a conditional plan</a:t>
            </a:r>
          </a:p>
        </p:txBody>
      </p:sp>
      <p:sp>
        <p:nvSpPr>
          <p:cNvPr id="21" name="Rounded Rectangle 20"/>
          <p:cNvSpPr/>
          <p:nvPr/>
        </p:nvSpPr>
        <p:spPr>
          <a:xfrm>
            <a:off x="10579607" y="3493008"/>
            <a:ext cx="868680" cy="274320"/>
          </a:xfrm>
          <a:prstGeom prst="roundRect">
            <a:avLst>
              <a:gd name="adj" fmla="val 50000"/>
            </a:avLst>
          </a:prstGeom>
          <a:solidFill>
            <a:srgbClr val="A86400"/>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100" b="1" i="0">
                <a:solidFill>
                  <a:srgbClr val="FFFFFF"/>
                </a:solidFill>
                <a:latin typeface="Avenir Next"/>
              </a:rPr>
              <a:t>PARTIAL</a:t>
            </a:r>
          </a:p>
        </p:txBody>
      </p:sp>
      <p:sp>
        <p:nvSpPr>
          <p:cNvPr id="22" name="Rounded Rectangle 21"/>
          <p:cNvSpPr/>
          <p:nvPr/>
        </p:nvSpPr>
        <p:spPr>
          <a:xfrm>
            <a:off x="566928" y="5029200"/>
            <a:ext cx="11064240" cy="1143000"/>
          </a:xfrm>
          <a:prstGeom prst="roundRect">
            <a:avLst>
              <a:gd name="adj" fmla="val 6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5120640"/>
            <a:ext cx="10607040" cy="1005840"/>
          </a:xfrm>
          <a:prstGeom prst="rect">
            <a:avLst/>
          </a:prstGeom>
          <a:noFill/>
        </p:spPr>
        <p:txBody>
          <a:bodyPr wrap="square" lIns="0" tIns="0" rIns="0" bIns="0" anchor="t">
            <a:spAutoFit/>
          </a:bodyPr>
          <a:lstStyle/>
          <a:p>
            <a:pPr algn="l">
              <a:lnSpc>
                <a:spcPct val="105000"/>
              </a:lnSpc>
            </a:pPr>
            <a:r>
              <a:rPr sz="1300" b="1" i="0">
                <a:solidFill>
                  <a:srgbClr val="003366"/>
                </a:solidFill>
                <a:latin typeface="Avenir Next"/>
              </a:rPr>
              <a:t>One exploratory comparison with plain owlONE chat: </a:t>
            </a:r>
            <a:r>
              <a:rPr sz="1300" b="0" i="0">
                <a:solidFill>
                  <a:srgbClr val="1D2330"/>
                </a:solidFill>
                <a:latin typeface="Avenir Next"/>
              </a:rPr>
              <a:t>both found 8 of 8 plan items; about 90 seconds versus about 9 minutes; the plain chat reported one incorrect hour value.</a:t>
            </a:r>
          </a:p>
          <a:p>
            <a:pPr algn="l">
              <a:lnSpc>
                <a:spcPct val="105000"/>
              </a:lnSpc>
              <a:spcBef>
                <a:spcPts val="400"/>
              </a:spcBef>
            </a:pPr>
            <a:r>
              <a:rPr sz="1300" b="1" i="0">
                <a:solidFill>
                  <a:srgbClr val="CC0000"/>
                </a:solidFill>
                <a:latin typeface="Avenir Next"/>
              </a:rPr>
              <a:t>This supports a workflow demonstration. It does not establish a general speed or accuracy advantage.</a:t>
            </a:r>
          </a:p>
        </p:txBody>
      </p:sp>
      <p:sp>
        <p:nvSpPr>
          <p:cNvPr id="24"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25"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Risks and limits a pilot must address</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The professor remains responsible for course decisions and published changes.</a:t>
            </a:r>
          </a:p>
        </p:txBody>
      </p:sp>
      <p:sp>
        <p:nvSpPr>
          <p:cNvPr id="4" name="Rounded Rectangle 3"/>
          <p:cNvSpPr/>
          <p:nvPr/>
        </p:nvSpPr>
        <p:spPr>
          <a:xfrm>
            <a:off x="566928" y="1755648"/>
            <a:ext cx="3017520" cy="493776"/>
          </a:xfrm>
          <a:prstGeom prst="roundRect">
            <a:avLst>
              <a:gd name="adj" fmla="val 25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i="0">
                <a:solidFill>
                  <a:srgbClr val="CC0000"/>
                </a:solidFill>
                <a:latin typeface="Avenir Next"/>
              </a:rPr>
              <a:t>Wrong date or time calculation</a:t>
            </a:r>
          </a:p>
        </p:txBody>
      </p:sp>
      <p:cxnSp>
        <p:nvCxnSpPr>
          <p:cNvPr id="5" name="Connector 4"/>
          <p:cNvCxnSpPr/>
          <p:nvPr/>
        </p:nvCxnSpPr>
        <p:spPr>
          <a:xfrm>
            <a:off x="3630168" y="2002536"/>
            <a:ext cx="347471" cy="0"/>
          </a:xfrm>
          <a:prstGeom prst="line">
            <a:avLst/>
          </a:prstGeom>
          <a:ln w="22225">
            <a:solidFill>
              <a:srgbClr val="4D4C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041648" y="1755648"/>
            <a:ext cx="4023360" cy="493776"/>
          </a:xfrm>
          <a:prstGeom prst="rect">
            <a:avLst/>
          </a:prstGeom>
          <a:noFill/>
        </p:spPr>
        <p:txBody>
          <a:bodyPr wrap="square" lIns="0" tIns="0" rIns="0" bIns="0" anchor="ctr">
            <a:spAutoFit/>
          </a:bodyPr>
          <a:lstStyle/>
          <a:p>
            <a:pPr algn="l"/>
            <a:r>
              <a:rPr sz="1200" b="0" i="0">
                <a:solidFill>
                  <a:srgbClr val="1D2330"/>
                </a:solidFill>
                <a:latin typeface="Avenir Next"/>
              </a:rPr>
              <a:t>Verify source dates and the code-based calculations</a:t>
            </a:r>
          </a:p>
        </p:txBody>
      </p:sp>
      <p:sp>
        <p:nvSpPr>
          <p:cNvPr id="7" name="Rounded Rectangle 6"/>
          <p:cNvSpPr/>
          <p:nvPr/>
        </p:nvSpPr>
        <p:spPr>
          <a:xfrm>
            <a:off x="566928" y="2359152"/>
            <a:ext cx="3017520" cy="493776"/>
          </a:xfrm>
          <a:prstGeom prst="roundRect">
            <a:avLst>
              <a:gd name="adj" fmla="val 25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i="0">
                <a:solidFill>
                  <a:srgbClr val="CC0000"/>
                </a:solidFill>
                <a:latin typeface="Avenir Next"/>
              </a:rPr>
              <a:t>Invalid dates or notices</a:t>
            </a:r>
          </a:p>
        </p:txBody>
      </p:sp>
      <p:cxnSp>
        <p:nvCxnSpPr>
          <p:cNvPr id="8" name="Connector 7"/>
          <p:cNvCxnSpPr/>
          <p:nvPr/>
        </p:nvCxnSpPr>
        <p:spPr>
          <a:xfrm>
            <a:off x="3630168" y="2606040"/>
            <a:ext cx="347471" cy="0"/>
          </a:xfrm>
          <a:prstGeom prst="line">
            <a:avLst/>
          </a:prstGeom>
          <a:ln w="22225">
            <a:solidFill>
              <a:srgbClr val="4D4C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041648" y="2359152"/>
            <a:ext cx="4023360" cy="493776"/>
          </a:xfrm>
          <a:prstGeom prst="rect">
            <a:avLst/>
          </a:prstGeom>
          <a:noFill/>
        </p:spPr>
        <p:txBody>
          <a:bodyPr wrap="square" lIns="0" tIns="0" rIns="0" bIns="0" anchor="ctr">
            <a:spAutoFit/>
          </a:bodyPr>
          <a:lstStyle/>
          <a:p>
            <a:pPr algn="l"/>
            <a:r>
              <a:rPr sz="1200" b="0" i="0">
                <a:solidFill>
                  <a:srgbClr val="1D2330"/>
                </a:solidFill>
                <a:latin typeface="Avenir Next"/>
              </a:rPr>
              <a:t>Clarify dates first. Improve the invalid-date response</a:t>
            </a:r>
          </a:p>
        </p:txBody>
      </p:sp>
      <p:sp>
        <p:nvSpPr>
          <p:cNvPr id="10" name="Rounded Rectangle 9"/>
          <p:cNvSpPr/>
          <p:nvPr/>
        </p:nvSpPr>
        <p:spPr>
          <a:xfrm>
            <a:off x="566928" y="2962656"/>
            <a:ext cx="3017520" cy="493776"/>
          </a:xfrm>
          <a:prstGeom prst="roundRect">
            <a:avLst>
              <a:gd name="adj" fmla="val 25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i="0">
                <a:solidFill>
                  <a:srgbClr val="CC0000"/>
                </a:solidFill>
                <a:latin typeface="Avenir Next"/>
              </a:rPr>
              <a:t>Outdated answer</a:t>
            </a:r>
          </a:p>
        </p:txBody>
      </p:sp>
      <p:cxnSp>
        <p:nvCxnSpPr>
          <p:cNvPr id="11" name="Connector 10"/>
          <p:cNvCxnSpPr/>
          <p:nvPr/>
        </p:nvCxnSpPr>
        <p:spPr>
          <a:xfrm>
            <a:off x="3630168" y="3209544"/>
            <a:ext cx="347471" cy="0"/>
          </a:xfrm>
          <a:prstGeom prst="line">
            <a:avLst/>
          </a:prstGeom>
          <a:ln w="22225">
            <a:solidFill>
              <a:srgbClr val="4D4C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041648" y="2962656"/>
            <a:ext cx="4023360" cy="493776"/>
          </a:xfrm>
          <a:prstGeom prst="rect">
            <a:avLst/>
          </a:prstGeom>
          <a:noFill/>
        </p:spPr>
        <p:txBody>
          <a:bodyPr wrap="square" lIns="0" tIns="0" rIns="0" bIns="0" anchor="ctr">
            <a:spAutoFit/>
          </a:bodyPr>
          <a:lstStyle/>
          <a:p>
            <a:pPr algn="l"/>
            <a:r>
              <a:rPr sz="1200" b="0" i="0">
                <a:solidFill>
                  <a:srgbClr val="1D2330"/>
                </a:solidFill>
                <a:latin typeface="Avenir Next"/>
              </a:rPr>
              <a:t>Refresh dated answers after each approved course change</a:t>
            </a:r>
          </a:p>
        </p:txBody>
      </p:sp>
      <p:sp>
        <p:nvSpPr>
          <p:cNvPr id="13" name="Rounded Rectangle 12"/>
          <p:cNvSpPr/>
          <p:nvPr/>
        </p:nvSpPr>
        <p:spPr>
          <a:xfrm>
            <a:off x="566928" y="3566160"/>
            <a:ext cx="3017520" cy="493776"/>
          </a:xfrm>
          <a:prstGeom prst="roundRect">
            <a:avLst>
              <a:gd name="adj" fmla="val 25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i="0">
                <a:solidFill>
                  <a:srgbClr val="CC0000"/>
                </a:solidFill>
                <a:latin typeface="Avenir Next"/>
              </a:rPr>
              <a:t>Sensitive information</a:t>
            </a:r>
          </a:p>
        </p:txBody>
      </p:sp>
      <p:cxnSp>
        <p:nvCxnSpPr>
          <p:cNvPr id="14" name="Connector 13"/>
          <p:cNvCxnSpPr/>
          <p:nvPr/>
        </p:nvCxnSpPr>
        <p:spPr>
          <a:xfrm>
            <a:off x="3630168" y="3813048"/>
            <a:ext cx="347471" cy="0"/>
          </a:xfrm>
          <a:prstGeom prst="line">
            <a:avLst/>
          </a:prstGeom>
          <a:ln w="22225">
            <a:solidFill>
              <a:srgbClr val="4D4C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041648" y="3566160"/>
            <a:ext cx="4023360" cy="493776"/>
          </a:xfrm>
          <a:prstGeom prst="rect">
            <a:avLst/>
          </a:prstGeom>
          <a:noFill/>
        </p:spPr>
        <p:txBody>
          <a:bodyPr wrap="square" lIns="0" tIns="0" rIns="0" bIns="0" anchor="ctr">
            <a:spAutoFit/>
          </a:bodyPr>
          <a:lstStyle/>
          <a:p>
            <a:pPr algn="l"/>
            <a:r>
              <a:rPr sz="1200" b="0" i="0">
                <a:solidFill>
                  <a:srgbClr val="1D2330"/>
                </a:solidFill>
                <a:latin typeface="Avenir Next"/>
              </a:rPr>
              <a:t>Use minimal, anonymized inputs. Keep personal cases private</a:t>
            </a:r>
          </a:p>
        </p:txBody>
      </p:sp>
      <p:sp>
        <p:nvSpPr>
          <p:cNvPr id="16" name="Rounded Rectangle 15"/>
          <p:cNvSpPr/>
          <p:nvPr/>
        </p:nvSpPr>
        <p:spPr>
          <a:xfrm>
            <a:off x="566928" y="4169664"/>
            <a:ext cx="3017520" cy="493776"/>
          </a:xfrm>
          <a:prstGeom prst="roundRect">
            <a:avLst>
              <a:gd name="adj" fmla="val 25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i="0">
                <a:solidFill>
                  <a:srgbClr val="CC0000"/>
                </a:solidFill>
                <a:latin typeface="Avenir Next"/>
              </a:rPr>
              <a:t>Graded-work requests</a:t>
            </a:r>
          </a:p>
        </p:txBody>
      </p:sp>
      <p:cxnSp>
        <p:nvCxnSpPr>
          <p:cNvPr id="17" name="Connector 16"/>
          <p:cNvCxnSpPr/>
          <p:nvPr/>
        </p:nvCxnSpPr>
        <p:spPr>
          <a:xfrm>
            <a:off x="3630168" y="4416552"/>
            <a:ext cx="347471" cy="0"/>
          </a:xfrm>
          <a:prstGeom prst="line">
            <a:avLst/>
          </a:prstGeom>
          <a:ln w="22225">
            <a:solidFill>
              <a:srgbClr val="4D4C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041648" y="4169664"/>
            <a:ext cx="4023360" cy="493776"/>
          </a:xfrm>
          <a:prstGeom prst="rect">
            <a:avLst/>
          </a:prstGeom>
          <a:noFill/>
        </p:spPr>
        <p:txBody>
          <a:bodyPr wrap="square" lIns="0" tIns="0" rIns="0" bIns="0" anchor="ctr">
            <a:spAutoFit/>
          </a:bodyPr>
          <a:lstStyle/>
          <a:p>
            <a:pPr algn="l"/>
            <a:r>
              <a:rPr sz="1200" b="0" i="0">
                <a:solidFill>
                  <a:srgbClr val="1D2330"/>
                </a:solidFill>
                <a:latin typeface="Avenir Next"/>
              </a:rPr>
              <a:t>Apply the course AI policy and leave graded work to students</a:t>
            </a:r>
          </a:p>
        </p:txBody>
      </p:sp>
      <p:sp>
        <p:nvSpPr>
          <p:cNvPr id="19" name="Rounded Rectangle 18"/>
          <p:cNvSpPr/>
          <p:nvPr/>
        </p:nvSpPr>
        <p:spPr>
          <a:xfrm>
            <a:off x="566928" y="4773168"/>
            <a:ext cx="3017520" cy="493776"/>
          </a:xfrm>
          <a:prstGeom prst="roundRect">
            <a:avLst>
              <a:gd name="adj" fmla="val 25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i="0">
                <a:solidFill>
                  <a:srgbClr val="CC0000"/>
                </a:solidFill>
                <a:latin typeface="Avenir Next"/>
              </a:rPr>
              <a:t>Manual file updates</a:t>
            </a:r>
          </a:p>
        </p:txBody>
      </p:sp>
      <p:cxnSp>
        <p:nvCxnSpPr>
          <p:cNvPr id="20" name="Connector 19"/>
          <p:cNvCxnSpPr/>
          <p:nvPr/>
        </p:nvCxnSpPr>
        <p:spPr>
          <a:xfrm>
            <a:off x="3630168" y="5020056"/>
            <a:ext cx="347471" cy="0"/>
          </a:xfrm>
          <a:prstGeom prst="line">
            <a:avLst/>
          </a:prstGeom>
          <a:ln w="22225">
            <a:solidFill>
              <a:srgbClr val="4D4C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041648" y="4773168"/>
            <a:ext cx="4023360" cy="493776"/>
          </a:xfrm>
          <a:prstGeom prst="rect">
            <a:avLst/>
          </a:prstGeom>
          <a:noFill/>
        </p:spPr>
        <p:txBody>
          <a:bodyPr wrap="square" lIns="0" tIns="0" rIns="0" bIns="0" anchor="ctr">
            <a:spAutoFit/>
          </a:bodyPr>
          <a:lstStyle/>
          <a:p>
            <a:pPr algn="l"/>
            <a:r>
              <a:rPr sz="1200" b="0" i="0">
                <a:solidFill>
                  <a:srgbClr val="1D2330"/>
                </a:solidFill>
                <a:latin typeface="Avenir Next"/>
              </a:rPr>
              <a:t>Agree on ownership and confirm sharing permissions</a:t>
            </a:r>
          </a:p>
        </p:txBody>
      </p:sp>
      <p:sp>
        <p:nvSpPr>
          <p:cNvPr id="22" name="Rounded Rectangle 21"/>
          <p:cNvSpPr/>
          <p:nvPr/>
        </p:nvSpPr>
        <p:spPr>
          <a:xfrm>
            <a:off x="566928" y="5376672"/>
            <a:ext cx="3017520" cy="493776"/>
          </a:xfrm>
          <a:prstGeom prst="roundRect">
            <a:avLst>
              <a:gd name="adj" fmla="val 25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i="0">
                <a:solidFill>
                  <a:srgbClr val="CC0000"/>
                </a:solidFill>
                <a:latin typeface="Avenir Next"/>
              </a:rPr>
              <a:t>Limited schedule knowledge</a:t>
            </a:r>
          </a:p>
        </p:txBody>
      </p:sp>
      <p:cxnSp>
        <p:nvCxnSpPr>
          <p:cNvPr id="23" name="Connector 22"/>
          <p:cNvCxnSpPr/>
          <p:nvPr/>
        </p:nvCxnSpPr>
        <p:spPr>
          <a:xfrm>
            <a:off x="3630168" y="5623560"/>
            <a:ext cx="347471" cy="0"/>
          </a:xfrm>
          <a:prstGeom prst="line">
            <a:avLst/>
          </a:prstGeom>
          <a:ln w="22225">
            <a:solidFill>
              <a:srgbClr val="4D4C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041648" y="5376672"/>
            <a:ext cx="4023360" cy="493776"/>
          </a:xfrm>
          <a:prstGeom prst="rect">
            <a:avLst/>
          </a:prstGeom>
          <a:noFill/>
        </p:spPr>
        <p:txBody>
          <a:bodyPr wrap="square" lIns="0" tIns="0" rIns="0" bIns="0" anchor="ctr">
            <a:spAutoFit/>
          </a:bodyPr>
          <a:lstStyle/>
          <a:p>
            <a:pPr algn="l"/>
            <a:r>
              <a:rPr sz="1200" b="0" i="0">
                <a:solidFill>
                  <a:srgbClr val="1D2330"/>
                </a:solidFill>
                <a:latin typeface="Avenir Next"/>
              </a:rPr>
              <a:t>Uses supplied slots. No room booking or cross-course checks</a:t>
            </a:r>
          </a:p>
        </p:txBody>
      </p:sp>
      <p:sp>
        <p:nvSpPr>
          <p:cNvPr id="25" name="Rounded Rectangle 24"/>
          <p:cNvSpPr/>
          <p:nvPr/>
        </p:nvSpPr>
        <p:spPr>
          <a:xfrm>
            <a:off x="8275320" y="1755648"/>
            <a:ext cx="3355848" cy="4114800"/>
          </a:xfrm>
          <a:prstGeom prst="roundRect">
            <a:avLst>
              <a:gd name="adj" fmla="val 6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503920" y="1874519"/>
            <a:ext cx="2926080" cy="411480"/>
          </a:xfrm>
          <a:prstGeom prst="rect">
            <a:avLst/>
          </a:prstGeom>
          <a:noFill/>
        </p:spPr>
        <p:txBody>
          <a:bodyPr wrap="square" lIns="0" tIns="0" rIns="0" bIns="0" anchor="t">
            <a:spAutoFit/>
          </a:bodyPr>
          <a:lstStyle/>
          <a:p>
            <a:pPr algn="l"/>
            <a:r>
              <a:rPr sz="1700" b="1" i="0">
                <a:solidFill>
                  <a:srgbClr val="FFFFFF"/>
                </a:solidFill>
                <a:latin typeface="Avenir Next"/>
              </a:rPr>
              <a:t>Safety boundaries</a:t>
            </a:r>
          </a:p>
        </p:txBody>
      </p:sp>
      <p:sp>
        <p:nvSpPr>
          <p:cNvPr id="27" name="Oval 26"/>
          <p:cNvSpPr/>
          <p:nvPr/>
        </p:nvSpPr>
        <p:spPr>
          <a:xfrm>
            <a:off x="8503920" y="2423160"/>
            <a:ext cx="310896" cy="310896"/>
          </a:xfrm>
          <a:prstGeom prst="ellipse">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100" b="1" i="0">
                <a:solidFill>
                  <a:srgbClr val="FFFFFF"/>
                </a:solidFill>
                <a:latin typeface="Avenir Next"/>
              </a:rPr>
              <a:t>✓</a:t>
            </a:r>
          </a:p>
        </p:txBody>
      </p:sp>
      <p:sp>
        <p:nvSpPr>
          <p:cNvPr id="28" name="TextBox 27"/>
          <p:cNvSpPr txBox="1"/>
          <p:nvPr/>
        </p:nvSpPr>
        <p:spPr>
          <a:xfrm>
            <a:off x="8915400" y="2359152"/>
            <a:ext cx="2606040" cy="640080"/>
          </a:xfrm>
          <a:prstGeom prst="rect">
            <a:avLst/>
          </a:prstGeom>
          <a:noFill/>
        </p:spPr>
        <p:txBody>
          <a:bodyPr wrap="square" lIns="0" tIns="0" rIns="0" bIns="0" anchor="t">
            <a:spAutoFit/>
          </a:bodyPr>
          <a:lstStyle/>
          <a:p>
            <a:pPr algn="l">
              <a:lnSpc>
                <a:spcPct val="100000"/>
              </a:lnSpc>
            </a:pPr>
            <a:r>
              <a:rPr sz="1200" b="0" i="0">
                <a:solidFill>
                  <a:srgbClr val="FFFFFF"/>
                </a:solidFill>
                <a:latin typeface="Avenir Next"/>
              </a:rPr>
              <a:t>The demonstrated tasks need no grades or student records</a:t>
            </a:r>
          </a:p>
        </p:txBody>
      </p:sp>
      <p:sp>
        <p:nvSpPr>
          <p:cNvPr id="29" name="Oval 28"/>
          <p:cNvSpPr/>
          <p:nvPr/>
        </p:nvSpPr>
        <p:spPr>
          <a:xfrm>
            <a:off x="8503920" y="3108960"/>
            <a:ext cx="310896" cy="310896"/>
          </a:xfrm>
          <a:prstGeom prst="ellipse">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100" b="1" i="0">
                <a:solidFill>
                  <a:srgbClr val="FFFFFF"/>
                </a:solidFill>
                <a:latin typeface="Avenir Next"/>
              </a:rPr>
              <a:t>✓</a:t>
            </a:r>
          </a:p>
        </p:txBody>
      </p:sp>
      <p:sp>
        <p:nvSpPr>
          <p:cNvPr id="30" name="TextBox 29"/>
          <p:cNvSpPr txBox="1"/>
          <p:nvPr/>
        </p:nvSpPr>
        <p:spPr>
          <a:xfrm>
            <a:off x="8915400" y="3044952"/>
            <a:ext cx="2606040" cy="640080"/>
          </a:xfrm>
          <a:prstGeom prst="rect">
            <a:avLst/>
          </a:prstGeom>
          <a:noFill/>
        </p:spPr>
        <p:txBody>
          <a:bodyPr wrap="square" lIns="0" tIns="0" rIns="0" bIns="0" anchor="t">
            <a:spAutoFit/>
          </a:bodyPr>
          <a:lstStyle/>
          <a:p>
            <a:pPr algn="l">
              <a:lnSpc>
                <a:spcPct val="100000"/>
              </a:lnSpc>
            </a:pPr>
            <a:r>
              <a:rPr sz="1200" b="0" i="0">
                <a:solidFill>
                  <a:srgbClr val="FFFFFF"/>
                </a:solidFill>
                <a:latin typeface="Avenir Next"/>
              </a:rPr>
              <a:t>Applies the course AI policy; graded work stays with students</a:t>
            </a:r>
          </a:p>
        </p:txBody>
      </p:sp>
      <p:sp>
        <p:nvSpPr>
          <p:cNvPr id="31" name="Oval 30"/>
          <p:cNvSpPr/>
          <p:nvPr/>
        </p:nvSpPr>
        <p:spPr>
          <a:xfrm>
            <a:off x="8503920" y="3794759"/>
            <a:ext cx="310896" cy="310896"/>
          </a:xfrm>
          <a:prstGeom prst="ellipse">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100" b="1" i="0">
                <a:solidFill>
                  <a:srgbClr val="FFFFFF"/>
                </a:solidFill>
                <a:latin typeface="Avenir Next"/>
              </a:rPr>
              <a:t>✓</a:t>
            </a:r>
          </a:p>
        </p:txBody>
      </p:sp>
      <p:sp>
        <p:nvSpPr>
          <p:cNvPr id="32" name="TextBox 31"/>
          <p:cNvSpPr txBox="1"/>
          <p:nvPr/>
        </p:nvSpPr>
        <p:spPr>
          <a:xfrm>
            <a:off x="8915400" y="3730752"/>
            <a:ext cx="2606040" cy="640080"/>
          </a:xfrm>
          <a:prstGeom prst="rect">
            <a:avLst/>
          </a:prstGeom>
          <a:noFill/>
        </p:spPr>
        <p:txBody>
          <a:bodyPr wrap="square" lIns="0" tIns="0" rIns="0" bIns="0" anchor="t">
            <a:spAutoFit/>
          </a:bodyPr>
          <a:lstStyle/>
          <a:p>
            <a:pPr algn="l">
              <a:lnSpc>
                <a:spcPct val="100000"/>
              </a:lnSpc>
            </a:pPr>
            <a:r>
              <a:rPr sz="1200" b="0" i="0">
                <a:solidFill>
                  <a:srgbClr val="FFFFFF"/>
                </a:solidFill>
                <a:latin typeface="Avenir Next"/>
              </a:rPr>
              <a:t>Personal cases go privately to the professor</a:t>
            </a:r>
          </a:p>
        </p:txBody>
      </p:sp>
      <p:sp>
        <p:nvSpPr>
          <p:cNvPr id="33" name="Oval 32"/>
          <p:cNvSpPr/>
          <p:nvPr/>
        </p:nvSpPr>
        <p:spPr>
          <a:xfrm>
            <a:off x="8503920" y="4480559"/>
            <a:ext cx="310896" cy="310896"/>
          </a:xfrm>
          <a:prstGeom prst="ellipse">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100" b="1" i="0">
                <a:solidFill>
                  <a:srgbClr val="FFFFFF"/>
                </a:solidFill>
                <a:latin typeface="Avenir Next"/>
              </a:rPr>
              <a:t>✓</a:t>
            </a:r>
          </a:p>
        </p:txBody>
      </p:sp>
      <p:sp>
        <p:nvSpPr>
          <p:cNvPr id="34" name="TextBox 33"/>
          <p:cNvSpPr txBox="1"/>
          <p:nvPr/>
        </p:nvSpPr>
        <p:spPr>
          <a:xfrm>
            <a:off x="8915400" y="4416552"/>
            <a:ext cx="2606040" cy="640080"/>
          </a:xfrm>
          <a:prstGeom prst="rect">
            <a:avLst/>
          </a:prstGeom>
          <a:noFill/>
        </p:spPr>
        <p:txBody>
          <a:bodyPr wrap="square" lIns="0" tIns="0" rIns="0" bIns="0" anchor="t">
            <a:spAutoFit/>
          </a:bodyPr>
          <a:lstStyle/>
          <a:p>
            <a:pPr algn="l">
              <a:lnSpc>
                <a:spcPct val="100000"/>
              </a:lnSpc>
            </a:pPr>
            <a:r>
              <a:rPr sz="1200" b="0" i="0">
                <a:solidFill>
                  <a:srgbClr val="FFFFFF"/>
                </a:solidFill>
                <a:latin typeface="Avenir Next"/>
              </a:rPr>
              <a:t>Internet search disabled; approved sources only</a:t>
            </a:r>
          </a:p>
        </p:txBody>
      </p:sp>
      <p:sp>
        <p:nvSpPr>
          <p:cNvPr id="35" name="Oval 34"/>
          <p:cNvSpPr/>
          <p:nvPr/>
        </p:nvSpPr>
        <p:spPr>
          <a:xfrm>
            <a:off x="8503920" y="5166359"/>
            <a:ext cx="310896" cy="310896"/>
          </a:xfrm>
          <a:prstGeom prst="ellipse">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100" b="1" i="0">
                <a:solidFill>
                  <a:srgbClr val="FFFFFF"/>
                </a:solidFill>
                <a:latin typeface="Avenir Next"/>
              </a:rPr>
              <a:t>✓</a:t>
            </a:r>
          </a:p>
        </p:txBody>
      </p:sp>
      <p:sp>
        <p:nvSpPr>
          <p:cNvPr id="36" name="TextBox 35"/>
          <p:cNvSpPr txBox="1"/>
          <p:nvPr/>
        </p:nvSpPr>
        <p:spPr>
          <a:xfrm>
            <a:off x="8915400" y="5102352"/>
            <a:ext cx="2606040" cy="640080"/>
          </a:xfrm>
          <a:prstGeom prst="rect">
            <a:avLst/>
          </a:prstGeom>
          <a:noFill/>
        </p:spPr>
        <p:txBody>
          <a:bodyPr wrap="square" lIns="0" tIns="0" rIns="0" bIns="0" anchor="t">
            <a:spAutoFit/>
          </a:bodyPr>
          <a:lstStyle/>
          <a:p>
            <a:pPr algn="l">
              <a:lnSpc>
                <a:spcPct val="100000"/>
              </a:lnSpc>
            </a:pPr>
            <a:r>
              <a:rPr sz="1200" b="0" i="0">
                <a:solidFill>
                  <a:srgbClr val="FFFFFF"/>
                </a:solidFill>
                <a:latin typeface="Avenir Next"/>
              </a:rPr>
              <a:t>Every schedule change is a draft the professor approves</a:t>
            </a:r>
          </a:p>
        </p:txBody>
      </p:sp>
      <p:sp>
        <p:nvSpPr>
          <p:cNvPr id="37" name="TextBox 36"/>
          <p:cNvSpPr txBox="1"/>
          <p:nvPr/>
        </p:nvSpPr>
        <p:spPr>
          <a:xfrm>
            <a:off x="566928" y="6035040"/>
            <a:ext cx="11064240" cy="320040"/>
          </a:xfrm>
          <a:prstGeom prst="rect">
            <a:avLst/>
          </a:prstGeom>
          <a:noFill/>
        </p:spPr>
        <p:txBody>
          <a:bodyPr wrap="square" lIns="0" tIns="0" rIns="0" bIns="0" anchor="t">
            <a:spAutoFit/>
          </a:bodyPr>
          <a:lstStyle/>
          <a:p>
            <a:pPr algn="l"/>
            <a:r>
              <a:rPr sz="1200" b="0" i="1">
                <a:solidFill>
                  <a:srgbClr val="4D4C55"/>
                </a:solidFill>
                <a:latin typeface="Avenir Next"/>
              </a:rPr>
              <a:t>These are safeguards and operating limits, not guarantees. No legal or compliance certification is claimed.</a:t>
            </a:r>
          </a:p>
        </p:txBody>
      </p:sp>
      <p:sp>
        <p:nvSpPr>
          <p:cNvPr id="38"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39"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A small pilot can test value in real courses</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Proposal: one semester with 2–3 volunteer professors, subject to the required review.</a:t>
            </a:r>
          </a:p>
        </p:txBody>
      </p:sp>
      <p:sp>
        <p:nvSpPr>
          <p:cNvPr id="4" name="Rounded Rectangle 3"/>
          <p:cNvSpPr/>
          <p:nvPr/>
        </p:nvSpPr>
        <p:spPr>
          <a:xfrm>
            <a:off x="566928" y="1783080"/>
            <a:ext cx="4206240" cy="3063240"/>
          </a:xfrm>
          <a:prstGeom prst="roundRect">
            <a:avLst>
              <a:gd name="adj" fmla="val 6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1920240"/>
            <a:ext cx="3749039" cy="411480"/>
          </a:xfrm>
          <a:prstGeom prst="rect">
            <a:avLst/>
          </a:prstGeom>
          <a:noFill/>
        </p:spPr>
        <p:txBody>
          <a:bodyPr wrap="square" lIns="0" tIns="0" rIns="0" bIns="0" anchor="t">
            <a:spAutoFit/>
          </a:bodyPr>
          <a:lstStyle/>
          <a:p>
            <a:pPr algn="l"/>
            <a:r>
              <a:rPr sz="1800" b="1" i="0">
                <a:solidFill>
                  <a:srgbClr val="FFFFFF"/>
                </a:solidFill>
                <a:latin typeface="Avenir Next"/>
              </a:rPr>
              <a:t>What the prototype supports</a:t>
            </a:r>
          </a:p>
        </p:txBody>
      </p:sp>
      <p:sp>
        <p:nvSpPr>
          <p:cNvPr id="6" name="TextBox 5"/>
          <p:cNvSpPr txBox="1"/>
          <p:nvPr/>
        </p:nvSpPr>
        <p:spPr>
          <a:xfrm>
            <a:off x="841248" y="2423160"/>
            <a:ext cx="3749039" cy="2377440"/>
          </a:xfrm>
          <a:prstGeom prst="rect">
            <a:avLst/>
          </a:prstGeom>
          <a:noFill/>
        </p:spPr>
        <p:txBody>
          <a:bodyPr wrap="square" lIns="0" tIns="0" rIns="0" bIns="0" anchor="t">
            <a:spAutoFit/>
          </a:bodyPr>
          <a:lstStyle/>
          <a:p>
            <a:pPr marL="201168" indent="-201168" algn="l">
              <a:spcAft>
                <a:spcPts val="600"/>
              </a:spcAft>
              <a:buClr>
                <a:srgbClr val="FFFFFF"/>
              </a:buClr>
              <a:buChar char="•"/>
            </a:pPr>
            <a:r>
              <a:rPr sz="1500" b="0" i="0">
                <a:solidFill>
                  <a:srgbClr val="D5E0EC"/>
                </a:solidFill>
                <a:latin typeface="Avenir Next"/>
              </a:rPr>
              <a:t>Two personal agents in owlONE.</a:t>
            </a:r>
          </a:p>
          <a:p>
            <a:pPr marL="201168" indent="-201168" algn="l">
              <a:spcAft>
                <a:spcPts val="600"/>
              </a:spcAft>
              <a:buClr>
                <a:srgbClr val="FFFFFF"/>
              </a:buClr>
              <a:buChar char="•"/>
            </a:pPr>
            <a:r>
              <a:rPr sz="1500" b="0" i="0">
                <a:solidFill>
                  <a:srgbClr val="D5E0EC"/>
                </a:solidFill>
                <a:latin typeface="Avenir Next"/>
              </a:rPr>
              <a:t>Professor-approved course sources.</a:t>
            </a:r>
          </a:p>
          <a:p>
            <a:pPr marL="201168" indent="-201168" algn="l">
              <a:spcAft>
                <a:spcPts val="600"/>
              </a:spcAft>
              <a:buClr>
                <a:srgbClr val="FFFFFF"/>
              </a:buClr>
              <a:buChar char="•"/>
            </a:pPr>
            <a:r>
              <a:rPr sz="1500" b="0" i="0">
                <a:solidFill>
                  <a:srgbClr val="D5E0EC"/>
                </a:solidFill>
                <a:latin typeface="Avenir Next"/>
              </a:rPr>
              <a:t>Recovery plans with visible rule checks.</a:t>
            </a:r>
          </a:p>
          <a:p>
            <a:pPr marL="201168" indent="-201168" algn="l">
              <a:spcAft>
                <a:spcPts val="600"/>
              </a:spcAft>
              <a:buClr>
                <a:srgbClr val="FFFFFF"/>
              </a:buClr>
              <a:buChar char="•"/>
            </a:pPr>
            <a:r>
              <a:rPr sz="1500" b="0" i="0">
                <a:solidFill>
                  <a:srgbClr val="D5E0EC"/>
                </a:solidFill>
                <a:latin typeface="Avenir Next"/>
              </a:rPr>
              <a:t>Manual answer-bank updates.</a:t>
            </a:r>
          </a:p>
        </p:txBody>
      </p:sp>
      <p:cxnSp>
        <p:nvCxnSpPr>
          <p:cNvPr id="7" name="Connector 6"/>
          <p:cNvCxnSpPr/>
          <p:nvPr/>
        </p:nvCxnSpPr>
        <p:spPr>
          <a:xfrm>
            <a:off x="4818888" y="3310128"/>
            <a:ext cx="411480" cy="0"/>
          </a:xfrm>
          <a:prstGeom prst="line">
            <a:avLst/>
          </a:prstGeom>
          <a:ln w="31750">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276088" y="1783080"/>
            <a:ext cx="6355080" cy="306324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550408" y="1920240"/>
            <a:ext cx="5852160" cy="411480"/>
          </a:xfrm>
          <a:prstGeom prst="rect">
            <a:avLst/>
          </a:prstGeom>
          <a:noFill/>
        </p:spPr>
        <p:txBody>
          <a:bodyPr wrap="square" lIns="0" tIns="0" rIns="0" bIns="0" anchor="t">
            <a:spAutoFit/>
          </a:bodyPr>
          <a:lstStyle/>
          <a:p>
            <a:pPr algn="l"/>
            <a:r>
              <a:rPr sz="1800" b="1" i="0">
                <a:solidFill>
                  <a:srgbClr val="003366"/>
                </a:solidFill>
                <a:latin typeface="Avenir Next"/>
              </a:rPr>
              <a:t>What the pilot should measure</a:t>
            </a:r>
          </a:p>
        </p:txBody>
      </p:sp>
      <p:sp>
        <p:nvSpPr>
          <p:cNvPr id="10" name="Rounded Rectangle 9"/>
          <p:cNvSpPr/>
          <p:nvPr/>
        </p:nvSpPr>
        <p:spPr>
          <a:xfrm>
            <a:off x="5550408" y="2468880"/>
            <a:ext cx="2834640" cy="960120"/>
          </a:xfrm>
          <a:prstGeom prst="roundRect">
            <a:avLst>
              <a:gd name="adj" fmla="val 10000"/>
            </a:avLst>
          </a:prstGeom>
          <a:solidFill>
            <a:srgbClr val="FFFFFF"/>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r>
              <a:rPr sz="1400" b="1" i="0">
                <a:solidFill>
                  <a:srgbClr val="1D2330"/>
                </a:solidFill>
                <a:latin typeface="Avenir Next"/>
              </a:rPr>
              <a:t>Time to prepare a verified recovery plan.</a:t>
            </a:r>
          </a:p>
        </p:txBody>
      </p:sp>
      <p:sp>
        <p:nvSpPr>
          <p:cNvPr id="11" name="Rounded Rectangle 10"/>
          <p:cNvSpPr/>
          <p:nvPr/>
        </p:nvSpPr>
        <p:spPr>
          <a:xfrm>
            <a:off x="8567928" y="2468880"/>
            <a:ext cx="2834640" cy="960120"/>
          </a:xfrm>
          <a:prstGeom prst="roundRect">
            <a:avLst>
              <a:gd name="adj" fmla="val 10000"/>
            </a:avLst>
          </a:prstGeom>
          <a:solidFill>
            <a:srgbClr val="FFFFFF"/>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r>
              <a:rPr sz="1400" b="1" i="0">
                <a:solidFill>
                  <a:srgbClr val="1D2330"/>
                </a:solidFill>
                <a:latin typeface="Avenir Next"/>
              </a:rPr>
              <a:t>Deadline conflicts left after review.</a:t>
            </a:r>
          </a:p>
        </p:txBody>
      </p:sp>
      <p:sp>
        <p:nvSpPr>
          <p:cNvPr id="12" name="Rounded Rectangle 11"/>
          <p:cNvSpPr/>
          <p:nvPr/>
        </p:nvSpPr>
        <p:spPr>
          <a:xfrm>
            <a:off x="5550408" y="3611880"/>
            <a:ext cx="2834640" cy="960120"/>
          </a:xfrm>
          <a:prstGeom prst="roundRect">
            <a:avLst>
              <a:gd name="adj" fmla="val 10000"/>
            </a:avLst>
          </a:prstGeom>
          <a:solidFill>
            <a:srgbClr val="FFFFFF"/>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r>
              <a:rPr sz="1400" b="1" i="0">
                <a:solidFill>
                  <a:srgbClr val="1D2330"/>
                </a:solidFill>
                <a:latin typeface="Avenir Next"/>
              </a:rPr>
              <a:t>Student wait time for an approved answer.</a:t>
            </a:r>
          </a:p>
        </p:txBody>
      </p:sp>
      <p:sp>
        <p:nvSpPr>
          <p:cNvPr id="13" name="Rounded Rectangle 12"/>
          <p:cNvSpPr/>
          <p:nvPr/>
        </p:nvSpPr>
        <p:spPr>
          <a:xfrm>
            <a:off x="8567928" y="3611880"/>
            <a:ext cx="2834640" cy="960120"/>
          </a:xfrm>
          <a:prstGeom prst="roundRect">
            <a:avLst>
              <a:gd name="adj" fmla="val 10000"/>
            </a:avLst>
          </a:prstGeom>
          <a:solidFill>
            <a:srgbClr val="FFFFFF"/>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r>
              <a:rPr sz="1400" b="1" i="0">
                <a:solidFill>
                  <a:srgbClr val="1D2330"/>
                </a:solidFill>
                <a:latin typeface="Avenir Next"/>
              </a:rPr>
              <a:t>Wrong or unsupported replies.</a:t>
            </a:r>
          </a:p>
        </p:txBody>
      </p:sp>
      <p:sp>
        <p:nvSpPr>
          <p:cNvPr id="14" name="Rounded Rectangle 13"/>
          <p:cNvSpPr/>
          <p:nvPr/>
        </p:nvSpPr>
        <p:spPr>
          <a:xfrm>
            <a:off x="566928" y="5029200"/>
            <a:ext cx="11064240" cy="868680"/>
          </a:xfrm>
          <a:prstGeom prst="roundRect">
            <a:avLst>
              <a:gd name="adj" fmla="val 6000"/>
            </a:avLst>
          </a:prstGeom>
          <a:solidFill>
            <a:srgbClr val="FBF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5093208"/>
            <a:ext cx="2011680" cy="731520"/>
          </a:xfrm>
          <a:prstGeom prst="rect">
            <a:avLst/>
          </a:prstGeom>
          <a:noFill/>
        </p:spPr>
        <p:txBody>
          <a:bodyPr wrap="square" lIns="0" tIns="0" rIns="0" bIns="0" anchor="ctr">
            <a:spAutoFit/>
          </a:bodyPr>
          <a:lstStyle/>
          <a:p>
            <a:pPr algn="l"/>
            <a:r>
              <a:rPr sz="1600" b="1" i="0">
                <a:solidFill>
                  <a:srgbClr val="A86400"/>
                </a:solidFill>
                <a:latin typeface="Avenir Next"/>
              </a:rPr>
              <a:t>Before class use</a:t>
            </a:r>
          </a:p>
        </p:txBody>
      </p:sp>
      <p:sp>
        <p:nvSpPr>
          <p:cNvPr id="16" name="TextBox 15"/>
          <p:cNvSpPr txBox="1"/>
          <p:nvPr/>
        </p:nvSpPr>
        <p:spPr>
          <a:xfrm>
            <a:off x="2834640" y="5093208"/>
            <a:ext cx="8595360" cy="731520"/>
          </a:xfrm>
          <a:prstGeom prst="rect">
            <a:avLst/>
          </a:prstGeom>
          <a:noFill/>
        </p:spPr>
        <p:txBody>
          <a:bodyPr wrap="square" lIns="0" tIns="0" rIns="0" bIns="0" anchor="ctr">
            <a:spAutoFit/>
          </a:bodyPr>
          <a:lstStyle/>
          <a:p>
            <a:pPr algn="l"/>
            <a:r>
              <a:rPr sz="1400" b="0" i="0">
                <a:solidFill>
                  <a:srgbClr val="1D2330"/>
                </a:solidFill>
                <a:latin typeface="Avenir Next"/>
              </a:rPr>
              <a:t>Confirm sharing permissions and the approval process. Define who maintains the files.</a:t>
            </a:r>
          </a:p>
          <a:p>
            <a:pPr algn="l"/>
            <a:r>
              <a:rPr sz="1400" b="0" i="0">
                <a:solidFill>
                  <a:srgbClr val="1D2330"/>
                </a:solidFill>
                <a:latin typeface="Avenir Next"/>
              </a:rPr>
              <a:t>Canvas integration and automatic updates remain proposed.</a:t>
            </a:r>
          </a:p>
        </p:txBody>
      </p:sp>
      <p:sp>
        <p:nvSpPr>
          <p:cNvPr id="17" name="TextBox 16"/>
          <p:cNvSpPr txBox="1"/>
          <p:nvPr/>
        </p:nvSpPr>
        <p:spPr>
          <a:xfrm>
            <a:off x="566928" y="5989320"/>
            <a:ext cx="11064240" cy="365760"/>
          </a:xfrm>
          <a:prstGeom prst="rect">
            <a:avLst/>
          </a:prstGeom>
          <a:noFill/>
        </p:spPr>
        <p:txBody>
          <a:bodyPr wrap="square" lIns="0" tIns="0" rIns="0" bIns="0" anchor="t">
            <a:spAutoFit/>
          </a:bodyPr>
          <a:lstStyle/>
          <a:p>
            <a:pPr algn="l"/>
            <a:r>
              <a:rPr sz="1300" b="0" i="1">
                <a:solidFill>
                  <a:srgbClr val="4D4C55"/>
                </a:solidFill>
                <a:latin typeface="Avenir Next"/>
              </a:rPr>
              <a:t>Expected benefits: less manual rescheduling and fewer repeated replies. Savings are not yet measured.</a:t>
            </a:r>
          </a:p>
        </p:txBody>
      </p:sp>
      <p:sp>
        <p:nvSpPr>
          <p:cNvPr id="18"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19"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TextBox 1"/>
          <p:cNvSpPr txBox="1"/>
          <p:nvPr/>
        </p:nvSpPr>
        <p:spPr>
          <a:xfrm>
            <a:off x="640080" y="685800"/>
            <a:ext cx="7315200" cy="1463040"/>
          </a:xfrm>
          <a:prstGeom prst="rect">
            <a:avLst/>
          </a:prstGeom>
          <a:noFill/>
        </p:spPr>
        <p:txBody>
          <a:bodyPr wrap="square" lIns="0" tIns="0" rIns="0" bIns="0" anchor="t">
            <a:spAutoFit/>
          </a:bodyPr>
          <a:lstStyle/>
          <a:p>
            <a:pPr algn="l">
              <a:lnSpc>
                <a:spcPct val="95000"/>
              </a:lnSpc>
            </a:pPr>
            <a:r>
              <a:rPr sz="4400" b="1" i="0">
                <a:solidFill>
                  <a:srgbClr val="FFFFFF"/>
                </a:solidFill>
                <a:latin typeface="Avenir Next"/>
              </a:rPr>
              <a:t>A revised schedule</a:t>
            </a:r>
          </a:p>
          <a:p>
            <a:pPr algn="l">
              <a:lnSpc>
                <a:spcPct val="95000"/>
              </a:lnSpc>
            </a:pPr>
            <a:r>
              <a:rPr sz="4400" b="1" i="0">
                <a:solidFill>
                  <a:srgbClr val="FFFFFF"/>
                </a:solidFill>
                <a:latin typeface="Avenir Next"/>
              </a:rPr>
              <a:t>the professor can check</a:t>
            </a:r>
          </a:p>
        </p:txBody>
      </p:sp>
      <p:sp>
        <p:nvSpPr>
          <p:cNvPr id="3" name="Rounded Rectangle 2"/>
          <p:cNvSpPr/>
          <p:nvPr/>
        </p:nvSpPr>
        <p:spPr>
          <a:xfrm>
            <a:off x="640080" y="2606040"/>
            <a:ext cx="5257800" cy="1828800"/>
          </a:xfrm>
          <a:prstGeom prst="roundRect">
            <a:avLst>
              <a:gd name="adj" fmla="val 6000"/>
            </a:avLst>
          </a:prstGeom>
          <a:solidFill>
            <a:srgbClr val="0B3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rot="1800000">
            <a:off x="960119" y="2880360"/>
            <a:ext cx="274320" cy="777240"/>
          </a:xfrm>
          <a:prstGeom prst="roundRect">
            <a:avLst>
              <a:gd name="adj" fmla="val 12000"/>
            </a:avLst>
          </a:prstGeom>
          <a:solidFill>
            <a:srgbClr val="0F4A80"/>
          </a:solidFill>
          <a:ln w="22225">
            <a:solidFill>
              <a:srgbClr val="8FB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rot="900000">
            <a:off x="1344167" y="2880360"/>
            <a:ext cx="274320" cy="777240"/>
          </a:xfrm>
          <a:prstGeom prst="roundRect">
            <a:avLst>
              <a:gd name="adj" fmla="val 12000"/>
            </a:avLst>
          </a:prstGeom>
          <a:solidFill>
            <a:srgbClr val="0F4A80"/>
          </a:solidFill>
          <a:ln w="22225">
            <a:solidFill>
              <a:srgbClr val="8FB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728215" y="2880360"/>
            <a:ext cx="274320" cy="777240"/>
          </a:xfrm>
          <a:prstGeom prst="roundRect">
            <a:avLst>
              <a:gd name="adj" fmla="val 12000"/>
            </a:avLst>
          </a:prstGeom>
          <a:solidFill>
            <a:srgbClr val="FFFFFF"/>
          </a:solidFill>
          <a:ln w="222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240280" y="2788920"/>
            <a:ext cx="3474720" cy="1554480"/>
          </a:xfrm>
          <a:prstGeom prst="rect">
            <a:avLst/>
          </a:prstGeom>
          <a:noFill/>
        </p:spPr>
        <p:txBody>
          <a:bodyPr wrap="square" lIns="0" tIns="0" rIns="0" bIns="0" anchor="t">
            <a:spAutoFit/>
          </a:bodyPr>
          <a:lstStyle/>
          <a:p>
            <a:pPr algn="l"/>
            <a:r>
              <a:rPr sz="2000" b="1" i="0">
                <a:solidFill>
                  <a:srgbClr val="FFFFFF"/>
                </a:solidFill>
                <a:latin typeface="Avenir Next"/>
              </a:rPr>
              <a:t>Domino Effect Agent</a:t>
            </a:r>
          </a:p>
          <a:p>
            <a:pPr algn="l">
              <a:spcBef>
                <a:spcPts val="400"/>
              </a:spcBef>
            </a:pPr>
            <a:r>
              <a:rPr sz="1500" b="0" i="0">
                <a:solidFill>
                  <a:srgbClr val="D5E0EC"/>
                </a:solidFill>
                <a:latin typeface="Avenir Next"/>
              </a:rPr>
              <a:t>Finds the assignments and classes affected by a schedule change.</a:t>
            </a:r>
          </a:p>
        </p:txBody>
      </p:sp>
      <p:sp>
        <p:nvSpPr>
          <p:cNvPr id="8" name="Rounded Rectangle 7"/>
          <p:cNvSpPr/>
          <p:nvPr/>
        </p:nvSpPr>
        <p:spPr>
          <a:xfrm>
            <a:off x="6172200" y="2606040"/>
            <a:ext cx="5257800" cy="1828800"/>
          </a:xfrm>
          <a:prstGeom prst="roundRect">
            <a:avLst>
              <a:gd name="adj" fmla="val 6000"/>
            </a:avLst>
          </a:prstGeom>
          <a:solidFill>
            <a:srgbClr val="0B3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ular Callout 8"/>
          <p:cNvSpPr/>
          <p:nvPr/>
        </p:nvSpPr>
        <p:spPr>
          <a:xfrm>
            <a:off x="6446520" y="2926080"/>
            <a:ext cx="1097280" cy="685800"/>
          </a:xfrm>
          <a:prstGeom prst="wedgeRoundRectCallou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600" b="1" i="0">
                <a:solidFill>
                  <a:srgbClr val="003366"/>
                </a:solidFill>
                <a:latin typeface="Avenir Next"/>
              </a:rPr>
              <a:t>G5</a:t>
            </a:r>
          </a:p>
        </p:txBody>
      </p:sp>
      <p:sp>
        <p:nvSpPr>
          <p:cNvPr id="10" name="TextBox 9"/>
          <p:cNvSpPr txBox="1"/>
          <p:nvPr/>
        </p:nvSpPr>
        <p:spPr>
          <a:xfrm>
            <a:off x="7772400" y="2788920"/>
            <a:ext cx="3474720" cy="1554480"/>
          </a:xfrm>
          <a:prstGeom prst="rect">
            <a:avLst/>
          </a:prstGeom>
          <a:noFill/>
        </p:spPr>
        <p:txBody>
          <a:bodyPr wrap="square" lIns="0" tIns="0" rIns="0" bIns="0" anchor="t">
            <a:spAutoFit/>
          </a:bodyPr>
          <a:lstStyle/>
          <a:p>
            <a:pPr algn="l"/>
            <a:r>
              <a:rPr sz="2000" b="1" i="0">
                <a:solidFill>
                  <a:srgbClr val="FFFFFF"/>
                </a:solidFill>
                <a:latin typeface="Avenir Next"/>
              </a:rPr>
              <a:t>Assignment helper</a:t>
            </a:r>
          </a:p>
          <a:p>
            <a:pPr algn="l">
              <a:spcBef>
                <a:spcPts val="400"/>
              </a:spcBef>
            </a:pPr>
            <a:r>
              <a:rPr sz="1500" b="0" i="0">
                <a:solidFill>
                  <a:srgbClr val="D5E0EC"/>
                </a:solidFill>
                <a:latin typeface="Avenir Next"/>
              </a:rPr>
              <a:t>Explains the professor’s approved requirements to students.</a:t>
            </a:r>
          </a:p>
        </p:txBody>
      </p:sp>
      <p:sp>
        <p:nvSpPr>
          <p:cNvPr id="11" name="TextBox 10"/>
          <p:cNvSpPr txBox="1"/>
          <p:nvPr/>
        </p:nvSpPr>
        <p:spPr>
          <a:xfrm>
            <a:off x="640080" y="4754880"/>
            <a:ext cx="10789920" cy="411480"/>
          </a:xfrm>
          <a:prstGeom prst="rect">
            <a:avLst/>
          </a:prstGeom>
          <a:noFill/>
        </p:spPr>
        <p:txBody>
          <a:bodyPr wrap="square" lIns="0" tIns="0" rIns="0" bIns="0" anchor="t">
            <a:spAutoFit/>
          </a:bodyPr>
          <a:lstStyle/>
          <a:p>
            <a:pPr algn="l"/>
            <a:r>
              <a:rPr sz="1900" b="1" i="0">
                <a:solidFill>
                  <a:srgbClr val="FFFFFF"/>
                </a:solidFill>
                <a:latin typeface="Avenir Next"/>
              </a:rPr>
              <a:t>Next step: a supervised pilot with 2–3 volunteer professors.</a:t>
            </a:r>
          </a:p>
        </p:txBody>
      </p:sp>
      <p:sp>
        <p:nvSpPr>
          <p:cNvPr id="12" name="TextBox 11">
            <a:hlinkClick r:id="rId3"/>
          </p:cNvPr>
          <p:cNvSpPr txBox="1"/>
          <p:nvPr/>
        </p:nvSpPr>
        <p:spPr>
          <a:xfrm>
            <a:off x="640080" y="5486400"/>
            <a:ext cx="5486400" cy="365760"/>
          </a:xfrm>
          <a:prstGeom prst="rect">
            <a:avLst/>
          </a:prstGeom>
          <a:noFill/>
        </p:spPr>
        <p:txBody>
          <a:bodyPr wrap="square" lIns="0" tIns="0" rIns="0" bIns="0" anchor="t">
            <a:spAutoFit/>
          </a:bodyPr>
          <a:lstStyle/>
          <a:p>
            <a:pPr algn="l"/>
            <a:r>
              <a:rPr sz="1500" b="1" i="0">
                <a:solidFill>
                  <a:srgbClr val="8FB3DA"/>
                </a:solidFill>
                <a:latin typeface="Avenir Next"/>
              </a:rPr>
              <a:t>Questions and supporting evidence  ▸</a:t>
            </a:r>
          </a:p>
        </p:txBody>
      </p:sp>
      <p:sp>
        <p:nvSpPr>
          <p:cNvPr id="13"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A9BCD3"/>
                </a:solidFill>
                <a:latin typeface="Avenir Next"/>
              </a:rPr>
              <a:t>OwlContinuity</a:t>
            </a:r>
          </a:p>
        </p:txBody>
      </p:sp>
      <p:sp>
        <p:nvSpPr>
          <p:cNvPr id="14"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A9BCD3"/>
                </a:solidFill>
                <a:latin typeface="Avenir Next"/>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Four live tests</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Fictional DEMO-101 course, pasted into owlONE. A new chat for each Student Helper question.</a:t>
            </a:r>
          </a:p>
        </p:txBody>
      </p:sp>
      <p:sp>
        <p:nvSpPr>
          <p:cNvPr id="27"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28"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22</a:t>
            </a:r>
          </a:p>
        </p:txBody>
      </p:sp>
      <p:sp>
        <p:nvSpPr>
          <p:cNvPr id="29" name="Rounded Rectangle 28"/>
          <p:cNvSpPr/>
          <p:nvPr/>
        </p:nvSpPr>
        <p:spPr>
          <a:xfrm>
            <a:off x="566928" y="1783080"/>
            <a:ext cx="5468112" cy="2084831"/>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768096" y="1965960"/>
            <a:ext cx="457200" cy="45720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venir Next"/>
              </a:rPr>
              <a:t>1</a:t>
            </a:r>
          </a:p>
        </p:txBody>
      </p:sp>
      <p:sp>
        <p:nvSpPr>
          <p:cNvPr id="31" name="TextBox 30"/>
          <p:cNvSpPr txBox="1"/>
          <p:nvPr/>
        </p:nvSpPr>
        <p:spPr>
          <a:xfrm>
            <a:off x="1344168" y="1911095"/>
            <a:ext cx="4507992" cy="566928"/>
          </a:xfrm>
          <a:prstGeom prst="rect">
            <a:avLst/>
          </a:prstGeom>
          <a:noFill/>
        </p:spPr>
        <p:txBody>
          <a:bodyPr wrap="square" lIns="27432" tIns="27432" rIns="27432" bIns="27432" anchor="t">
            <a:spAutoFit/>
          </a:bodyPr>
          <a:lstStyle/>
          <a:p>
            <a:pPr algn="l">
              <a:spcAft>
                <a:spcPts val="300"/>
              </a:spcAft>
            </a:pPr>
            <a:r>
              <a:rPr sz="1550" b="1">
                <a:solidFill>
                  <a:srgbClr val="003366"/>
                </a:solidFill>
                <a:latin typeface="Avenir Next"/>
              </a:rPr>
              <a:t>A class moves, the deadline moves too</a:t>
            </a:r>
          </a:p>
          <a:p>
            <a:pPr algn="l">
              <a:spcAft>
                <a:spcPts val="300"/>
              </a:spcAft>
            </a:pPr>
            <a:r>
              <a:rPr sz="1000" b="1">
                <a:solidFill>
                  <a:srgbClr val="1E7B45"/>
                </a:solidFill>
                <a:latin typeface="Avenir Next"/>
              </a:rPr>
              <a:t>INSTRUCTOR DESK</a:t>
            </a:r>
          </a:p>
        </p:txBody>
      </p:sp>
      <p:sp>
        <p:nvSpPr>
          <p:cNvPr id="32" name="TextBox 31"/>
          <p:cNvSpPr txBox="1"/>
          <p:nvPr/>
        </p:nvSpPr>
        <p:spPr>
          <a:xfrm>
            <a:off x="1344168" y="2569464"/>
            <a:ext cx="4507992" cy="1216151"/>
          </a:xfrm>
          <a:prstGeom prst="rect">
            <a:avLst/>
          </a:prstGeom>
          <a:noFill/>
        </p:spPr>
        <p:txBody>
          <a:bodyPr wrap="square" lIns="27432" tIns="27432" rIns="27432" bIns="27432" anchor="t">
            <a:spAutoFit/>
          </a:bodyPr>
          <a:lstStyle/>
          <a:p>
            <a:pPr algn="l">
              <a:spcAft>
                <a:spcPts val="300"/>
              </a:spcAft>
            </a:pPr>
            <a:r>
              <a:rPr sz="1200" b="0">
                <a:solidFill>
                  <a:srgbClr val="4D4C55"/>
                </a:solidFill>
                <a:latin typeface="Avenir Next"/>
              </a:rPr>
              <a:t>Paste the syllabus and rules, then the extended closure notice.</a:t>
            </a:r>
          </a:p>
          <a:p>
            <a:pPr algn="l">
              <a:spcAft>
                <a:spcPts val="300"/>
              </a:spcAft>
            </a:pPr>
            <a:r>
              <a:rPr sz="1200" b="0">
                <a:solidFill>
                  <a:srgbClr val="4D4C55"/>
                </a:solidFill>
                <a:latin typeface="Avenir Next"/>
              </a:rPr>
              <a:t>Lab moves to Thu Oct 29. Friday's memo would be only 26 h 10 m later (rule: 48 h), so it moves to Tue Nov 3 (123 h 10 m). Final stays fixed. Marked as a draft.</a:t>
            </a:r>
          </a:p>
        </p:txBody>
      </p:sp>
      <p:sp>
        <p:nvSpPr>
          <p:cNvPr id="33" name="Rounded Rectangle 32"/>
          <p:cNvSpPr/>
          <p:nvPr/>
        </p:nvSpPr>
        <p:spPr>
          <a:xfrm>
            <a:off x="6163056" y="1783080"/>
            <a:ext cx="5468112" cy="2084831"/>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6364224" y="1965960"/>
            <a:ext cx="457200" cy="45720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venir Next"/>
              </a:rPr>
              <a:t>2</a:t>
            </a:r>
          </a:p>
        </p:txBody>
      </p:sp>
      <p:sp>
        <p:nvSpPr>
          <p:cNvPr id="35" name="TextBox 34"/>
          <p:cNvSpPr txBox="1"/>
          <p:nvPr/>
        </p:nvSpPr>
        <p:spPr>
          <a:xfrm>
            <a:off x="6940296" y="1911095"/>
            <a:ext cx="4507992" cy="566928"/>
          </a:xfrm>
          <a:prstGeom prst="rect">
            <a:avLst/>
          </a:prstGeom>
          <a:noFill/>
        </p:spPr>
        <p:txBody>
          <a:bodyPr wrap="square" lIns="27432" tIns="27432" rIns="27432" bIns="27432" anchor="t">
            <a:spAutoFit/>
          </a:bodyPr>
          <a:lstStyle/>
          <a:p>
            <a:pPr algn="l">
              <a:spcAft>
                <a:spcPts val="300"/>
              </a:spcAft>
            </a:pPr>
            <a:r>
              <a:rPr sz="1550" b="1">
                <a:solidFill>
                  <a:srgbClr val="003366"/>
                </a:solidFill>
                <a:latin typeface="Avenir Next"/>
              </a:rPr>
              <a:t>Asked once, answered for everyone</a:t>
            </a:r>
          </a:p>
          <a:p>
            <a:pPr algn="l">
              <a:spcAft>
                <a:spcPts val="300"/>
              </a:spcAft>
            </a:pPr>
            <a:r>
              <a:rPr sz="1000" b="1">
                <a:solidFill>
                  <a:srgbClr val="1E7B45"/>
                </a:solidFill>
                <a:latin typeface="Avenir Next"/>
              </a:rPr>
              <a:t>BOTH AGENTS</a:t>
            </a:r>
          </a:p>
        </p:txBody>
      </p:sp>
      <p:sp>
        <p:nvSpPr>
          <p:cNvPr id="36" name="TextBox 35"/>
          <p:cNvSpPr txBox="1"/>
          <p:nvPr/>
        </p:nvSpPr>
        <p:spPr>
          <a:xfrm>
            <a:off x="6940296" y="2569464"/>
            <a:ext cx="4507992" cy="1216151"/>
          </a:xfrm>
          <a:prstGeom prst="rect">
            <a:avLst/>
          </a:prstGeom>
          <a:noFill/>
        </p:spPr>
        <p:txBody>
          <a:bodyPr wrap="square" lIns="27432" tIns="27432" rIns="27432" bIns="27432" anchor="t">
            <a:spAutoFit/>
          </a:bodyPr>
          <a:lstStyle/>
          <a:p>
            <a:pPr algn="l">
              <a:spcAft>
                <a:spcPts val="300"/>
              </a:spcAft>
            </a:pPr>
            <a:r>
              <a:rPr sz="1200" b="0">
                <a:solidFill>
                  <a:srgbClr val="4D4C55"/>
                </a:solidFill>
                <a:latin typeface="Avenir Next"/>
              </a:rPr>
              <a:t>"Is the final exam moving?" → No, Nov 6, source A4.</a:t>
            </a:r>
          </a:p>
          <a:p>
            <a:pPr algn="l">
              <a:spcAft>
                <a:spcPts val="300"/>
              </a:spcAft>
            </a:pPr>
            <a:r>
              <a:rPr sz="1200" b="0">
                <a:solidFill>
                  <a:srgbClr val="4D4C55"/>
                </a:solidFill>
                <a:latin typeface="Avenir Next"/>
              </a:rPr>
              <a:t>"Can I send a draft early?" → a new question, sent to the professor. The professor answers once → added to the bank as A11.</a:t>
            </a:r>
          </a:p>
        </p:txBody>
      </p:sp>
      <p:sp>
        <p:nvSpPr>
          <p:cNvPr id="37" name="Rounded Rectangle 36"/>
          <p:cNvSpPr/>
          <p:nvPr/>
        </p:nvSpPr>
        <p:spPr>
          <a:xfrm>
            <a:off x="566928" y="3995928"/>
            <a:ext cx="5468112" cy="2084831"/>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768096" y="4178808"/>
            <a:ext cx="457200" cy="45720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venir Next"/>
              </a:rPr>
              <a:t>3</a:t>
            </a:r>
          </a:p>
        </p:txBody>
      </p:sp>
      <p:sp>
        <p:nvSpPr>
          <p:cNvPr id="39" name="TextBox 38"/>
          <p:cNvSpPr txBox="1"/>
          <p:nvPr/>
        </p:nvSpPr>
        <p:spPr>
          <a:xfrm>
            <a:off x="1344168" y="4123944"/>
            <a:ext cx="4507992" cy="566928"/>
          </a:xfrm>
          <a:prstGeom prst="rect">
            <a:avLst/>
          </a:prstGeom>
          <a:noFill/>
        </p:spPr>
        <p:txBody>
          <a:bodyPr wrap="square" lIns="27432" tIns="27432" rIns="27432" bIns="27432" anchor="t">
            <a:spAutoFit/>
          </a:bodyPr>
          <a:lstStyle/>
          <a:p>
            <a:pPr algn="l">
              <a:spcAft>
                <a:spcPts val="300"/>
              </a:spcAft>
            </a:pPr>
            <a:r>
              <a:rPr sz="1550" b="1">
                <a:solidFill>
                  <a:srgbClr val="003366"/>
                </a:solidFill>
                <a:latin typeface="Avenir Next"/>
              </a:rPr>
              <a:t>Finding the reading</a:t>
            </a:r>
          </a:p>
          <a:p>
            <a:pPr algn="l">
              <a:spcAft>
                <a:spcPts val="300"/>
              </a:spcAft>
            </a:pPr>
            <a:r>
              <a:rPr sz="1000" b="1">
                <a:solidFill>
                  <a:srgbClr val="1E7B45"/>
                </a:solidFill>
                <a:latin typeface="Avenir Next"/>
              </a:rPr>
              <a:t>BOTH AGENTS</a:t>
            </a:r>
          </a:p>
        </p:txBody>
      </p:sp>
      <p:sp>
        <p:nvSpPr>
          <p:cNvPr id="40" name="TextBox 39"/>
          <p:cNvSpPr txBox="1"/>
          <p:nvPr/>
        </p:nvSpPr>
        <p:spPr>
          <a:xfrm>
            <a:off x="1344168" y="4782312"/>
            <a:ext cx="4507992" cy="1216151"/>
          </a:xfrm>
          <a:prstGeom prst="rect">
            <a:avLst/>
          </a:prstGeom>
          <a:noFill/>
        </p:spPr>
        <p:txBody>
          <a:bodyPr wrap="square" lIns="27432" tIns="27432" rIns="27432" bIns="27432" anchor="t">
            <a:spAutoFit/>
          </a:bodyPr>
          <a:lstStyle/>
          <a:p>
            <a:pPr algn="l">
              <a:spcAft>
                <a:spcPts val="300"/>
              </a:spcAft>
            </a:pPr>
            <a:r>
              <a:rPr sz="1200" b="0">
                <a:solidFill>
                  <a:srgbClr val="4D4C55"/>
                </a:solidFill>
                <a:latin typeface="Avenir Next"/>
              </a:rPr>
              <a:t>"Where is the reading for the memo?" → Reading 1, its Canvas location and the professor's own link.</a:t>
            </a:r>
          </a:p>
          <a:p>
            <a:pPr algn="l">
              <a:spcAft>
                <a:spcPts val="300"/>
              </a:spcAft>
            </a:pPr>
            <a:r>
              <a:rPr sz="1200" b="0">
                <a:solidFill>
                  <a:srgbClr val="4D4C55"/>
                </a:solidFill>
                <a:latin typeface="Avenir Next"/>
              </a:rPr>
              <a:t>No link given → says so, points to FAU Libraries. The readings check flags the missing source.</a:t>
            </a:r>
          </a:p>
        </p:txBody>
      </p:sp>
      <p:sp>
        <p:nvSpPr>
          <p:cNvPr id="41" name="Rounded Rectangle 40"/>
          <p:cNvSpPr/>
          <p:nvPr/>
        </p:nvSpPr>
        <p:spPr>
          <a:xfrm>
            <a:off x="6163056" y="3995928"/>
            <a:ext cx="5468112" cy="2084831"/>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6364224" y="4178808"/>
            <a:ext cx="457200" cy="45720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venir Next"/>
              </a:rPr>
              <a:t>4</a:t>
            </a:r>
          </a:p>
        </p:txBody>
      </p:sp>
      <p:sp>
        <p:nvSpPr>
          <p:cNvPr id="43" name="TextBox 42"/>
          <p:cNvSpPr txBox="1"/>
          <p:nvPr/>
        </p:nvSpPr>
        <p:spPr>
          <a:xfrm>
            <a:off x="6940296" y="4123944"/>
            <a:ext cx="4507992" cy="566928"/>
          </a:xfrm>
          <a:prstGeom prst="rect">
            <a:avLst/>
          </a:prstGeom>
          <a:noFill/>
        </p:spPr>
        <p:txBody>
          <a:bodyPr wrap="square" lIns="27432" tIns="27432" rIns="27432" bIns="27432" anchor="t">
            <a:spAutoFit/>
          </a:bodyPr>
          <a:lstStyle/>
          <a:p>
            <a:pPr algn="l">
              <a:spcAft>
                <a:spcPts val="300"/>
              </a:spcAft>
            </a:pPr>
            <a:r>
              <a:rPr sz="1550" b="1">
                <a:solidFill>
                  <a:srgbClr val="003366"/>
                </a:solidFill>
                <a:latin typeface="Avenir Next"/>
              </a:rPr>
              <a:t>Course rules and honest help</a:t>
            </a:r>
          </a:p>
          <a:p>
            <a:pPr algn="l">
              <a:spcAft>
                <a:spcPts val="300"/>
              </a:spcAft>
            </a:pPr>
            <a:r>
              <a:rPr sz="1000" b="1">
                <a:solidFill>
                  <a:srgbClr val="1E7B45"/>
                </a:solidFill>
                <a:latin typeface="Avenir Next"/>
              </a:rPr>
              <a:t>STUDENT HELPER</a:t>
            </a:r>
          </a:p>
        </p:txBody>
      </p:sp>
      <p:sp>
        <p:nvSpPr>
          <p:cNvPr id="44" name="TextBox 43"/>
          <p:cNvSpPr txBox="1"/>
          <p:nvPr/>
        </p:nvSpPr>
        <p:spPr>
          <a:xfrm>
            <a:off x="6940296" y="4782312"/>
            <a:ext cx="4507992" cy="1216151"/>
          </a:xfrm>
          <a:prstGeom prst="rect">
            <a:avLst/>
          </a:prstGeom>
          <a:noFill/>
        </p:spPr>
        <p:txBody>
          <a:bodyPr wrap="square" lIns="27432" tIns="27432" rIns="27432" bIns="27432" anchor="t">
            <a:spAutoFit/>
          </a:bodyPr>
          <a:lstStyle/>
          <a:p>
            <a:pPr algn="l">
              <a:spcAft>
                <a:spcPts val="300"/>
              </a:spcAft>
            </a:pPr>
            <a:r>
              <a:rPr sz="1200" b="0">
                <a:solidFill>
                  <a:srgbClr val="4D4C55"/>
                </a:solidFill>
                <a:latin typeface="Avenir Next"/>
              </a:rPr>
              <a:t>"Write my first paragraph" → declines, cites the course AI policy.</a:t>
            </a:r>
          </a:p>
          <a:p>
            <a:pPr algn="l">
              <a:spcAft>
                <a:spcPts val="300"/>
              </a:spcAft>
            </a:pPr>
            <a:r>
              <a:rPr sz="1200" b="0">
                <a:solidFill>
                  <a:srgbClr val="4D4C55"/>
                </a:solidFill>
                <a:latin typeface="Avenir Next"/>
              </a:rPr>
              <a:t>"Do I paste my Python code?" → appendix, rule G5. "How long?" → shows "2–3 pages" and "600 words", asks the professor.</a:t>
            </a:r>
          </a:p>
        </p:txBody>
      </p:sp>
      <p:sp>
        <p:nvSpPr>
          <p:cNvPr id="45" name="TextBox 44"/>
          <p:cNvSpPr txBox="1"/>
          <p:nvPr/>
        </p:nvSpPr>
        <p:spPr>
          <a:xfrm>
            <a:off x="566928" y="6126480"/>
            <a:ext cx="11064240" cy="292608"/>
          </a:xfrm>
          <a:prstGeom prst="rect">
            <a:avLst/>
          </a:prstGeom>
          <a:noFill/>
        </p:spPr>
        <p:txBody>
          <a:bodyPr wrap="square" lIns="27432" tIns="27432" rIns="27432" bIns="27432" anchor="t">
            <a:spAutoFit/>
          </a:bodyPr>
          <a:lstStyle/>
          <a:p>
            <a:pPr algn="l">
              <a:spcAft>
                <a:spcPts val="300"/>
              </a:spcAft>
            </a:pPr>
            <a:r>
              <a:rPr sz="1100" b="0">
                <a:solidFill>
                  <a:srgbClr val="6B6A73"/>
                </a:solidFill>
                <a:latin typeface="Avenir Next"/>
              </a:rPr>
              <a:t>Expected results come from our October 16–17 test runs. If a run fails twice, we show the saved result from our testing.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201</TotalTime>
  <Words>7020</Words>
  <Application>Microsoft Macintosh PowerPoint</Application>
  <PresentationFormat>Widescreen</PresentationFormat>
  <Paragraphs>641</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Avenir Next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OwlContinuity – FAU owlONE Promptathon 2026</dc:title>
  <dc:subject/>
  <dc:creator>Tanvir Anjum Joarder</dc:creator>
  <cp:keywords/>
  <dc:description>generated using python-pptx</dc:description>
  <cp:lastModifiedBy>Tanvir Anjum Joarder</cp:lastModifiedBy>
  <cp:revision>3</cp:revision>
  <dcterms:created xsi:type="dcterms:W3CDTF">2013-01-27T09:14:16Z</dcterms:created>
  <dcterms:modified xsi:type="dcterms:W3CDTF">2026-10-17T20:03:58Z</dcterms:modified>
  <cp:category/>
</cp:coreProperties>
</file>